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Lst>
  <p:sldSz cy="5143500" cx="9144000"/>
  <p:notesSz cx="6858000" cy="9144000"/>
  <p:embeddedFontLst>
    <p:embeddedFont>
      <p:font typeface="DM Sans Medium"/>
      <p:regular r:id="rId46"/>
      <p:bold r:id="rId47"/>
      <p:italic r:id="rId48"/>
      <p:boldItalic r:id="rId49"/>
    </p:embeddedFont>
    <p:embeddedFont>
      <p:font typeface="Roboto"/>
      <p:regular r:id="rId50"/>
      <p:bold r:id="rId51"/>
      <p:italic r:id="rId52"/>
      <p:boldItalic r:id="rId53"/>
    </p:embeddedFont>
    <p:embeddedFont>
      <p:font typeface="Outfit"/>
      <p:regular r:id="rId54"/>
      <p:bold r:id="rId55"/>
    </p:embeddedFont>
    <p:embeddedFont>
      <p:font typeface="DM Sans SemiBold"/>
      <p:regular r:id="rId56"/>
      <p:bold r:id="rId57"/>
      <p:italic r:id="rId58"/>
      <p:boldItalic r:id="rId59"/>
    </p:embeddedFont>
    <p:embeddedFont>
      <p:font typeface="Outfit Medium"/>
      <p:regular r:id="rId60"/>
      <p:bold r:id="rId61"/>
    </p:embeddedFont>
    <p:embeddedFont>
      <p:font typeface="Roboto Mono"/>
      <p:regular r:id="rId62"/>
      <p:bold r:id="rId63"/>
      <p:italic r:id="rId64"/>
      <p:boldItalic r:id="rId65"/>
    </p:embeddedFont>
    <p:embeddedFont>
      <p:font typeface="DM Sans"/>
      <p:regular r:id="rId66"/>
      <p:bold r:id="rId67"/>
      <p:italic r:id="rId68"/>
      <p:boldItalic r:id="rId6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font" Target="fonts/DMSansMedium-regular.fntdata"/><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DMSansMedium-italic.fntdata"/><Relationship Id="rId47" Type="http://schemas.openxmlformats.org/officeDocument/2006/relationships/font" Target="fonts/DMSansMedium-bold.fntdata"/><Relationship Id="rId49" Type="http://schemas.openxmlformats.org/officeDocument/2006/relationships/font" Target="fonts/DMSansMedium-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font" Target="fonts/RobotoMono-regular.fntdata"/><Relationship Id="rId61" Type="http://schemas.openxmlformats.org/officeDocument/2006/relationships/font" Target="fonts/OutfitMedium-bold.fntdata"/><Relationship Id="rId20" Type="http://schemas.openxmlformats.org/officeDocument/2006/relationships/slide" Target="slides/slide16.xml"/><Relationship Id="rId64" Type="http://schemas.openxmlformats.org/officeDocument/2006/relationships/font" Target="fonts/RobotoMono-italic.fntdata"/><Relationship Id="rId63" Type="http://schemas.openxmlformats.org/officeDocument/2006/relationships/font" Target="fonts/RobotoMono-bold.fntdata"/><Relationship Id="rId22" Type="http://schemas.openxmlformats.org/officeDocument/2006/relationships/slide" Target="slides/slide18.xml"/><Relationship Id="rId66" Type="http://schemas.openxmlformats.org/officeDocument/2006/relationships/font" Target="fonts/DMSans-regular.fntdata"/><Relationship Id="rId21" Type="http://schemas.openxmlformats.org/officeDocument/2006/relationships/slide" Target="slides/slide17.xml"/><Relationship Id="rId65" Type="http://schemas.openxmlformats.org/officeDocument/2006/relationships/font" Target="fonts/RobotoMono-boldItalic.fntdata"/><Relationship Id="rId24" Type="http://schemas.openxmlformats.org/officeDocument/2006/relationships/slide" Target="slides/slide20.xml"/><Relationship Id="rId68" Type="http://schemas.openxmlformats.org/officeDocument/2006/relationships/font" Target="fonts/DMSans-italic.fntdata"/><Relationship Id="rId23" Type="http://schemas.openxmlformats.org/officeDocument/2006/relationships/slide" Target="slides/slide19.xml"/><Relationship Id="rId67" Type="http://schemas.openxmlformats.org/officeDocument/2006/relationships/font" Target="fonts/DMSans-bold.fntdata"/><Relationship Id="rId60" Type="http://schemas.openxmlformats.org/officeDocument/2006/relationships/font" Target="fonts/OutfitMedium-regular.fntdata"/><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font" Target="fonts/DMSans-boldItalic.fntdata"/><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font" Target="fonts/Roboto-bold.fntdata"/><Relationship Id="rId50" Type="http://schemas.openxmlformats.org/officeDocument/2006/relationships/font" Target="fonts/Roboto-regular.fntdata"/><Relationship Id="rId53" Type="http://schemas.openxmlformats.org/officeDocument/2006/relationships/font" Target="fonts/Roboto-boldItalic.fntdata"/><Relationship Id="rId52" Type="http://schemas.openxmlformats.org/officeDocument/2006/relationships/font" Target="fonts/Roboto-italic.fntdata"/><Relationship Id="rId11" Type="http://schemas.openxmlformats.org/officeDocument/2006/relationships/slide" Target="slides/slide7.xml"/><Relationship Id="rId55" Type="http://schemas.openxmlformats.org/officeDocument/2006/relationships/font" Target="fonts/Outfit-bold.fntdata"/><Relationship Id="rId10" Type="http://schemas.openxmlformats.org/officeDocument/2006/relationships/slide" Target="slides/slide6.xml"/><Relationship Id="rId54" Type="http://schemas.openxmlformats.org/officeDocument/2006/relationships/font" Target="fonts/Outfit-regular.fntdata"/><Relationship Id="rId13" Type="http://schemas.openxmlformats.org/officeDocument/2006/relationships/slide" Target="slides/slide9.xml"/><Relationship Id="rId57" Type="http://schemas.openxmlformats.org/officeDocument/2006/relationships/font" Target="fonts/DMSansSemiBold-bold.fntdata"/><Relationship Id="rId12" Type="http://schemas.openxmlformats.org/officeDocument/2006/relationships/slide" Target="slides/slide8.xml"/><Relationship Id="rId56" Type="http://schemas.openxmlformats.org/officeDocument/2006/relationships/font" Target="fonts/DMSansSemiBold-regular.fntdata"/><Relationship Id="rId15" Type="http://schemas.openxmlformats.org/officeDocument/2006/relationships/slide" Target="slides/slide11.xml"/><Relationship Id="rId59" Type="http://schemas.openxmlformats.org/officeDocument/2006/relationships/font" Target="fonts/DMSansSemiBold-boldItalic.fntdata"/><Relationship Id="rId14" Type="http://schemas.openxmlformats.org/officeDocument/2006/relationships/slide" Target="slides/slide10.xml"/><Relationship Id="rId58" Type="http://schemas.openxmlformats.org/officeDocument/2006/relationships/font" Target="fonts/DMSansSemiBold-italic.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1382cfa6b2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1382cfa6b2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54dda1946d_6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54dda1946d_6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54dda1946d_6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54dda1946d_6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13c96822bc_0_5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313c96822bc_0_5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144a97b6cb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3144a97b6cb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1382cfa6b2_0_5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31382cfa6b2_0_5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13d77cff9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313d77cff9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31382cfa6b2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31382cfa6b2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1382cfa6b2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31382cfa6b2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1382cfa6b2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31382cfa6b2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313f4c2fd5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5" name="Google Shape;555;g313f4c2fd5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 While dissatisfaction dominates for both genders, females appear to have a slightly higher satisfaction rate than males.</a:t>
            </a:r>
            <a:br>
              <a:rPr lang="en"/>
            </a:br>
            <a:r>
              <a:rPr lang="en"/>
              <a:t>females slightly outnumbering males. Females make up 50.7% of the total, while males represent 49.3%. This indicates a nearly balanced gender split,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313f4c2fd5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3" name="Google Shape;563;g313f4c2fd5b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 While dissatisfaction dominates for both genders, females appear to have a slightly higher satisfaction rate than males.</a:t>
            </a:r>
            <a:br>
              <a:rPr lang="en"/>
            </a:br>
            <a:r>
              <a:rPr lang="en"/>
              <a:t>females slightly outnumbering males. Females make up 50.7% of the total, while males represent 49.3%. This indicates a nearly balanced gender split,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1382cfa6b2_0_5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31382cfa6b2_0_5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13c96822bc_0_5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313c96822bc_0_5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313d77cff91_1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313d77cff91_1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13c96822bc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313c96822bc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313c96822bc_0_6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3" name="Google Shape;653;g313c96822bc_0_6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313c96822bc_0_6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5" name="Google Shape;665;g313c96822bc_0_6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139cd7d021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6" name="Google Shape;676;g3139cd7d021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g3139cd7d021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8" name="Google Shape;688;g3139cd7d021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139cd7d021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6" name="Google Shape;696;g3139cd7d021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313d77cff91_1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7" name="Google Shape;707;g313d77cff91_1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313d77cff91_1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5" name="Google Shape;715;g313d77cff91_1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313d77cff91_1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4" name="Google Shape;724;g313d77cff91_1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313d77cff91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2" name="Google Shape;732;g313d77cff91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313d77cff91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3" name="Google Shape;743;g313d77cff91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13f4c2fd5b_0_3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0" name="Google Shape;750;g313f4c2fd5b_0_3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313f4c2fd5b_0_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9" name="Google Shape;759;g313f4c2fd5b_0_3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313f4c2fd5b_0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7" name="Google Shape;767;g313f4c2fd5b_0_3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313f8eec19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8" name="Google Shape;778;g313f8eec19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314333d5183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5" name="Google Shape;785;g314333d5183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313f8eec193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1" name="Google Shape;791;g313f8eec19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144a97b6cb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1" name="Google Shape;801;g3144a97b6cb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g313c96822bc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7" name="Google Shape;807;g313c96822bc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g313c96822bc_0_5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2" name="Google Shape;832;g313c96822bc_0_5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g31382cfa6b2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7" name="Google Shape;857;g31382cfa6b2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313c96822bc_0_6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0" name="Google Shape;870;g313c96822bc_0_6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g313c96822bc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7" name="Google Shape;897;g313c96822bc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0" name="Shape 920"/>
        <p:cNvGrpSpPr/>
        <p:nvPr/>
      </p:nvGrpSpPr>
      <p:grpSpPr>
        <a:xfrm>
          <a:off x="0" y="0"/>
          <a:ext cx="0" cy="0"/>
          <a:chOff x="0" y="0"/>
          <a:chExt cx="0" cy="0"/>
        </a:xfrm>
      </p:grpSpPr>
      <p:sp>
        <p:nvSpPr>
          <p:cNvPr id="921" name="Google Shape;921;g313c96822bc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2" name="Google Shape;922;g313c96822bc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 name="Shape 945"/>
        <p:cNvGrpSpPr/>
        <p:nvPr/>
      </p:nvGrpSpPr>
      <p:grpSpPr>
        <a:xfrm>
          <a:off x="0" y="0"/>
          <a:ext cx="0" cy="0"/>
          <a:chOff x="0" y="0"/>
          <a:chExt cx="0" cy="0"/>
        </a:xfrm>
      </p:grpSpPr>
      <p:sp>
        <p:nvSpPr>
          <p:cNvPr id="946" name="Google Shape;946;g313c96822bc_0_4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7" name="Google Shape;947;g313c96822bc_0_4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713225" y="1156000"/>
            <a:ext cx="4160700" cy="2385600"/>
          </a:xfrm>
          <a:prstGeom prst="rect">
            <a:avLst/>
          </a:prstGeom>
        </p:spPr>
        <p:txBody>
          <a:bodyPr anchorCtr="0" anchor="b" bIns="91425" lIns="91425" spcFirstLastPara="1" rIns="91425" wrap="square" tIns="91425">
            <a:noAutofit/>
          </a:bodyPr>
          <a:lstStyle>
            <a:lvl1pPr lvl="0" algn="l">
              <a:spcBef>
                <a:spcPts val="0"/>
              </a:spcBef>
              <a:spcAft>
                <a:spcPts val="0"/>
              </a:spcAft>
              <a:buClr>
                <a:srgbClr val="191919"/>
              </a:buClr>
              <a:buSzPts val="5200"/>
              <a:buNone/>
              <a:defRPr sz="3600">
                <a:latin typeface="Outfit"/>
                <a:ea typeface="Outfit"/>
                <a:cs typeface="Outfit"/>
                <a:sym typeface="Outfit"/>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713225" y="3541600"/>
            <a:ext cx="4160700" cy="4206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5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3"/>
          <p:cNvSpPr txBox="1"/>
          <p:nvPr>
            <p:ph type="title"/>
          </p:nvPr>
        </p:nvSpPr>
        <p:spPr>
          <a:xfrm>
            <a:off x="713225" y="2384250"/>
            <a:ext cx="4344300" cy="915900"/>
          </a:xfrm>
          <a:prstGeom prst="rect">
            <a:avLst/>
          </a:prstGeom>
        </p:spPr>
        <p:txBody>
          <a:bodyPr anchorCtr="0" anchor="b" bIns="91425" lIns="91425" spcFirstLastPara="1" rIns="91425" wrap="square" tIns="91425">
            <a:noAutofit/>
          </a:bodyPr>
          <a:lstStyle>
            <a:lvl1pPr lvl="0" algn="l">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3" name="Google Shape;13;p3"/>
          <p:cNvSpPr txBox="1"/>
          <p:nvPr>
            <p:ph hasCustomPrompt="1" idx="2" type="title"/>
          </p:nvPr>
        </p:nvSpPr>
        <p:spPr>
          <a:xfrm>
            <a:off x="713225" y="1468350"/>
            <a:ext cx="1264200" cy="915900"/>
          </a:xfrm>
          <a:prstGeom prst="rect">
            <a:avLst/>
          </a:prstGeom>
          <a:noFill/>
        </p:spPr>
        <p:txBody>
          <a:bodyPr anchorCtr="0" anchor="ctr" bIns="91425" lIns="91425" spcFirstLastPara="1" rIns="91425" wrap="square" tIns="91425">
            <a:noAutofit/>
          </a:bodyPr>
          <a:lstStyle>
            <a:lvl1pPr lvl="0" rtl="0" algn="l">
              <a:spcBef>
                <a:spcPts val="0"/>
              </a:spcBef>
              <a:spcAft>
                <a:spcPts val="0"/>
              </a:spcAft>
              <a:buClr>
                <a:schemeClr val="lt1"/>
              </a:buClr>
              <a:buSzPts val="6000"/>
              <a:buNone/>
              <a:defRPr sz="6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4" name="Google Shape;14;p3"/>
          <p:cNvSpPr txBox="1"/>
          <p:nvPr>
            <p:ph idx="1" type="subTitle"/>
          </p:nvPr>
        </p:nvSpPr>
        <p:spPr>
          <a:xfrm>
            <a:off x="713225" y="3300150"/>
            <a:ext cx="4344300" cy="375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grpSp>
        <p:nvGrpSpPr>
          <p:cNvPr id="16" name="Google Shape;16;p4"/>
          <p:cNvGrpSpPr/>
          <p:nvPr/>
        </p:nvGrpSpPr>
        <p:grpSpPr>
          <a:xfrm>
            <a:off x="-247298" y="-446215"/>
            <a:ext cx="9638600" cy="6030088"/>
            <a:chOff x="-247298" y="-446215"/>
            <a:chExt cx="9638600" cy="6030088"/>
          </a:xfrm>
        </p:grpSpPr>
        <p:sp>
          <p:nvSpPr>
            <p:cNvPr id="17" name="Google Shape;17;p4"/>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4"/>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4"/>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4"/>
            <p:cNvSpPr/>
            <p:nvPr/>
          </p:nvSpPr>
          <p:spPr>
            <a:xfrm rot="10800000">
              <a:off x="855259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4"/>
            <p:cNvSpPr/>
            <p:nvPr/>
          </p:nvSpPr>
          <p:spPr>
            <a:xfrm rot="10800000">
              <a:off x="801175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 name="Google Shape;25;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6" name="Google Shape;26;p4"/>
          <p:cNvSpPr txBox="1"/>
          <p:nvPr>
            <p:ph idx="1" type="body"/>
          </p:nvPr>
        </p:nvSpPr>
        <p:spPr>
          <a:xfrm>
            <a:off x="720000" y="1215751"/>
            <a:ext cx="7704000" cy="3978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Font typeface="Nunito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grpSp>
        <p:nvGrpSpPr>
          <p:cNvPr id="28" name="Google Shape;28;p5"/>
          <p:cNvGrpSpPr/>
          <p:nvPr/>
        </p:nvGrpSpPr>
        <p:grpSpPr>
          <a:xfrm>
            <a:off x="-247298" y="-446215"/>
            <a:ext cx="9638600" cy="6030088"/>
            <a:chOff x="-247298" y="-446215"/>
            <a:chExt cx="9638600" cy="6030088"/>
          </a:xfrm>
        </p:grpSpPr>
        <p:sp>
          <p:nvSpPr>
            <p:cNvPr id="29" name="Google Shape;29;p5"/>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5"/>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5"/>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5"/>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5"/>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5"/>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10800000">
              <a:off x="855259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5"/>
            <p:cNvSpPr/>
            <p:nvPr/>
          </p:nvSpPr>
          <p:spPr>
            <a:xfrm rot="10800000">
              <a:off x="801175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 name="Google Shape;37;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8" name="Google Shape;38;p5"/>
          <p:cNvSpPr txBox="1"/>
          <p:nvPr>
            <p:ph idx="1" type="subTitle"/>
          </p:nvPr>
        </p:nvSpPr>
        <p:spPr>
          <a:xfrm>
            <a:off x="5055284" y="3562574"/>
            <a:ext cx="2505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9" name="Google Shape;39;p5"/>
          <p:cNvSpPr txBox="1"/>
          <p:nvPr>
            <p:ph idx="2" type="subTitle"/>
          </p:nvPr>
        </p:nvSpPr>
        <p:spPr>
          <a:xfrm>
            <a:off x="1583300" y="3562574"/>
            <a:ext cx="2505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0" name="Google Shape;40;p5"/>
          <p:cNvSpPr txBox="1"/>
          <p:nvPr>
            <p:ph idx="3" type="subTitle"/>
          </p:nvPr>
        </p:nvSpPr>
        <p:spPr>
          <a:xfrm>
            <a:off x="5055275" y="3122525"/>
            <a:ext cx="25056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41" name="Google Shape;41;p5"/>
          <p:cNvSpPr txBox="1"/>
          <p:nvPr>
            <p:ph idx="4" type="subTitle"/>
          </p:nvPr>
        </p:nvSpPr>
        <p:spPr>
          <a:xfrm>
            <a:off x="1583075" y="3122525"/>
            <a:ext cx="25056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2" name="Shape 42"/>
        <p:cNvGrpSpPr/>
        <p:nvPr/>
      </p:nvGrpSpPr>
      <p:grpSpPr>
        <a:xfrm>
          <a:off x="0" y="0"/>
          <a:ext cx="0" cy="0"/>
          <a:chOff x="0" y="0"/>
          <a:chExt cx="0" cy="0"/>
        </a:xfrm>
      </p:grpSpPr>
      <p:grpSp>
        <p:nvGrpSpPr>
          <p:cNvPr id="43" name="Google Shape;43;p6"/>
          <p:cNvGrpSpPr/>
          <p:nvPr/>
        </p:nvGrpSpPr>
        <p:grpSpPr>
          <a:xfrm>
            <a:off x="-247298" y="-284290"/>
            <a:ext cx="9638600" cy="5868163"/>
            <a:chOff x="-247298" y="-284290"/>
            <a:chExt cx="9638600" cy="5868163"/>
          </a:xfrm>
        </p:grpSpPr>
        <p:sp>
          <p:nvSpPr>
            <p:cNvPr id="44" name="Google Shape;44;p6"/>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6"/>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6"/>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6"/>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6"/>
            <p:cNvSpPr/>
            <p:nvPr/>
          </p:nvSpPr>
          <p:spPr>
            <a:xfrm flipH="1" rot="10800000">
              <a:off x="-125473" y="12348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6"/>
            <p:cNvSpPr/>
            <p:nvPr/>
          </p:nvSpPr>
          <p:spPr>
            <a:xfrm flipH="1" rot="10800000">
              <a:off x="-125483" y="-28429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6"/>
            <p:cNvSpPr/>
            <p:nvPr/>
          </p:nvSpPr>
          <p:spPr>
            <a:xfrm flipH="1" rot="10800000">
              <a:off x="8424002" y="12348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6"/>
            <p:cNvSpPr/>
            <p:nvPr/>
          </p:nvSpPr>
          <p:spPr>
            <a:xfrm flipH="1" rot="10800000">
              <a:off x="8423992" y="-28429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3" name="Shape 53"/>
        <p:cNvGrpSpPr/>
        <p:nvPr/>
      </p:nvGrpSpPr>
      <p:grpSpPr>
        <a:xfrm>
          <a:off x="0" y="0"/>
          <a:ext cx="0" cy="0"/>
          <a:chOff x="0" y="0"/>
          <a:chExt cx="0" cy="0"/>
        </a:xfrm>
      </p:grpSpPr>
      <p:sp>
        <p:nvSpPr>
          <p:cNvPr id="54" name="Google Shape;54;p7"/>
          <p:cNvSpPr txBox="1"/>
          <p:nvPr>
            <p:ph type="title"/>
          </p:nvPr>
        </p:nvSpPr>
        <p:spPr>
          <a:xfrm>
            <a:off x="720000" y="445025"/>
            <a:ext cx="5549700" cy="5727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5" name="Google Shape;55;p7"/>
          <p:cNvSpPr txBox="1"/>
          <p:nvPr>
            <p:ph idx="1" type="subTitle"/>
          </p:nvPr>
        </p:nvSpPr>
        <p:spPr>
          <a:xfrm>
            <a:off x="720000" y="1652075"/>
            <a:ext cx="4294800" cy="21339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6" name="Shape 56"/>
        <p:cNvGrpSpPr/>
        <p:nvPr/>
      </p:nvGrpSpPr>
      <p:grpSpPr>
        <a:xfrm>
          <a:off x="0" y="0"/>
          <a:ext cx="0" cy="0"/>
          <a:chOff x="0" y="0"/>
          <a:chExt cx="0" cy="0"/>
        </a:xfrm>
      </p:grpSpPr>
      <p:sp>
        <p:nvSpPr>
          <p:cNvPr id="57" name="Google Shape;57;p8"/>
          <p:cNvSpPr txBox="1"/>
          <p:nvPr>
            <p:ph type="title"/>
          </p:nvPr>
        </p:nvSpPr>
        <p:spPr>
          <a:xfrm>
            <a:off x="4292275" y="1663850"/>
            <a:ext cx="4138500" cy="1815900"/>
          </a:xfrm>
          <a:prstGeom prst="rect">
            <a:avLst/>
          </a:prstGeom>
        </p:spPr>
        <p:txBody>
          <a:bodyPr anchorCtr="0" anchor="ctr" bIns="91425" lIns="91425" spcFirstLastPara="1" rIns="91425" wrap="square" tIns="91425">
            <a:noAutofit/>
          </a:bodyPr>
          <a:lstStyle>
            <a:lvl1pPr lvl="0" algn="l">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8" name="Shape 58"/>
        <p:cNvGrpSpPr/>
        <p:nvPr/>
      </p:nvGrpSpPr>
      <p:grpSpPr>
        <a:xfrm>
          <a:off x="0" y="0"/>
          <a:ext cx="0" cy="0"/>
          <a:chOff x="0" y="0"/>
          <a:chExt cx="0" cy="0"/>
        </a:xfrm>
      </p:grpSpPr>
      <p:sp>
        <p:nvSpPr>
          <p:cNvPr id="59" name="Google Shape;59;p9"/>
          <p:cNvSpPr txBox="1"/>
          <p:nvPr>
            <p:ph type="title"/>
          </p:nvPr>
        </p:nvSpPr>
        <p:spPr>
          <a:xfrm>
            <a:off x="3862975" y="1655500"/>
            <a:ext cx="4567800" cy="11613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500"/>
              <a:buNone/>
              <a:defRPr sz="65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60" name="Google Shape;60;p9"/>
          <p:cNvSpPr txBox="1"/>
          <p:nvPr>
            <p:ph idx="1" type="subTitle"/>
          </p:nvPr>
        </p:nvSpPr>
        <p:spPr>
          <a:xfrm>
            <a:off x="3862975" y="2816925"/>
            <a:ext cx="4567800" cy="671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1" name="Shape 61"/>
        <p:cNvGrpSpPr/>
        <p:nvPr/>
      </p:nvGrpSpPr>
      <p:grpSpPr>
        <a:xfrm>
          <a:off x="0" y="0"/>
          <a:ext cx="0" cy="0"/>
          <a:chOff x="0" y="0"/>
          <a:chExt cx="0" cy="0"/>
        </a:xfrm>
      </p:grpSpPr>
      <p:sp>
        <p:nvSpPr>
          <p:cNvPr id="62" name="Google Shape;62;p10"/>
          <p:cNvSpPr/>
          <p:nvPr>
            <p:ph idx="2" type="pic"/>
          </p:nvPr>
        </p:nvSpPr>
        <p:spPr>
          <a:xfrm>
            <a:off x="-25" y="-13725"/>
            <a:ext cx="9144000" cy="5157300"/>
          </a:xfrm>
          <a:prstGeom prst="rect">
            <a:avLst/>
          </a:prstGeom>
          <a:noFill/>
          <a:ln>
            <a:noFill/>
          </a:ln>
        </p:spPr>
      </p:sp>
      <p:sp>
        <p:nvSpPr>
          <p:cNvPr id="63" name="Google Shape;63;p10"/>
          <p:cNvSpPr txBox="1"/>
          <p:nvPr>
            <p:ph type="title"/>
          </p:nvPr>
        </p:nvSpPr>
        <p:spPr>
          <a:xfrm>
            <a:off x="720000" y="3942625"/>
            <a:ext cx="7704000" cy="644400"/>
          </a:xfrm>
          <a:prstGeom prst="rect">
            <a:avLst/>
          </a:prstGeom>
          <a:solidFill>
            <a:schemeClr val="lt1"/>
          </a:solidFill>
        </p:spPr>
        <p:txBody>
          <a:bodyPr anchorCtr="0" anchor="t" bIns="91425" lIns="91425" spcFirstLastPara="1" rIns="91425" wrap="square" tIns="91425">
            <a:noAutofit/>
          </a:bodyPr>
          <a:lstStyle>
            <a:lvl1pPr lvl="0" rtl="0" algn="ctr">
              <a:spcBef>
                <a:spcPts val="0"/>
              </a:spcBef>
              <a:spcAft>
                <a:spcPts val="0"/>
              </a:spcAft>
              <a:buSzPts val="3500"/>
              <a:buNone/>
              <a:defRPr sz="30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4" name="Shape 64"/>
        <p:cNvGrpSpPr/>
        <p:nvPr/>
      </p:nvGrpSpPr>
      <p:grpSpPr>
        <a:xfrm>
          <a:off x="0" y="0"/>
          <a:ext cx="0" cy="0"/>
          <a:chOff x="0" y="0"/>
          <a:chExt cx="0" cy="0"/>
        </a:xfrm>
      </p:grpSpPr>
      <p:sp>
        <p:nvSpPr>
          <p:cNvPr id="65" name="Google Shape;65;p11"/>
          <p:cNvSpPr txBox="1"/>
          <p:nvPr>
            <p:ph hasCustomPrompt="1" type="title"/>
          </p:nvPr>
        </p:nvSpPr>
        <p:spPr>
          <a:xfrm>
            <a:off x="713225" y="1774100"/>
            <a:ext cx="4676100" cy="1098000"/>
          </a:xfrm>
          <a:prstGeom prst="rect">
            <a:avLst/>
          </a:prstGeom>
        </p:spPr>
        <p:txBody>
          <a:bodyPr anchorCtr="0" anchor="b" bIns="91425" lIns="91425" spcFirstLastPara="1" rIns="91425" wrap="square" tIns="91425">
            <a:noAutofit/>
          </a:bodyPr>
          <a:lstStyle>
            <a:lvl1pPr lvl="0" algn="l">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6" name="Google Shape;66;p11"/>
          <p:cNvSpPr txBox="1"/>
          <p:nvPr>
            <p:ph idx="1" type="subTitle"/>
          </p:nvPr>
        </p:nvSpPr>
        <p:spPr>
          <a:xfrm>
            <a:off x="713225" y="2872275"/>
            <a:ext cx="4676100" cy="4971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7" name="Shape 67"/>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68" name="Shape 68"/>
        <p:cNvGrpSpPr/>
        <p:nvPr/>
      </p:nvGrpSpPr>
      <p:grpSpPr>
        <a:xfrm>
          <a:off x="0" y="0"/>
          <a:ext cx="0" cy="0"/>
          <a:chOff x="0" y="0"/>
          <a:chExt cx="0" cy="0"/>
        </a:xfrm>
      </p:grpSpPr>
      <p:grpSp>
        <p:nvGrpSpPr>
          <p:cNvPr id="69" name="Google Shape;69;p13"/>
          <p:cNvGrpSpPr/>
          <p:nvPr/>
        </p:nvGrpSpPr>
        <p:grpSpPr>
          <a:xfrm>
            <a:off x="-417711" y="-428628"/>
            <a:ext cx="9979385" cy="6000759"/>
            <a:chOff x="-417711" y="-428628"/>
            <a:chExt cx="9979385" cy="6000759"/>
          </a:xfrm>
        </p:grpSpPr>
        <p:sp>
          <p:nvSpPr>
            <p:cNvPr id="70" name="Google Shape;70;p13"/>
            <p:cNvSpPr/>
            <p:nvPr/>
          </p:nvSpPr>
          <p:spPr>
            <a:xfrm>
              <a:off x="421002" y="-42862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3"/>
            <p:cNvSpPr/>
            <p:nvPr/>
          </p:nvSpPr>
          <p:spPr>
            <a:xfrm>
              <a:off x="7884277" y="-42862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3"/>
            <p:cNvSpPr/>
            <p:nvPr/>
          </p:nvSpPr>
          <p:spPr>
            <a:xfrm>
              <a:off x="8430764" y="554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3"/>
            <p:cNvSpPr/>
            <p:nvPr/>
          </p:nvSpPr>
          <p:spPr>
            <a:xfrm>
              <a:off x="8430764" y="74622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3"/>
            <p:cNvSpPr/>
            <p:nvPr/>
          </p:nvSpPr>
          <p:spPr>
            <a:xfrm>
              <a:off x="-125486" y="554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3"/>
            <p:cNvSpPr/>
            <p:nvPr/>
          </p:nvSpPr>
          <p:spPr>
            <a:xfrm>
              <a:off x="-125486" y="74622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3"/>
            <p:cNvSpPr/>
            <p:nvPr/>
          </p:nvSpPr>
          <p:spPr>
            <a:xfrm>
              <a:off x="-417711" y="460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3"/>
            <p:cNvSpPr/>
            <p:nvPr/>
          </p:nvSpPr>
          <p:spPr>
            <a:xfrm>
              <a:off x="8722964" y="460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 name="Google Shape;78;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79" name="Google Shape;79;p13"/>
          <p:cNvSpPr txBox="1"/>
          <p:nvPr>
            <p:ph idx="1" type="subTitle"/>
          </p:nvPr>
        </p:nvSpPr>
        <p:spPr>
          <a:xfrm>
            <a:off x="720000" y="2178493"/>
            <a:ext cx="230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0" name="Google Shape;80;p13"/>
          <p:cNvSpPr txBox="1"/>
          <p:nvPr>
            <p:ph idx="2" type="subTitle"/>
          </p:nvPr>
        </p:nvSpPr>
        <p:spPr>
          <a:xfrm>
            <a:off x="3419271" y="2178493"/>
            <a:ext cx="230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1" name="Google Shape;81;p13"/>
          <p:cNvSpPr txBox="1"/>
          <p:nvPr>
            <p:ph idx="3" type="subTitle"/>
          </p:nvPr>
        </p:nvSpPr>
        <p:spPr>
          <a:xfrm>
            <a:off x="720000" y="3911675"/>
            <a:ext cx="230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2" name="Google Shape;82;p13"/>
          <p:cNvSpPr txBox="1"/>
          <p:nvPr>
            <p:ph idx="4" type="subTitle"/>
          </p:nvPr>
        </p:nvSpPr>
        <p:spPr>
          <a:xfrm>
            <a:off x="3419271" y="3911675"/>
            <a:ext cx="230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3" name="Google Shape;83;p13"/>
          <p:cNvSpPr txBox="1"/>
          <p:nvPr>
            <p:ph idx="5" type="subTitle"/>
          </p:nvPr>
        </p:nvSpPr>
        <p:spPr>
          <a:xfrm>
            <a:off x="6118549" y="2178493"/>
            <a:ext cx="230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4" name="Google Shape;84;p13"/>
          <p:cNvSpPr txBox="1"/>
          <p:nvPr>
            <p:ph idx="6" type="subTitle"/>
          </p:nvPr>
        </p:nvSpPr>
        <p:spPr>
          <a:xfrm>
            <a:off x="6118549" y="3911675"/>
            <a:ext cx="230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5" name="Google Shape;85;p13"/>
          <p:cNvSpPr txBox="1"/>
          <p:nvPr>
            <p:ph hasCustomPrompt="1" idx="7" type="title"/>
          </p:nvPr>
        </p:nvSpPr>
        <p:spPr>
          <a:xfrm>
            <a:off x="1505400" y="1206926"/>
            <a:ext cx="734700" cy="5727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6" name="Google Shape;86;p13"/>
          <p:cNvSpPr txBox="1"/>
          <p:nvPr>
            <p:ph hasCustomPrompt="1" idx="8" type="title"/>
          </p:nvPr>
        </p:nvSpPr>
        <p:spPr>
          <a:xfrm>
            <a:off x="1505400" y="2939527"/>
            <a:ext cx="734700" cy="5727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7" name="Google Shape;87;p13"/>
          <p:cNvSpPr txBox="1"/>
          <p:nvPr>
            <p:ph hasCustomPrompt="1" idx="9" type="title"/>
          </p:nvPr>
        </p:nvSpPr>
        <p:spPr>
          <a:xfrm>
            <a:off x="4204671" y="1206926"/>
            <a:ext cx="734700" cy="5727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8" name="Google Shape;88;p13"/>
          <p:cNvSpPr txBox="1"/>
          <p:nvPr>
            <p:ph hasCustomPrompt="1" idx="13" type="title"/>
          </p:nvPr>
        </p:nvSpPr>
        <p:spPr>
          <a:xfrm>
            <a:off x="4204671" y="2939527"/>
            <a:ext cx="734700" cy="5727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9" name="Google Shape;89;p13"/>
          <p:cNvSpPr txBox="1"/>
          <p:nvPr>
            <p:ph hasCustomPrompt="1" idx="14" type="title"/>
          </p:nvPr>
        </p:nvSpPr>
        <p:spPr>
          <a:xfrm>
            <a:off x="6903950" y="1206926"/>
            <a:ext cx="734700" cy="5727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0" name="Google Shape;90;p13"/>
          <p:cNvSpPr txBox="1"/>
          <p:nvPr>
            <p:ph hasCustomPrompt="1" idx="15" type="title"/>
          </p:nvPr>
        </p:nvSpPr>
        <p:spPr>
          <a:xfrm>
            <a:off x="6903950" y="2939527"/>
            <a:ext cx="734700" cy="5727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1" name="Google Shape;91;p13"/>
          <p:cNvSpPr txBox="1"/>
          <p:nvPr>
            <p:ph idx="16" type="subTitle"/>
          </p:nvPr>
        </p:nvSpPr>
        <p:spPr>
          <a:xfrm>
            <a:off x="720000" y="1801112"/>
            <a:ext cx="23055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2" name="Google Shape;92;p13"/>
          <p:cNvSpPr txBox="1"/>
          <p:nvPr>
            <p:ph idx="17" type="subTitle"/>
          </p:nvPr>
        </p:nvSpPr>
        <p:spPr>
          <a:xfrm>
            <a:off x="3419271" y="1801112"/>
            <a:ext cx="23055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3" name="Google Shape;93;p13"/>
          <p:cNvSpPr txBox="1"/>
          <p:nvPr>
            <p:ph idx="18" type="subTitle"/>
          </p:nvPr>
        </p:nvSpPr>
        <p:spPr>
          <a:xfrm>
            <a:off x="6118549" y="1801112"/>
            <a:ext cx="23055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4" name="Google Shape;94;p13"/>
          <p:cNvSpPr txBox="1"/>
          <p:nvPr>
            <p:ph idx="19" type="subTitle"/>
          </p:nvPr>
        </p:nvSpPr>
        <p:spPr>
          <a:xfrm>
            <a:off x="720000" y="3533775"/>
            <a:ext cx="23055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5" name="Google Shape;95;p13"/>
          <p:cNvSpPr txBox="1"/>
          <p:nvPr>
            <p:ph idx="20" type="subTitle"/>
          </p:nvPr>
        </p:nvSpPr>
        <p:spPr>
          <a:xfrm>
            <a:off x="3419271" y="3533775"/>
            <a:ext cx="23055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6" name="Google Shape;96;p13"/>
          <p:cNvSpPr txBox="1"/>
          <p:nvPr>
            <p:ph idx="21" type="subTitle"/>
          </p:nvPr>
        </p:nvSpPr>
        <p:spPr>
          <a:xfrm>
            <a:off x="6118549" y="3533775"/>
            <a:ext cx="23055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97" name="Shape 97"/>
        <p:cNvGrpSpPr/>
        <p:nvPr/>
      </p:nvGrpSpPr>
      <p:grpSpPr>
        <a:xfrm>
          <a:off x="0" y="0"/>
          <a:ext cx="0" cy="0"/>
          <a:chOff x="0" y="0"/>
          <a:chExt cx="0" cy="0"/>
        </a:xfrm>
      </p:grpSpPr>
      <p:grpSp>
        <p:nvGrpSpPr>
          <p:cNvPr id="98" name="Google Shape;98;p14"/>
          <p:cNvGrpSpPr/>
          <p:nvPr/>
        </p:nvGrpSpPr>
        <p:grpSpPr>
          <a:xfrm>
            <a:off x="-247298" y="-446215"/>
            <a:ext cx="9638600" cy="6030088"/>
            <a:chOff x="-247298" y="-446215"/>
            <a:chExt cx="9638600" cy="6030088"/>
          </a:xfrm>
        </p:grpSpPr>
        <p:sp>
          <p:nvSpPr>
            <p:cNvPr id="99" name="Google Shape;99;p14"/>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4"/>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4"/>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4"/>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4"/>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4"/>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4"/>
            <p:cNvSpPr/>
            <p:nvPr/>
          </p:nvSpPr>
          <p:spPr>
            <a:xfrm rot="10800000">
              <a:off x="855259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4"/>
            <p:cNvSpPr/>
            <p:nvPr/>
          </p:nvSpPr>
          <p:spPr>
            <a:xfrm rot="10800000">
              <a:off x="801175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7" name="Google Shape;107;p14"/>
          <p:cNvSpPr txBox="1"/>
          <p:nvPr>
            <p:ph type="title"/>
          </p:nvPr>
        </p:nvSpPr>
        <p:spPr>
          <a:xfrm>
            <a:off x="1226425" y="3229500"/>
            <a:ext cx="6691200" cy="5478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24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08" name="Google Shape;108;p14"/>
          <p:cNvSpPr txBox="1"/>
          <p:nvPr>
            <p:ph idx="1" type="subTitle"/>
          </p:nvPr>
        </p:nvSpPr>
        <p:spPr>
          <a:xfrm>
            <a:off x="1226413" y="1366200"/>
            <a:ext cx="6691200" cy="1863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None/>
              <a:defRPr sz="30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09" name="Shape 109"/>
        <p:cNvGrpSpPr/>
        <p:nvPr/>
      </p:nvGrpSpPr>
      <p:grpSpPr>
        <a:xfrm>
          <a:off x="0" y="0"/>
          <a:ext cx="0" cy="0"/>
          <a:chOff x="0" y="0"/>
          <a:chExt cx="0" cy="0"/>
        </a:xfrm>
      </p:grpSpPr>
      <p:grpSp>
        <p:nvGrpSpPr>
          <p:cNvPr id="110" name="Google Shape;110;p15"/>
          <p:cNvGrpSpPr/>
          <p:nvPr/>
        </p:nvGrpSpPr>
        <p:grpSpPr>
          <a:xfrm>
            <a:off x="-535133" y="-37823"/>
            <a:ext cx="10207495" cy="5621696"/>
            <a:chOff x="-535133" y="-37823"/>
            <a:chExt cx="10207495" cy="5621696"/>
          </a:xfrm>
        </p:grpSpPr>
        <p:sp>
          <p:nvSpPr>
            <p:cNvPr id="111" name="Google Shape;111;p15"/>
            <p:cNvSpPr/>
            <p:nvPr/>
          </p:nvSpPr>
          <p:spPr>
            <a:xfrm>
              <a:off x="-125473"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5"/>
            <p:cNvSpPr/>
            <p:nvPr/>
          </p:nvSpPr>
          <p:spPr>
            <a:xfrm>
              <a:off x="-535133"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5"/>
            <p:cNvSpPr/>
            <p:nvPr/>
          </p:nvSpPr>
          <p:spPr>
            <a:xfrm rot="10800000">
              <a:off x="8833642" y="-378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5"/>
            <p:cNvSpPr/>
            <p:nvPr/>
          </p:nvSpPr>
          <p:spPr>
            <a:xfrm rot="10800000">
              <a:off x="8430777" y="4190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5"/>
            <p:cNvSpPr/>
            <p:nvPr/>
          </p:nvSpPr>
          <p:spPr>
            <a:xfrm flipH="1">
              <a:off x="84239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5"/>
            <p:cNvSpPr/>
            <p:nvPr/>
          </p:nvSpPr>
          <p:spPr>
            <a:xfrm flipH="1">
              <a:off x="88336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5"/>
            <p:cNvSpPr/>
            <p:nvPr/>
          </p:nvSpPr>
          <p:spPr>
            <a:xfrm flipH="1" rot="10800000">
              <a:off x="-528348" y="-378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5"/>
            <p:cNvSpPr/>
            <p:nvPr/>
          </p:nvSpPr>
          <p:spPr>
            <a:xfrm flipH="1" rot="10800000">
              <a:off x="-125483" y="4190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120" name="Shape 120"/>
        <p:cNvGrpSpPr/>
        <p:nvPr/>
      </p:nvGrpSpPr>
      <p:grpSpPr>
        <a:xfrm>
          <a:off x="0" y="0"/>
          <a:ext cx="0" cy="0"/>
          <a:chOff x="0" y="0"/>
          <a:chExt cx="0" cy="0"/>
        </a:xfrm>
      </p:grpSpPr>
      <p:grpSp>
        <p:nvGrpSpPr>
          <p:cNvPr id="121" name="Google Shape;121;p16"/>
          <p:cNvGrpSpPr/>
          <p:nvPr/>
        </p:nvGrpSpPr>
        <p:grpSpPr>
          <a:xfrm>
            <a:off x="-247298" y="-446215"/>
            <a:ext cx="9638610" cy="6030088"/>
            <a:chOff x="-247298" y="-446215"/>
            <a:chExt cx="9638610" cy="6030088"/>
          </a:xfrm>
        </p:grpSpPr>
        <p:sp>
          <p:nvSpPr>
            <p:cNvPr id="122" name="Google Shape;122;p16"/>
            <p:cNvSpPr/>
            <p:nvPr/>
          </p:nvSpPr>
          <p:spPr>
            <a:xfrm>
              <a:off x="-125573"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6"/>
            <p:cNvSpPr/>
            <p:nvPr/>
          </p:nvSpPr>
          <p:spPr>
            <a:xfrm>
              <a:off x="-125583"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6"/>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6"/>
            <p:cNvSpPr/>
            <p:nvPr/>
          </p:nvSpPr>
          <p:spPr>
            <a:xfrm flipH="1" rot="10800000">
              <a:off x="346967"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6"/>
            <p:cNvSpPr/>
            <p:nvPr/>
          </p:nvSpPr>
          <p:spPr>
            <a:xfrm rot="10800000">
              <a:off x="7958317" y="-4286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6"/>
            <p:cNvSpPr/>
            <p:nvPr/>
          </p:nvSpPr>
          <p:spPr>
            <a:xfrm rot="10800000">
              <a:off x="855260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6"/>
            <p:cNvSpPr/>
            <p:nvPr/>
          </p:nvSpPr>
          <p:spPr>
            <a:xfrm>
              <a:off x="8430777"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6"/>
            <p:cNvSpPr/>
            <p:nvPr/>
          </p:nvSpPr>
          <p:spPr>
            <a:xfrm>
              <a:off x="8430767"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0" name="Google Shape;130;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3">
    <p:spTree>
      <p:nvGrpSpPr>
        <p:cNvPr id="131" name="Shape 131"/>
        <p:cNvGrpSpPr/>
        <p:nvPr/>
      </p:nvGrpSpPr>
      <p:grpSpPr>
        <a:xfrm>
          <a:off x="0" y="0"/>
          <a:ext cx="0" cy="0"/>
          <a:chOff x="0" y="0"/>
          <a:chExt cx="0" cy="0"/>
        </a:xfrm>
      </p:grpSpPr>
      <p:grpSp>
        <p:nvGrpSpPr>
          <p:cNvPr id="132" name="Google Shape;132;p17"/>
          <p:cNvGrpSpPr/>
          <p:nvPr/>
        </p:nvGrpSpPr>
        <p:grpSpPr>
          <a:xfrm>
            <a:off x="-548808" y="-584898"/>
            <a:ext cx="10241610" cy="6168779"/>
            <a:chOff x="-548808" y="-584898"/>
            <a:chExt cx="10241610" cy="6168779"/>
          </a:xfrm>
        </p:grpSpPr>
        <p:sp>
          <p:nvSpPr>
            <p:cNvPr id="133" name="Google Shape;133;p17"/>
            <p:cNvSpPr/>
            <p:nvPr/>
          </p:nvSpPr>
          <p:spPr>
            <a:xfrm>
              <a:off x="293877" y="461576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7"/>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7"/>
            <p:cNvSpPr/>
            <p:nvPr/>
          </p:nvSpPr>
          <p:spPr>
            <a:xfrm flipH="1" rot="10800000">
              <a:off x="-129123" y="44966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7"/>
            <p:cNvSpPr/>
            <p:nvPr/>
          </p:nvSpPr>
          <p:spPr>
            <a:xfrm flipH="1" rot="10800000">
              <a:off x="-548808" y="449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7"/>
            <p:cNvSpPr/>
            <p:nvPr/>
          </p:nvSpPr>
          <p:spPr>
            <a:xfrm>
              <a:off x="185192" y="-58489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7"/>
            <p:cNvSpPr/>
            <p:nvPr/>
          </p:nvSpPr>
          <p:spPr>
            <a:xfrm rot="10800000">
              <a:off x="8434407" y="44966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7"/>
            <p:cNvSpPr/>
            <p:nvPr/>
          </p:nvSpPr>
          <p:spPr>
            <a:xfrm rot="10800000">
              <a:off x="8854092" y="449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7"/>
            <p:cNvSpPr/>
            <p:nvPr/>
          </p:nvSpPr>
          <p:spPr>
            <a:xfrm flipH="1">
              <a:off x="8120092" y="-58489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1" name="Google Shape;141;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4">
    <p:spTree>
      <p:nvGrpSpPr>
        <p:cNvPr id="142" name="Shape 142"/>
        <p:cNvGrpSpPr/>
        <p:nvPr/>
      </p:nvGrpSpPr>
      <p:grpSpPr>
        <a:xfrm>
          <a:off x="0" y="0"/>
          <a:ext cx="0" cy="0"/>
          <a:chOff x="0" y="0"/>
          <a:chExt cx="0" cy="0"/>
        </a:xfrm>
      </p:grpSpPr>
      <p:sp>
        <p:nvSpPr>
          <p:cNvPr id="143" name="Google Shape;143;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144" name="Google Shape;144;p18"/>
          <p:cNvGrpSpPr/>
          <p:nvPr/>
        </p:nvGrpSpPr>
        <p:grpSpPr>
          <a:xfrm>
            <a:off x="-476796" y="2900252"/>
            <a:ext cx="10097585" cy="2865204"/>
            <a:chOff x="-476796" y="2900252"/>
            <a:chExt cx="10097585" cy="2865204"/>
          </a:xfrm>
        </p:grpSpPr>
        <p:grpSp>
          <p:nvGrpSpPr>
            <p:cNvPr id="145" name="Google Shape;145;p18"/>
            <p:cNvGrpSpPr/>
            <p:nvPr/>
          </p:nvGrpSpPr>
          <p:grpSpPr>
            <a:xfrm>
              <a:off x="-476796" y="2900252"/>
              <a:ext cx="10097585" cy="2865204"/>
              <a:chOff x="-476796" y="2900252"/>
              <a:chExt cx="10097585" cy="2865204"/>
            </a:xfrm>
          </p:grpSpPr>
          <p:sp>
            <p:nvSpPr>
              <p:cNvPr id="146" name="Google Shape;146;p18"/>
              <p:cNvSpPr/>
              <p:nvPr/>
            </p:nvSpPr>
            <p:spPr>
              <a:xfrm flipH="1" rot="10800000">
                <a:off x="-266661" y="29002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8"/>
              <p:cNvSpPr/>
              <p:nvPr/>
            </p:nvSpPr>
            <p:spPr>
              <a:xfrm>
                <a:off x="-90736" y="442524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8"/>
              <p:cNvSpPr/>
              <p:nvPr/>
            </p:nvSpPr>
            <p:spPr>
              <a:xfrm>
                <a:off x="-476796" y="35228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8"/>
              <p:cNvSpPr/>
              <p:nvPr/>
            </p:nvSpPr>
            <p:spPr>
              <a:xfrm rot="10800000">
                <a:off x="8571944" y="29002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8"/>
              <p:cNvSpPr/>
              <p:nvPr/>
            </p:nvSpPr>
            <p:spPr>
              <a:xfrm flipH="1">
                <a:off x="8396019" y="442524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8"/>
              <p:cNvSpPr/>
              <p:nvPr/>
            </p:nvSpPr>
            <p:spPr>
              <a:xfrm flipH="1">
                <a:off x="8782079" y="35228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8"/>
              <p:cNvSpPr/>
              <p:nvPr/>
            </p:nvSpPr>
            <p:spPr>
              <a:xfrm rot="10800000">
                <a:off x="8009979" y="47973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3" name="Google Shape;153;p18"/>
            <p:cNvSpPr/>
            <p:nvPr/>
          </p:nvSpPr>
          <p:spPr>
            <a:xfrm flipH="1" rot="10800000">
              <a:off x="293867" y="47973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54" name="Shape 154"/>
        <p:cNvGrpSpPr/>
        <p:nvPr/>
      </p:nvGrpSpPr>
      <p:grpSpPr>
        <a:xfrm>
          <a:off x="0" y="0"/>
          <a:ext cx="0" cy="0"/>
          <a:chOff x="0" y="0"/>
          <a:chExt cx="0" cy="0"/>
        </a:xfrm>
      </p:grpSpPr>
      <p:grpSp>
        <p:nvGrpSpPr>
          <p:cNvPr id="155" name="Google Shape;155;p19"/>
          <p:cNvGrpSpPr/>
          <p:nvPr/>
        </p:nvGrpSpPr>
        <p:grpSpPr>
          <a:xfrm>
            <a:off x="-145083" y="-503840"/>
            <a:ext cx="9434170" cy="6151188"/>
            <a:chOff x="-145083" y="-503840"/>
            <a:chExt cx="9434170" cy="6151188"/>
          </a:xfrm>
        </p:grpSpPr>
        <p:sp>
          <p:nvSpPr>
            <p:cNvPr id="156" name="Google Shape;156;p19"/>
            <p:cNvSpPr/>
            <p:nvPr/>
          </p:nvSpPr>
          <p:spPr>
            <a:xfrm flipH="1" rot="10800000">
              <a:off x="534577" y="46792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9"/>
            <p:cNvSpPr/>
            <p:nvPr/>
          </p:nvSpPr>
          <p:spPr>
            <a:xfrm>
              <a:off x="-145073" y="392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9"/>
            <p:cNvSpPr/>
            <p:nvPr/>
          </p:nvSpPr>
          <p:spPr>
            <a:xfrm>
              <a:off x="-145083" y="44198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9"/>
            <p:cNvSpPr/>
            <p:nvPr/>
          </p:nvSpPr>
          <p:spPr>
            <a:xfrm flipH="1">
              <a:off x="8430777" y="46443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9"/>
            <p:cNvSpPr/>
            <p:nvPr/>
          </p:nvSpPr>
          <p:spPr>
            <a:xfrm flipH="1" rot="10800000">
              <a:off x="-125483" y="-4286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9"/>
            <p:cNvSpPr/>
            <p:nvPr/>
          </p:nvSpPr>
          <p:spPr>
            <a:xfrm flipH="1">
              <a:off x="7770717" y="-50384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9"/>
            <p:cNvSpPr/>
            <p:nvPr/>
          </p:nvSpPr>
          <p:spPr>
            <a:xfrm rot="10800000">
              <a:off x="8450367" y="25137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9"/>
            <p:cNvSpPr/>
            <p:nvPr/>
          </p:nvSpPr>
          <p:spPr>
            <a:xfrm rot="10800000">
              <a:off x="8450377" y="-24444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4" name="Google Shape;164;p19"/>
          <p:cNvSpPr txBox="1"/>
          <p:nvPr>
            <p:ph type="title"/>
          </p:nvPr>
        </p:nvSpPr>
        <p:spPr>
          <a:xfrm>
            <a:off x="720000" y="1270313"/>
            <a:ext cx="3777300" cy="17097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65" name="Google Shape;165;p19"/>
          <p:cNvSpPr txBox="1"/>
          <p:nvPr>
            <p:ph idx="1" type="subTitle"/>
          </p:nvPr>
        </p:nvSpPr>
        <p:spPr>
          <a:xfrm>
            <a:off x="720000" y="2979813"/>
            <a:ext cx="3777300" cy="893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6" name="Google Shape;166;p19"/>
          <p:cNvSpPr/>
          <p:nvPr>
            <p:ph idx="2" type="pic"/>
          </p:nvPr>
        </p:nvSpPr>
        <p:spPr>
          <a:xfrm>
            <a:off x="5121925" y="1060325"/>
            <a:ext cx="3109200" cy="3109200"/>
          </a:xfrm>
          <a:prstGeom prst="ellipse">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67" name="Shape 167"/>
        <p:cNvGrpSpPr/>
        <p:nvPr/>
      </p:nvGrpSpPr>
      <p:grpSpPr>
        <a:xfrm>
          <a:off x="0" y="0"/>
          <a:ext cx="0" cy="0"/>
          <a:chOff x="0" y="0"/>
          <a:chExt cx="0" cy="0"/>
        </a:xfrm>
      </p:grpSpPr>
      <p:grpSp>
        <p:nvGrpSpPr>
          <p:cNvPr id="168" name="Google Shape;168;p20"/>
          <p:cNvGrpSpPr/>
          <p:nvPr/>
        </p:nvGrpSpPr>
        <p:grpSpPr>
          <a:xfrm>
            <a:off x="-247298" y="-446215"/>
            <a:ext cx="9638600" cy="6030088"/>
            <a:chOff x="-247298" y="-446215"/>
            <a:chExt cx="9638600" cy="6030088"/>
          </a:xfrm>
        </p:grpSpPr>
        <p:sp>
          <p:nvSpPr>
            <p:cNvPr id="169" name="Google Shape;169;p20"/>
            <p:cNvSpPr/>
            <p:nvPr/>
          </p:nvSpPr>
          <p:spPr>
            <a:xfrm>
              <a:off x="-125473" y="44532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0"/>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0"/>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0"/>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0"/>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0"/>
            <p:cNvSpPr/>
            <p:nvPr/>
          </p:nvSpPr>
          <p:spPr>
            <a:xfrm rot="10800000">
              <a:off x="8430767" y="-4042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20"/>
            <p:cNvSpPr/>
            <p:nvPr/>
          </p:nvSpPr>
          <p:spPr>
            <a:xfrm>
              <a:off x="-125483" y="39965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0"/>
            <p:cNvSpPr/>
            <p:nvPr/>
          </p:nvSpPr>
          <p:spPr>
            <a:xfrm>
              <a:off x="8430767" y="4683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7" name="Google Shape;177;p20"/>
          <p:cNvSpPr txBox="1"/>
          <p:nvPr>
            <p:ph type="title"/>
          </p:nvPr>
        </p:nvSpPr>
        <p:spPr>
          <a:xfrm>
            <a:off x="720000" y="1637550"/>
            <a:ext cx="3597900" cy="10632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78" name="Google Shape;178;p20"/>
          <p:cNvSpPr txBox="1"/>
          <p:nvPr>
            <p:ph idx="1" type="subTitle"/>
          </p:nvPr>
        </p:nvSpPr>
        <p:spPr>
          <a:xfrm>
            <a:off x="720000" y="2700750"/>
            <a:ext cx="3597900" cy="805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179" name="Shape 179"/>
        <p:cNvGrpSpPr/>
        <p:nvPr/>
      </p:nvGrpSpPr>
      <p:grpSpPr>
        <a:xfrm>
          <a:off x="0" y="0"/>
          <a:ext cx="0" cy="0"/>
          <a:chOff x="0" y="0"/>
          <a:chExt cx="0" cy="0"/>
        </a:xfrm>
      </p:grpSpPr>
      <p:grpSp>
        <p:nvGrpSpPr>
          <p:cNvPr id="180" name="Google Shape;180;p21"/>
          <p:cNvGrpSpPr/>
          <p:nvPr/>
        </p:nvGrpSpPr>
        <p:grpSpPr>
          <a:xfrm flipH="1">
            <a:off x="-247298" y="-446215"/>
            <a:ext cx="9638600" cy="6030088"/>
            <a:chOff x="-247298" y="-446215"/>
            <a:chExt cx="9638600" cy="6030088"/>
          </a:xfrm>
        </p:grpSpPr>
        <p:sp>
          <p:nvSpPr>
            <p:cNvPr id="181" name="Google Shape;181;p21"/>
            <p:cNvSpPr/>
            <p:nvPr/>
          </p:nvSpPr>
          <p:spPr>
            <a:xfrm>
              <a:off x="-125473" y="44532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1"/>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1"/>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1"/>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1"/>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1"/>
            <p:cNvSpPr/>
            <p:nvPr/>
          </p:nvSpPr>
          <p:spPr>
            <a:xfrm rot="10800000">
              <a:off x="8430767" y="-4042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1"/>
            <p:cNvSpPr/>
            <p:nvPr/>
          </p:nvSpPr>
          <p:spPr>
            <a:xfrm>
              <a:off x="-125483" y="39965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1"/>
            <p:cNvSpPr/>
            <p:nvPr/>
          </p:nvSpPr>
          <p:spPr>
            <a:xfrm>
              <a:off x="8430767" y="4683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9" name="Google Shape;189;p21"/>
          <p:cNvSpPr txBox="1"/>
          <p:nvPr>
            <p:ph type="title"/>
          </p:nvPr>
        </p:nvSpPr>
        <p:spPr>
          <a:xfrm>
            <a:off x="4837200" y="1796350"/>
            <a:ext cx="3593400" cy="644700"/>
          </a:xfrm>
          <a:prstGeom prst="rect">
            <a:avLst/>
          </a:prstGeom>
          <a:ln>
            <a:noFill/>
          </a:ln>
        </p:spPr>
        <p:txBody>
          <a:bodyPr anchorCtr="0" anchor="b" bIns="91425" lIns="91425" spcFirstLastPara="1" rIns="91425" wrap="square" tIns="91425">
            <a:noAutofit/>
          </a:bodyPr>
          <a:lstStyle>
            <a:lvl1pPr lvl="0" rtl="0" algn="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90" name="Google Shape;190;p21"/>
          <p:cNvSpPr txBox="1"/>
          <p:nvPr>
            <p:ph idx="1" type="subTitle"/>
          </p:nvPr>
        </p:nvSpPr>
        <p:spPr>
          <a:xfrm>
            <a:off x="4837375" y="2441150"/>
            <a:ext cx="3593400" cy="906000"/>
          </a:xfrm>
          <a:prstGeom prst="rect">
            <a:avLst/>
          </a:prstGeom>
          <a:ln>
            <a:noFill/>
          </a:ln>
        </p:spPr>
        <p:txBody>
          <a:bodyPr anchorCtr="0" anchor="t" bIns="91425" lIns="91425" spcFirstLastPara="1" rIns="91425" wrap="square" tIns="91425">
            <a:noAutofit/>
          </a:bodyPr>
          <a:lstStyle>
            <a:lvl1pPr lvl="0" rtl="0" algn="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TITLE_AND_BODY_1">
    <p:spTree>
      <p:nvGrpSpPr>
        <p:cNvPr id="191" name="Shape 191"/>
        <p:cNvGrpSpPr/>
        <p:nvPr/>
      </p:nvGrpSpPr>
      <p:grpSpPr>
        <a:xfrm>
          <a:off x="0" y="0"/>
          <a:ext cx="0" cy="0"/>
          <a:chOff x="0" y="0"/>
          <a:chExt cx="0" cy="0"/>
        </a:xfrm>
      </p:grpSpPr>
      <p:grpSp>
        <p:nvGrpSpPr>
          <p:cNvPr id="192" name="Google Shape;192;p22"/>
          <p:cNvGrpSpPr/>
          <p:nvPr/>
        </p:nvGrpSpPr>
        <p:grpSpPr>
          <a:xfrm>
            <a:off x="-247298" y="-446215"/>
            <a:ext cx="9638600" cy="6030088"/>
            <a:chOff x="-247298" y="-446215"/>
            <a:chExt cx="9638600" cy="6030088"/>
          </a:xfrm>
        </p:grpSpPr>
        <p:sp>
          <p:nvSpPr>
            <p:cNvPr id="193" name="Google Shape;193;p22"/>
            <p:cNvSpPr/>
            <p:nvPr/>
          </p:nvSpPr>
          <p:spPr>
            <a:xfrm>
              <a:off x="-247298"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2"/>
            <p:cNvSpPr/>
            <p:nvPr/>
          </p:nvSpPr>
          <p:spPr>
            <a:xfrm>
              <a:off x="29354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2"/>
            <p:cNvSpPr/>
            <p:nvPr/>
          </p:nvSpPr>
          <p:spPr>
            <a:xfrm flipH="1">
              <a:off x="85525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2"/>
            <p:cNvSpPr/>
            <p:nvPr/>
          </p:nvSpPr>
          <p:spPr>
            <a:xfrm flipH="1">
              <a:off x="80117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2"/>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2"/>
            <p:cNvSpPr/>
            <p:nvPr/>
          </p:nvSpPr>
          <p:spPr>
            <a:xfrm flipH="1" rot="10800000">
              <a:off x="29354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2"/>
            <p:cNvSpPr/>
            <p:nvPr/>
          </p:nvSpPr>
          <p:spPr>
            <a:xfrm rot="10800000">
              <a:off x="855259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2"/>
            <p:cNvSpPr/>
            <p:nvPr/>
          </p:nvSpPr>
          <p:spPr>
            <a:xfrm rot="10800000">
              <a:off x="8011752"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1" name="Google Shape;201;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02" name="Google Shape;202;p22"/>
          <p:cNvSpPr txBox="1"/>
          <p:nvPr>
            <p:ph idx="1" type="body"/>
          </p:nvPr>
        </p:nvSpPr>
        <p:spPr>
          <a:xfrm>
            <a:off x="720000" y="1215742"/>
            <a:ext cx="7704000" cy="10221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Font typeface="Nunito Light"/>
              <a:buChar char="●"/>
              <a:defRPr/>
            </a:lvl1pPr>
            <a:lvl2pPr indent="-317500" lvl="1" marL="914400" rtl="0">
              <a:lnSpc>
                <a:spcPct val="100000"/>
              </a:lnSpc>
              <a:spcBef>
                <a:spcPts val="0"/>
              </a:spcBef>
              <a:spcAft>
                <a:spcPts val="0"/>
              </a:spcAft>
              <a:buClr>
                <a:srgbClr val="1A1A1A"/>
              </a:buClr>
              <a:buSzPts val="1400"/>
              <a:buFont typeface="Nunito Light"/>
              <a:buChar char="○"/>
              <a:defRPr/>
            </a:lvl2pPr>
            <a:lvl3pPr indent="-317500" lvl="2" marL="1371600" rtl="0">
              <a:lnSpc>
                <a:spcPct val="100000"/>
              </a:lnSpc>
              <a:spcBef>
                <a:spcPts val="0"/>
              </a:spcBef>
              <a:spcAft>
                <a:spcPts val="0"/>
              </a:spcAft>
              <a:buClr>
                <a:srgbClr val="1A1A1A"/>
              </a:buClr>
              <a:buSzPts val="1400"/>
              <a:buFont typeface="Nunito Light"/>
              <a:buChar char="■"/>
              <a:defRPr/>
            </a:lvl3pPr>
            <a:lvl4pPr indent="-317500" lvl="3" marL="1828800" rtl="0">
              <a:lnSpc>
                <a:spcPct val="100000"/>
              </a:lnSpc>
              <a:spcBef>
                <a:spcPts val="0"/>
              </a:spcBef>
              <a:spcAft>
                <a:spcPts val="0"/>
              </a:spcAft>
              <a:buClr>
                <a:srgbClr val="1A1A1A"/>
              </a:buClr>
              <a:buSzPts val="1400"/>
              <a:buFont typeface="Nunito Light"/>
              <a:buChar char="●"/>
              <a:defRPr/>
            </a:lvl4pPr>
            <a:lvl5pPr indent="-317500" lvl="4" marL="2286000" rtl="0">
              <a:lnSpc>
                <a:spcPct val="100000"/>
              </a:lnSpc>
              <a:spcBef>
                <a:spcPts val="0"/>
              </a:spcBef>
              <a:spcAft>
                <a:spcPts val="0"/>
              </a:spcAft>
              <a:buClr>
                <a:srgbClr val="1A1A1A"/>
              </a:buClr>
              <a:buSzPts val="1400"/>
              <a:buFont typeface="Nunito Light"/>
              <a:buChar char="○"/>
              <a:defRPr/>
            </a:lvl5pPr>
            <a:lvl6pPr indent="-317500" lvl="5" marL="2743200" rtl="0">
              <a:lnSpc>
                <a:spcPct val="100000"/>
              </a:lnSpc>
              <a:spcBef>
                <a:spcPts val="0"/>
              </a:spcBef>
              <a:spcAft>
                <a:spcPts val="0"/>
              </a:spcAft>
              <a:buClr>
                <a:srgbClr val="1A1A1A"/>
              </a:buClr>
              <a:buSzPts val="1400"/>
              <a:buFont typeface="Nunito Light"/>
              <a:buChar char="■"/>
              <a:defRPr/>
            </a:lvl6pPr>
            <a:lvl7pPr indent="-317500" lvl="6" marL="3200400" rtl="0">
              <a:lnSpc>
                <a:spcPct val="100000"/>
              </a:lnSpc>
              <a:spcBef>
                <a:spcPts val="0"/>
              </a:spcBef>
              <a:spcAft>
                <a:spcPts val="0"/>
              </a:spcAft>
              <a:buClr>
                <a:srgbClr val="1A1A1A"/>
              </a:buClr>
              <a:buSzPts val="1400"/>
              <a:buFont typeface="Nunito Light"/>
              <a:buChar char="●"/>
              <a:defRPr/>
            </a:lvl7pPr>
            <a:lvl8pPr indent="-317500" lvl="7" marL="3657600" rtl="0">
              <a:lnSpc>
                <a:spcPct val="100000"/>
              </a:lnSpc>
              <a:spcBef>
                <a:spcPts val="0"/>
              </a:spcBef>
              <a:spcAft>
                <a:spcPts val="0"/>
              </a:spcAft>
              <a:buClr>
                <a:srgbClr val="1A1A1A"/>
              </a:buClr>
              <a:buSzPts val="1400"/>
              <a:buFont typeface="Nunito Light"/>
              <a:buChar char="○"/>
              <a:defRPr/>
            </a:lvl8pPr>
            <a:lvl9pPr indent="-317500" lvl="8" marL="4114800" rtl="0">
              <a:lnSpc>
                <a:spcPct val="100000"/>
              </a:lnSpc>
              <a:spcBef>
                <a:spcPts val="0"/>
              </a:spcBef>
              <a:spcAft>
                <a:spcPts val="0"/>
              </a:spcAft>
              <a:buClr>
                <a:srgbClr val="1A1A1A"/>
              </a:buClr>
              <a:buSzPts val="1400"/>
              <a:buFont typeface="Nunito Light"/>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TITLE_AND_BODY_1_1">
    <p:spTree>
      <p:nvGrpSpPr>
        <p:cNvPr id="203" name="Shape 203"/>
        <p:cNvGrpSpPr/>
        <p:nvPr/>
      </p:nvGrpSpPr>
      <p:grpSpPr>
        <a:xfrm>
          <a:off x="0" y="0"/>
          <a:ext cx="0" cy="0"/>
          <a:chOff x="0" y="0"/>
          <a:chExt cx="0" cy="0"/>
        </a:xfrm>
      </p:grpSpPr>
      <p:grpSp>
        <p:nvGrpSpPr>
          <p:cNvPr id="204" name="Google Shape;204;p23"/>
          <p:cNvGrpSpPr/>
          <p:nvPr/>
        </p:nvGrpSpPr>
        <p:grpSpPr>
          <a:xfrm>
            <a:off x="-535133" y="-37823"/>
            <a:ext cx="10207495" cy="5621696"/>
            <a:chOff x="-535133" y="-37823"/>
            <a:chExt cx="10207495" cy="5621696"/>
          </a:xfrm>
        </p:grpSpPr>
        <p:sp>
          <p:nvSpPr>
            <p:cNvPr id="205" name="Google Shape;205;p23"/>
            <p:cNvSpPr/>
            <p:nvPr/>
          </p:nvSpPr>
          <p:spPr>
            <a:xfrm>
              <a:off x="-125473"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3"/>
            <p:cNvSpPr/>
            <p:nvPr/>
          </p:nvSpPr>
          <p:spPr>
            <a:xfrm>
              <a:off x="-535133"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3"/>
            <p:cNvSpPr/>
            <p:nvPr/>
          </p:nvSpPr>
          <p:spPr>
            <a:xfrm rot="10800000">
              <a:off x="8833642" y="-378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3"/>
            <p:cNvSpPr/>
            <p:nvPr/>
          </p:nvSpPr>
          <p:spPr>
            <a:xfrm rot="10800000">
              <a:off x="8430777" y="4190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3"/>
            <p:cNvSpPr/>
            <p:nvPr/>
          </p:nvSpPr>
          <p:spPr>
            <a:xfrm flipH="1">
              <a:off x="8423992"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3"/>
            <p:cNvSpPr/>
            <p:nvPr/>
          </p:nvSpPr>
          <p:spPr>
            <a:xfrm flipH="1">
              <a:off x="8833652"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3"/>
            <p:cNvSpPr/>
            <p:nvPr/>
          </p:nvSpPr>
          <p:spPr>
            <a:xfrm flipH="1" rot="10800000">
              <a:off x="-528348" y="-378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3"/>
            <p:cNvSpPr/>
            <p:nvPr/>
          </p:nvSpPr>
          <p:spPr>
            <a:xfrm flipH="1" rot="10800000">
              <a:off x="-125483" y="4190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3" name="Google Shape;213;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14" name="Google Shape;214;p23"/>
          <p:cNvSpPr txBox="1"/>
          <p:nvPr>
            <p:ph idx="1" type="body"/>
          </p:nvPr>
        </p:nvSpPr>
        <p:spPr>
          <a:xfrm>
            <a:off x="720000" y="1215749"/>
            <a:ext cx="7704000" cy="31452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Font typeface="Nunito Light"/>
              <a:buChar char="●"/>
              <a:defRPr/>
            </a:lvl1pPr>
            <a:lvl2pPr indent="-317500" lvl="1" marL="914400" rtl="0">
              <a:lnSpc>
                <a:spcPct val="100000"/>
              </a:lnSpc>
              <a:spcBef>
                <a:spcPts val="0"/>
              </a:spcBef>
              <a:spcAft>
                <a:spcPts val="0"/>
              </a:spcAft>
              <a:buClr>
                <a:srgbClr val="1A1A1A"/>
              </a:buClr>
              <a:buSzPts val="1400"/>
              <a:buFont typeface="Nunito Light"/>
              <a:buChar char="○"/>
              <a:defRPr/>
            </a:lvl2pPr>
            <a:lvl3pPr indent="-317500" lvl="2" marL="1371600" rtl="0">
              <a:lnSpc>
                <a:spcPct val="100000"/>
              </a:lnSpc>
              <a:spcBef>
                <a:spcPts val="0"/>
              </a:spcBef>
              <a:spcAft>
                <a:spcPts val="0"/>
              </a:spcAft>
              <a:buClr>
                <a:srgbClr val="1A1A1A"/>
              </a:buClr>
              <a:buSzPts val="1400"/>
              <a:buFont typeface="Nunito Light"/>
              <a:buChar char="■"/>
              <a:defRPr/>
            </a:lvl3pPr>
            <a:lvl4pPr indent="-317500" lvl="3" marL="1828800" rtl="0">
              <a:lnSpc>
                <a:spcPct val="100000"/>
              </a:lnSpc>
              <a:spcBef>
                <a:spcPts val="0"/>
              </a:spcBef>
              <a:spcAft>
                <a:spcPts val="0"/>
              </a:spcAft>
              <a:buClr>
                <a:srgbClr val="1A1A1A"/>
              </a:buClr>
              <a:buSzPts val="1400"/>
              <a:buFont typeface="Nunito Light"/>
              <a:buChar char="●"/>
              <a:defRPr/>
            </a:lvl4pPr>
            <a:lvl5pPr indent="-317500" lvl="4" marL="2286000" rtl="0">
              <a:lnSpc>
                <a:spcPct val="100000"/>
              </a:lnSpc>
              <a:spcBef>
                <a:spcPts val="0"/>
              </a:spcBef>
              <a:spcAft>
                <a:spcPts val="0"/>
              </a:spcAft>
              <a:buClr>
                <a:srgbClr val="1A1A1A"/>
              </a:buClr>
              <a:buSzPts val="1400"/>
              <a:buFont typeface="Nunito Light"/>
              <a:buChar char="○"/>
              <a:defRPr/>
            </a:lvl5pPr>
            <a:lvl6pPr indent="-317500" lvl="5" marL="2743200" rtl="0">
              <a:lnSpc>
                <a:spcPct val="100000"/>
              </a:lnSpc>
              <a:spcBef>
                <a:spcPts val="0"/>
              </a:spcBef>
              <a:spcAft>
                <a:spcPts val="0"/>
              </a:spcAft>
              <a:buClr>
                <a:srgbClr val="1A1A1A"/>
              </a:buClr>
              <a:buSzPts val="1400"/>
              <a:buFont typeface="Nunito Light"/>
              <a:buChar char="■"/>
              <a:defRPr/>
            </a:lvl6pPr>
            <a:lvl7pPr indent="-317500" lvl="6" marL="3200400" rtl="0">
              <a:lnSpc>
                <a:spcPct val="100000"/>
              </a:lnSpc>
              <a:spcBef>
                <a:spcPts val="0"/>
              </a:spcBef>
              <a:spcAft>
                <a:spcPts val="0"/>
              </a:spcAft>
              <a:buClr>
                <a:srgbClr val="1A1A1A"/>
              </a:buClr>
              <a:buSzPts val="1400"/>
              <a:buFont typeface="Nunito Light"/>
              <a:buChar char="●"/>
              <a:defRPr/>
            </a:lvl7pPr>
            <a:lvl8pPr indent="-317500" lvl="7" marL="3657600" rtl="0">
              <a:lnSpc>
                <a:spcPct val="100000"/>
              </a:lnSpc>
              <a:spcBef>
                <a:spcPts val="0"/>
              </a:spcBef>
              <a:spcAft>
                <a:spcPts val="0"/>
              </a:spcAft>
              <a:buClr>
                <a:srgbClr val="1A1A1A"/>
              </a:buClr>
              <a:buSzPts val="1400"/>
              <a:buFont typeface="Nunito Light"/>
              <a:buChar char="○"/>
              <a:defRPr/>
            </a:lvl8pPr>
            <a:lvl9pPr indent="-317500" lvl="8" marL="4114800" rtl="0">
              <a:lnSpc>
                <a:spcPct val="100000"/>
              </a:lnSpc>
              <a:spcBef>
                <a:spcPts val="0"/>
              </a:spcBef>
              <a:spcAft>
                <a:spcPts val="0"/>
              </a:spcAft>
              <a:buClr>
                <a:srgbClr val="1A1A1A"/>
              </a:buClr>
              <a:buSzPts val="1400"/>
              <a:buFont typeface="Nunito Light"/>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215" name="Shape 215"/>
        <p:cNvGrpSpPr/>
        <p:nvPr/>
      </p:nvGrpSpPr>
      <p:grpSpPr>
        <a:xfrm>
          <a:off x="0" y="0"/>
          <a:ext cx="0" cy="0"/>
          <a:chOff x="0" y="0"/>
          <a:chExt cx="0" cy="0"/>
        </a:xfrm>
      </p:grpSpPr>
      <p:grpSp>
        <p:nvGrpSpPr>
          <p:cNvPr id="216" name="Google Shape;216;p24"/>
          <p:cNvGrpSpPr/>
          <p:nvPr/>
        </p:nvGrpSpPr>
        <p:grpSpPr>
          <a:xfrm>
            <a:off x="-310473" y="3500727"/>
            <a:ext cx="9764950" cy="2327954"/>
            <a:chOff x="-310473" y="3500727"/>
            <a:chExt cx="9764950" cy="2327954"/>
          </a:xfrm>
        </p:grpSpPr>
        <p:sp>
          <p:nvSpPr>
            <p:cNvPr id="217" name="Google Shape;217;p24"/>
            <p:cNvSpPr/>
            <p:nvPr/>
          </p:nvSpPr>
          <p:spPr>
            <a:xfrm flipH="1" rot="10800000">
              <a:off x="927364" y="46300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4"/>
            <p:cNvSpPr/>
            <p:nvPr/>
          </p:nvSpPr>
          <p:spPr>
            <a:xfrm flipH="1" rot="10800000">
              <a:off x="273054" y="486056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4"/>
            <p:cNvSpPr/>
            <p:nvPr/>
          </p:nvSpPr>
          <p:spPr>
            <a:xfrm>
              <a:off x="-310473" y="39963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4"/>
            <p:cNvSpPr/>
            <p:nvPr/>
          </p:nvSpPr>
          <p:spPr>
            <a:xfrm>
              <a:off x="-125483" y="35007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4"/>
            <p:cNvSpPr/>
            <p:nvPr/>
          </p:nvSpPr>
          <p:spPr>
            <a:xfrm flipH="1">
              <a:off x="8615767" y="39963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4"/>
            <p:cNvSpPr/>
            <p:nvPr/>
          </p:nvSpPr>
          <p:spPr>
            <a:xfrm flipH="1">
              <a:off x="8424002" y="35007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4"/>
            <p:cNvSpPr/>
            <p:nvPr/>
          </p:nvSpPr>
          <p:spPr>
            <a:xfrm rot="10800000">
              <a:off x="7377929" y="46300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4"/>
            <p:cNvSpPr/>
            <p:nvPr/>
          </p:nvSpPr>
          <p:spPr>
            <a:xfrm rot="10800000">
              <a:off x="8032239" y="486056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5" name="Google Shape;225;p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26" name="Google Shape;226;p24"/>
          <p:cNvSpPr txBox="1"/>
          <p:nvPr>
            <p:ph idx="1" type="subTitle"/>
          </p:nvPr>
        </p:nvSpPr>
        <p:spPr>
          <a:xfrm>
            <a:off x="4821081" y="2782975"/>
            <a:ext cx="2844000" cy="1161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27" name="Google Shape;227;p24"/>
          <p:cNvSpPr txBox="1"/>
          <p:nvPr>
            <p:ph idx="2" type="subTitle"/>
          </p:nvPr>
        </p:nvSpPr>
        <p:spPr>
          <a:xfrm>
            <a:off x="1478950" y="2782975"/>
            <a:ext cx="2844000" cy="1161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28" name="Google Shape;228;p24"/>
          <p:cNvSpPr txBox="1"/>
          <p:nvPr>
            <p:ph idx="3" type="subTitle"/>
          </p:nvPr>
        </p:nvSpPr>
        <p:spPr>
          <a:xfrm>
            <a:off x="1478950" y="2370625"/>
            <a:ext cx="2844000" cy="558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29" name="Google Shape;229;p24"/>
          <p:cNvSpPr txBox="1"/>
          <p:nvPr>
            <p:ph idx="4" type="subTitle"/>
          </p:nvPr>
        </p:nvSpPr>
        <p:spPr>
          <a:xfrm>
            <a:off x="4821091" y="2370625"/>
            <a:ext cx="2844000" cy="558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230" name="Shape 230"/>
        <p:cNvGrpSpPr/>
        <p:nvPr/>
      </p:nvGrpSpPr>
      <p:grpSpPr>
        <a:xfrm>
          <a:off x="0" y="0"/>
          <a:ext cx="0" cy="0"/>
          <a:chOff x="0" y="0"/>
          <a:chExt cx="0" cy="0"/>
        </a:xfrm>
      </p:grpSpPr>
      <p:grpSp>
        <p:nvGrpSpPr>
          <p:cNvPr id="231" name="Google Shape;231;p25"/>
          <p:cNvGrpSpPr/>
          <p:nvPr/>
        </p:nvGrpSpPr>
        <p:grpSpPr>
          <a:xfrm>
            <a:off x="-655296" y="3436585"/>
            <a:ext cx="10454595" cy="2311221"/>
            <a:chOff x="-655296" y="3436585"/>
            <a:chExt cx="10454595" cy="2311221"/>
          </a:xfrm>
        </p:grpSpPr>
        <p:sp>
          <p:nvSpPr>
            <p:cNvPr id="232" name="Google Shape;232;p25"/>
            <p:cNvSpPr/>
            <p:nvPr/>
          </p:nvSpPr>
          <p:spPr>
            <a:xfrm flipH="1" rot="10800000">
              <a:off x="-136836" y="34365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5"/>
            <p:cNvSpPr/>
            <p:nvPr/>
          </p:nvSpPr>
          <p:spPr>
            <a:xfrm>
              <a:off x="183414" y="454091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5"/>
            <p:cNvSpPr/>
            <p:nvPr/>
          </p:nvSpPr>
          <p:spPr>
            <a:xfrm flipH="1" rot="10800000">
              <a:off x="-655296" y="390306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5"/>
            <p:cNvSpPr/>
            <p:nvPr/>
          </p:nvSpPr>
          <p:spPr>
            <a:xfrm rot="10800000">
              <a:off x="8442129" y="34365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5"/>
            <p:cNvSpPr/>
            <p:nvPr/>
          </p:nvSpPr>
          <p:spPr>
            <a:xfrm flipH="1">
              <a:off x="8121879" y="454091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5"/>
            <p:cNvSpPr/>
            <p:nvPr/>
          </p:nvSpPr>
          <p:spPr>
            <a:xfrm rot="10800000">
              <a:off x="8960589" y="390306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5"/>
            <p:cNvSpPr/>
            <p:nvPr/>
          </p:nvSpPr>
          <p:spPr>
            <a:xfrm rot="10800000">
              <a:off x="7718714" y="47796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5"/>
            <p:cNvSpPr/>
            <p:nvPr/>
          </p:nvSpPr>
          <p:spPr>
            <a:xfrm rot="10800000">
              <a:off x="586589" y="47796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0" name="Google Shape;240;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41" name="Google Shape;241;p25"/>
          <p:cNvSpPr txBox="1"/>
          <p:nvPr>
            <p:ph idx="1" type="subTitle"/>
          </p:nvPr>
        </p:nvSpPr>
        <p:spPr>
          <a:xfrm>
            <a:off x="4646250" y="1667625"/>
            <a:ext cx="3398400" cy="1899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42" name="Google Shape;242;p25"/>
          <p:cNvSpPr txBox="1"/>
          <p:nvPr>
            <p:ph idx="2" type="subTitle"/>
          </p:nvPr>
        </p:nvSpPr>
        <p:spPr>
          <a:xfrm>
            <a:off x="1099338" y="1667625"/>
            <a:ext cx="3398400" cy="1899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43" name="Shape 243"/>
        <p:cNvGrpSpPr/>
        <p:nvPr/>
      </p:nvGrpSpPr>
      <p:grpSpPr>
        <a:xfrm>
          <a:off x="0" y="0"/>
          <a:ext cx="0" cy="0"/>
          <a:chOff x="0" y="0"/>
          <a:chExt cx="0" cy="0"/>
        </a:xfrm>
      </p:grpSpPr>
      <p:grpSp>
        <p:nvGrpSpPr>
          <p:cNvPr id="244" name="Google Shape;244;p26"/>
          <p:cNvGrpSpPr/>
          <p:nvPr/>
        </p:nvGrpSpPr>
        <p:grpSpPr>
          <a:xfrm>
            <a:off x="-512036" y="-358023"/>
            <a:ext cx="10169413" cy="5930154"/>
            <a:chOff x="-512036" y="-358023"/>
            <a:chExt cx="10169413" cy="5930154"/>
          </a:xfrm>
        </p:grpSpPr>
        <p:sp>
          <p:nvSpPr>
            <p:cNvPr id="245" name="Google Shape;245;p26"/>
            <p:cNvSpPr/>
            <p:nvPr/>
          </p:nvSpPr>
          <p:spPr>
            <a:xfrm flipH="1">
              <a:off x="8430767" y="40742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6"/>
            <p:cNvSpPr/>
            <p:nvPr/>
          </p:nvSpPr>
          <p:spPr>
            <a:xfrm rot="10800000">
              <a:off x="8818667" y="182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6"/>
            <p:cNvSpPr/>
            <p:nvPr/>
          </p:nvSpPr>
          <p:spPr>
            <a:xfrm rot="10800000">
              <a:off x="8011414" y="460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6"/>
            <p:cNvSpPr/>
            <p:nvPr/>
          </p:nvSpPr>
          <p:spPr>
            <a:xfrm flipH="1">
              <a:off x="8430777" y="-3580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6"/>
            <p:cNvSpPr/>
            <p:nvPr/>
          </p:nvSpPr>
          <p:spPr>
            <a:xfrm>
              <a:off x="-124136" y="40742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6"/>
            <p:cNvSpPr/>
            <p:nvPr/>
          </p:nvSpPr>
          <p:spPr>
            <a:xfrm flipH="1" rot="10800000">
              <a:off x="-512036" y="182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6"/>
            <p:cNvSpPr/>
            <p:nvPr/>
          </p:nvSpPr>
          <p:spPr>
            <a:xfrm flipH="1" rot="10800000">
              <a:off x="295217" y="46040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6"/>
            <p:cNvSpPr/>
            <p:nvPr/>
          </p:nvSpPr>
          <p:spPr>
            <a:xfrm>
              <a:off x="-124133" y="-3580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3" name="Google Shape;253;p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54" name="Google Shape;254;p26"/>
          <p:cNvSpPr txBox="1"/>
          <p:nvPr>
            <p:ph idx="1" type="subTitle"/>
          </p:nvPr>
        </p:nvSpPr>
        <p:spPr>
          <a:xfrm>
            <a:off x="881225" y="2768751"/>
            <a:ext cx="2288100" cy="895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5" name="Google Shape;255;p26"/>
          <p:cNvSpPr txBox="1"/>
          <p:nvPr>
            <p:ph idx="2" type="subTitle"/>
          </p:nvPr>
        </p:nvSpPr>
        <p:spPr>
          <a:xfrm>
            <a:off x="3427950" y="2768751"/>
            <a:ext cx="2288100" cy="895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6" name="Google Shape;256;p26"/>
          <p:cNvSpPr txBox="1"/>
          <p:nvPr>
            <p:ph idx="3" type="subTitle"/>
          </p:nvPr>
        </p:nvSpPr>
        <p:spPr>
          <a:xfrm>
            <a:off x="5974700" y="2768751"/>
            <a:ext cx="2288100" cy="895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7" name="Google Shape;257;p26"/>
          <p:cNvSpPr txBox="1"/>
          <p:nvPr>
            <p:ph idx="4" type="subTitle"/>
          </p:nvPr>
        </p:nvSpPr>
        <p:spPr>
          <a:xfrm>
            <a:off x="881225" y="2250275"/>
            <a:ext cx="2288100" cy="660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58" name="Google Shape;258;p26"/>
          <p:cNvSpPr txBox="1"/>
          <p:nvPr>
            <p:ph idx="5" type="subTitle"/>
          </p:nvPr>
        </p:nvSpPr>
        <p:spPr>
          <a:xfrm>
            <a:off x="3427954" y="2250275"/>
            <a:ext cx="2288100" cy="660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59" name="Google Shape;259;p26"/>
          <p:cNvSpPr txBox="1"/>
          <p:nvPr>
            <p:ph idx="6" type="subTitle"/>
          </p:nvPr>
        </p:nvSpPr>
        <p:spPr>
          <a:xfrm>
            <a:off x="5974700" y="2250275"/>
            <a:ext cx="2288100" cy="660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60" name="Shape 260"/>
        <p:cNvGrpSpPr/>
        <p:nvPr/>
      </p:nvGrpSpPr>
      <p:grpSpPr>
        <a:xfrm>
          <a:off x="0" y="0"/>
          <a:ext cx="0" cy="0"/>
          <a:chOff x="0" y="0"/>
          <a:chExt cx="0" cy="0"/>
        </a:xfrm>
      </p:grpSpPr>
      <p:grpSp>
        <p:nvGrpSpPr>
          <p:cNvPr id="261" name="Google Shape;261;p27"/>
          <p:cNvGrpSpPr/>
          <p:nvPr/>
        </p:nvGrpSpPr>
        <p:grpSpPr>
          <a:xfrm>
            <a:off x="-519458" y="2674710"/>
            <a:ext cx="10224210" cy="2744938"/>
            <a:chOff x="-519458" y="2674710"/>
            <a:chExt cx="10224210" cy="2744938"/>
          </a:xfrm>
        </p:grpSpPr>
        <p:sp>
          <p:nvSpPr>
            <p:cNvPr id="262" name="Google Shape;262;p27"/>
            <p:cNvSpPr/>
            <p:nvPr/>
          </p:nvSpPr>
          <p:spPr>
            <a:xfrm flipH="1" rot="10800000">
              <a:off x="-118698" y="308477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7"/>
            <p:cNvSpPr/>
            <p:nvPr/>
          </p:nvSpPr>
          <p:spPr>
            <a:xfrm flipH="1" rot="10800000">
              <a:off x="-519458" y="26747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7"/>
            <p:cNvSpPr/>
            <p:nvPr/>
          </p:nvSpPr>
          <p:spPr>
            <a:xfrm>
              <a:off x="-519448" y="39557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7"/>
            <p:cNvSpPr/>
            <p:nvPr/>
          </p:nvSpPr>
          <p:spPr>
            <a:xfrm>
              <a:off x="21392" y="44515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7"/>
            <p:cNvSpPr/>
            <p:nvPr/>
          </p:nvSpPr>
          <p:spPr>
            <a:xfrm rot="10800000">
              <a:off x="8465282" y="308477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7"/>
            <p:cNvSpPr/>
            <p:nvPr/>
          </p:nvSpPr>
          <p:spPr>
            <a:xfrm rot="10800000">
              <a:off x="8866042" y="26747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7"/>
            <p:cNvSpPr/>
            <p:nvPr/>
          </p:nvSpPr>
          <p:spPr>
            <a:xfrm flipH="1">
              <a:off x="8866032" y="395571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7"/>
            <p:cNvSpPr/>
            <p:nvPr/>
          </p:nvSpPr>
          <p:spPr>
            <a:xfrm flipH="1">
              <a:off x="8325192" y="44515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0" name="Google Shape;270;p2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71" name="Google Shape;271;p27"/>
          <p:cNvSpPr txBox="1"/>
          <p:nvPr>
            <p:ph idx="1" type="subTitle"/>
          </p:nvPr>
        </p:nvSpPr>
        <p:spPr>
          <a:xfrm>
            <a:off x="1142950" y="2219063"/>
            <a:ext cx="3251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2" name="Google Shape;272;p27"/>
          <p:cNvSpPr txBox="1"/>
          <p:nvPr>
            <p:ph idx="2" type="subTitle"/>
          </p:nvPr>
        </p:nvSpPr>
        <p:spPr>
          <a:xfrm>
            <a:off x="4749341" y="2219063"/>
            <a:ext cx="3251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3" name="Google Shape;273;p27"/>
          <p:cNvSpPr txBox="1"/>
          <p:nvPr>
            <p:ph idx="3" type="subTitle"/>
          </p:nvPr>
        </p:nvSpPr>
        <p:spPr>
          <a:xfrm>
            <a:off x="1142950" y="4010313"/>
            <a:ext cx="3251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4" name="Google Shape;274;p27"/>
          <p:cNvSpPr txBox="1"/>
          <p:nvPr>
            <p:ph idx="4" type="subTitle"/>
          </p:nvPr>
        </p:nvSpPr>
        <p:spPr>
          <a:xfrm>
            <a:off x="4749341" y="4010313"/>
            <a:ext cx="3251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5" name="Google Shape;275;p27"/>
          <p:cNvSpPr txBox="1"/>
          <p:nvPr>
            <p:ph idx="5" type="subTitle"/>
          </p:nvPr>
        </p:nvSpPr>
        <p:spPr>
          <a:xfrm>
            <a:off x="1142962" y="1860588"/>
            <a:ext cx="3251700" cy="505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76" name="Google Shape;276;p27"/>
          <p:cNvSpPr txBox="1"/>
          <p:nvPr>
            <p:ph idx="6" type="subTitle"/>
          </p:nvPr>
        </p:nvSpPr>
        <p:spPr>
          <a:xfrm>
            <a:off x="1142962" y="3651938"/>
            <a:ext cx="3251700" cy="505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77" name="Google Shape;277;p27"/>
          <p:cNvSpPr txBox="1"/>
          <p:nvPr>
            <p:ph idx="7" type="subTitle"/>
          </p:nvPr>
        </p:nvSpPr>
        <p:spPr>
          <a:xfrm>
            <a:off x="4749338" y="1860588"/>
            <a:ext cx="3251700" cy="505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78" name="Google Shape;278;p27"/>
          <p:cNvSpPr txBox="1"/>
          <p:nvPr>
            <p:ph idx="8" type="subTitle"/>
          </p:nvPr>
        </p:nvSpPr>
        <p:spPr>
          <a:xfrm>
            <a:off x="4749338" y="3651938"/>
            <a:ext cx="3251700" cy="505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79" name="Shape 279"/>
        <p:cNvGrpSpPr/>
        <p:nvPr/>
      </p:nvGrpSpPr>
      <p:grpSpPr>
        <a:xfrm>
          <a:off x="0" y="0"/>
          <a:ext cx="0" cy="0"/>
          <a:chOff x="0" y="0"/>
          <a:chExt cx="0" cy="0"/>
        </a:xfrm>
      </p:grpSpPr>
      <p:grpSp>
        <p:nvGrpSpPr>
          <p:cNvPr id="280" name="Google Shape;280;p28"/>
          <p:cNvGrpSpPr/>
          <p:nvPr/>
        </p:nvGrpSpPr>
        <p:grpSpPr>
          <a:xfrm>
            <a:off x="-266473" y="3341397"/>
            <a:ext cx="9676960" cy="2321921"/>
            <a:chOff x="-266473" y="3341397"/>
            <a:chExt cx="9676960" cy="2321921"/>
          </a:xfrm>
        </p:grpSpPr>
        <p:sp>
          <p:nvSpPr>
            <p:cNvPr id="281" name="Google Shape;281;p28"/>
            <p:cNvSpPr/>
            <p:nvPr/>
          </p:nvSpPr>
          <p:spPr>
            <a:xfrm flipH="1">
              <a:off x="7441675" y="469519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8"/>
            <p:cNvSpPr/>
            <p:nvPr/>
          </p:nvSpPr>
          <p:spPr>
            <a:xfrm>
              <a:off x="863615" y="469519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8"/>
            <p:cNvSpPr/>
            <p:nvPr/>
          </p:nvSpPr>
          <p:spPr>
            <a:xfrm flipH="1" rot="10800000">
              <a:off x="-266473" y="40287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8"/>
            <p:cNvSpPr/>
            <p:nvPr/>
          </p:nvSpPr>
          <p:spPr>
            <a:xfrm>
              <a:off x="152867" y="45245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8"/>
            <p:cNvSpPr/>
            <p:nvPr/>
          </p:nvSpPr>
          <p:spPr>
            <a:xfrm flipH="1" rot="10800000">
              <a:off x="-151033" y="334139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8"/>
            <p:cNvSpPr/>
            <p:nvPr/>
          </p:nvSpPr>
          <p:spPr>
            <a:xfrm rot="10800000">
              <a:off x="8571777" y="402872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8"/>
            <p:cNvSpPr/>
            <p:nvPr/>
          </p:nvSpPr>
          <p:spPr>
            <a:xfrm flipH="1">
              <a:off x="8152437" y="45245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8"/>
            <p:cNvSpPr/>
            <p:nvPr/>
          </p:nvSpPr>
          <p:spPr>
            <a:xfrm rot="10800000">
              <a:off x="8456337" y="334139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9" name="Google Shape;289;p2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90" name="Google Shape;290;p28"/>
          <p:cNvSpPr txBox="1"/>
          <p:nvPr>
            <p:ph idx="1" type="subTitle"/>
          </p:nvPr>
        </p:nvSpPr>
        <p:spPr>
          <a:xfrm>
            <a:off x="968524" y="2235613"/>
            <a:ext cx="22662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1" name="Google Shape;291;p28"/>
          <p:cNvSpPr txBox="1"/>
          <p:nvPr>
            <p:ph idx="2" type="subTitle"/>
          </p:nvPr>
        </p:nvSpPr>
        <p:spPr>
          <a:xfrm>
            <a:off x="3439063" y="2235613"/>
            <a:ext cx="22659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2" name="Google Shape;292;p28"/>
          <p:cNvSpPr txBox="1"/>
          <p:nvPr>
            <p:ph idx="3" type="subTitle"/>
          </p:nvPr>
        </p:nvSpPr>
        <p:spPr>
          <a:xfrm>
            <a:off x="968524" y="3967325"/>
            <a:ext cx="22662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3" name="Google Shape;293;p28"/>
          <p:cNvSpPr txBox="1"/>
          <p:nvPr>
            <p:ph idx="4" type="subTitle"/>
          </p:nvPr>
        </p:nvSpPr>
        <p:spPr>
          <a:xfrm>
            <a:off x="3439063" y="3967325"/>
            <a:ext cx="22659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4" name="Google Shape;294;p28"/>
          <p:cNvSpPr txBox="1"/>
          <p:nvPr>
            <p:ph idx="5" type="subTitle"/>
          </p:nvPr>
        </p:nvSpPr>
        <p:spPr>
          <a:xfrm>
            <a:off x="5909375" y="2235613"/>
            <a:ext cx="22659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5" name="Google Shape;295;p28"/>
          <p:cNvSpPr txBox="1"/>
          <p:nvPr>
            <p:ph idx="6" type="subTitle"/>
          </p:nvPr>
        </p:nvSpPr>
        <p:spPr>
          <a:xfrm>
            <a:off x="5909375" y="3967325"/>
            <a:ext cx="22659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6" name="Google Shape;296;p28"/>
          <p:cNvSpPr txBox="1"/>
          <p:nvPr>
            <p:ph idx="7" type="subTitle"/>
          </p:nvPr>
        </p:nvSpPr>
        <p:spPr>
          <a:xfrm>
            <a:off x="968524" y="1890138"/>
            <a:ext cx="2266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97" name="Google Shape;297;p28"/>
          <p:cNvSpPr txBox="1"/>
          <p:nvPr>
            <p:ph idx="8" type="subTitle"/>
          </p:nvPr>
        </p:nvSpPr>
        <p:spPr>
          <a:xfrm>
            <a:off x="3439063" y="1890138"/>
            <a:ext cx="22659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98" name="Google Shape;298;p28"/>
          <p:cNvSpPr txBox="1"/>
          <p:nvPr>
            <p:ph idx="9" type="subTitle"/>
          </p:nvPr>
        </p:nvSpPr>
        <p:spPr>
          <a:xfrm>
            <a:off x="5909375" y="1890138"/>
            <a:ext cx="22659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99" name="Google Shape;299;p28"/>
          <p:cNvSpPr txBox="1"/>
          <p:nvPr>
            <p:ph idx="13" type="subTitle"/>
          </p:nvPr>
        </p:nvSpPr>
        <p:spPr>
          <a:xfrm>
            <a:off x="968524" y="3621825"/>
            <a:ext cx="2266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00" name="Google Shape;300;p28"/>
          <p:cNvSpPr txBox="1"/>
          <p:nvPr>
            <p:ph idx="14" type="subTitle"/>
          </p:nvPr>
        </p:nvSpPr>
        <p:spPr>
          <a:xfrm>
            <a:off x="3439063" y="3621825"/>
            <a:ext cx="22659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01" name="Google Shape;301;p28"/>
          <p:cNvSpPr txBox="1"/>
          <p:nvPr>
            <p:ph idx="15" type="subTitle"/>
          </p:nvPr>
        </p:nvSpPr>
        <p:spPr>
          <a:xfrm>
            <a:off x="5909375" y="3621825"/>
            <a:ext cx="22659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Outfit"/>
                <a:ea typeface="Outfit"/>
                <a:cs typeface="Outfit"/>
                <a:sym typeface="Outfit"/>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302" name="Shape 302"/>
        <p:cNvGrpSpPr/>
        <p:nvPr/>
      </p:nvGrpSpPr>
      <p:grpSpPr>
        <a:xfrm>
          <a:off x="0" y="0"/>
          <a:ext cx="0" cy="0"/>
          <a:chOff x="0" y="0"/>
          <a:chExt cx="0" cy="0"/>
        </a:xfrm>
      </p:grpSpPr>
      <p:sp>
        <p:nvSpPr>
          <p:cNvPr id="303" name="Google Shape;303;p29"/>
          <p:cNvSpPr txBox="1"/>
          <p:nvPr>
            <p:ph hasCustomPrompt="1" type="title"/>
          </p:nvPr>
        </p:nvSpPr>
        <p:spPr>
          <a:xfrm>
            <a:off x="4351975" y="638350"/>
            <a:ext cx="4078800" cy="768900"/>
          </a:xfrm>
          <a:prstGeom prst="rect">
            <a:avLst/>
          </a:prstGeom>
          <a:noFill/>
        </p:spPr>
        <p:txBody>
          <a:bodyPr anchorCtr="0" anchor="b" bIns="91425" lIns="91425" spcFirstLastPara="1" rIns="91425" wrap="square" tIns="91425">
            <a:noAutofit/>
          </a:bodyPr>
          <a:lstStyle>
            <a:lvl1pPr lvl="0" rtl="0" algn="l">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304" name="Google Shape;304;p29"/>
          <p:cNvSpPr txBox="1"/>
          <p:nvPr>
            <p:ph idx="1" type="subTitle"/>
          </p:nvPr>
        </p:nvSpPr>
        <p:spPr>
          <a:xfrm>
            <a:off x="4351975" y="1327275"/>
            <a:ext cx="4078800" cy="4191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400"/>
              <a:buNone/>
              <a:defRPr sz="1600"/>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305" name="Google Shape;305;p29"/>
          <p:cNvSpPr txBox="1"/>
          <p:nvPr>
            <p:ph hasCustomPrompt="1" idx="2" type="title"/>
          </p:nvPr>
        </p:nvSpPr>
        <p:spPr>
          <a:xfrm>
            <a:off x="4351975" y="1990612"/>
            <a:ext cx="4078800" cy="768900"/>
          </a:xfrm>
          <a:prstGeom prst="rect">
            <a:avLst/>
          </a:prstGeom>
          <a:noFill/>
        </p:spPr>
        <p:txBody>
          <a:bodyPr anchorCtr="0" anchor="b" bIns="91425" lIns="91425" spcFirstLastPara="1" rIns="91425" wrap="square" tIns="91425">
            <a:noAutofit/>
          </a:bodyPr>
          <a:lstStyle>
            <a:lvl1pPr lvl="0" rtl="0" algn="l">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306" name="Google Shape;306;p29"/>
          <p:cNvSpPr txBox="1"/>
          <p:nvPr>
            <p:ph idx="3" type="subTitle"/>
          </p:nvPr>
        </p:nvSpPr>
        <p:spPr>
          <a:xfrm>
            <a:off x="4351975" y="2679529"/>
            <a:ext cx="4078800" cy="4191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400"/>
              <a:buNone/>
              <a:defRPr sz="1600"/>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307" name="Google Shape;307;p29"/>
          <p:cNvSpPr txBox="1"/>
          <p:nvPr>
            <p:ph hasCustomPrompt="1" idx="4" type="title"/>
          </p:nvPr>
        </p:nvSpPr>
        <p:spPr>
          <a:xfrm>
            <a:off x="4351975" y="3342874"/>
            <a:ext cx="4078800" cy="768900"/>
          </a:xfrm>
          <a:prstGeom prst="rect">
            <a:avLst/>
          </a:prstGeom>
          <a:noFill/>
        </p:spPr>
        <p:txBody>
          <a:bodyPr anchorCtr="0" anchor="b" bIns="91425" lIns="91425" spcFirstLastPara="1" rIns="91425" wrap="square" tIns="91425">
            <a:noAutofit/>
          </a:bodyPr>
          <a:lstStyle>
            <a:lvl1pPr lvl="0" rtl="0" algn="l">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308" name="Google Shape;308;p29"/>
          <p:cNvSpPr txBox="1"/>
          <p:nvPr>
            <p:ph idx="5" type="subTitle"/>
          </p:nvPr>
        </p:nvSpPr>
        <p:spPr>
          <a:xfrm>
            <a:off x="4351975" y="4031799"/>
            <a:ext cx="4078800" cy="4191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400"/>
              <a:buNone/>
              <a:defRPr sz="1600"/>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309" name="Shape 309"/>
        <p:cNvGrpSpPr/>
        <p:nvPr/>
      </p:nvGrpSpPr>
      <p:grpSpPr>
        <a:xfrm>
          <a:off x="0" y="0"/>
          <a:ext cx="0" cy="0"/>
          <a:chOff x="0" y="0"/>
          <a:chExt cx="0" cy="0"/>
        </a:xfrm>
      </p:grpSpPr>
      <p:sp>
        <p:nvSpPr>
          <p:cNvPr id="310" name="Google Shape;310;p30"/>
          <p:cNvSpPr txBox="1"/>
          <p:nvPr>
            <p:ph type="title"/>
          </p:nvPr>
        </p:nvSpPr>
        <p:spPr>
          <a:xfrm>
            <a:off x="713225" y="677525"/>
            <a:ext cx="5094600" cy="10587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500"/>
              <a:buNone/>
              <a:defRPr sz="6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11" name="Google Shape;311;p30"/>
          <p:cNvSpPr txBox="1"/>
          <p:nvPr>
            <p:ph idx="1" type="subTitle"/>
          </p:nvPr>
        </p:nvSpPr>
        <p:spPr>
          <a:xfrm>
            <a:off x="713225" y="1841450"/>
            <a:ext cx="5094600" cy="10587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12" name="Google Shape;312;p30"/>
          <p:cNvSpPr txBox="1"/>
          <p:nvPr/>
        </p:nvSpPr>
        <p:spPr>
          <a:xfrm>
            <a:off x="713225" y="3611950"/>
            <a:ext cx="50946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200">
                <a:solidFill>
                  <a:schemeClr val="dk1"/>
                </a:solidFill>
                <a:latin typeface="DM Sans"/>
                <a:ea typeface="DM Sans"/>
                <a:cs typeface="DM Sans"/>
                <a:sym typeface="DM Sans"/>
              </a:rPr>
              <a:t>CREDITS:</a:t>
            </a:r>
            <a:r>
              <a:rPr lang="en" sz="1200">
                <a:solidFill>
                  <a:schemeClr val="dk1"/>
                </a:solidFill>
                <a:latin typeface="DM Sans"/>
                <a:ea typeface="DM Sans"/>
                <a:cs typeface="DM Sans"/>
                <a:sym typeface="DM Sans"/>
              </a:rPr>
              <a:t> This presentation template was created by </a:t>
            </a:r>
            <a:r>
              <a:rPr b="1" lang="en" sz="1200" u="sng">
                <a:solidFill>
                  <a:schemeClr val="dk1"/>
                </a:solidFill>
                <a:latin typeface="DM Sans"/>
                <a:ea typeface="DM Sans"/>
                <a:cs typeface="DM Sans"/>
                <a:sym typeface="DM Sans"/>
                <a:hlinkClick r:id="rId2">
                  <a:extLst>
                    <a:ext uri="{A12FA001-AC4F-418D-AE19-62706E023703}">
                      <ahyp:hlinkClr val="tx"/>
                    </a:ext>
                  </a:extLst>
                </a:hlinkClick>
              </a:rPr>
              <a:t>Slidesgo</a:t>
            </a:r>
            <a:r>
              <a:rPr lang="en" sz="1200">
                <a:solidFill>
                  <a:schemeClr val="dk1"/>
                </a:solidFill>
                <a:latin typeface="DM Sans"/>
                <a:ea typeface="DM Sans"/>
                <a:cs typeface="DM Sans"/>
                <a:sym typeface="DM Sans"/>
              </a:rPr>
              <a:t>, and includes icons by </a:t>
            </a:r>
            <a:r>
              <a:rPr b="1" lang="en" sz="1200" u="sng">
                <a:solidFill>
                  <a:schemeClr val="dk1"/>
                </a:solidFill>
                <a:latin typeface="DM Sans"/>
                <a:ea typeface="DM Sans"/>
                <a:cs typeface="DM Sans"/>
                <a:sym typeface="DM Sans"/>
                <a:hlinkClick r:id="rId3">
                  <a:extLst>
                    <a:ext uri="{A12FA001-AC4F-418D-AE19-62706E023703}">
                      <ahyp:hlinkClr val="tx"/>
                    </a:ext>
                  </a:extLst>
                </a:hlinkClick>
              </a:rPr>
              <a:t>Flaticon</a:t>
            </a:r>
            <a:r>
              <a:rPr lang="en" sz="1200">
                <a:solidFill>
                  <a:schemeClr val="dk1"/>
                </a:solidFill>
                <a:latin typeface="DM Sans"/>
                <a:ea typeface="DM Sans"/>
                <a:cs typeface="DM Sans"/>
                <a:sym typeface="DM Sans"/>
              </a:rPr>
              <a:t>, and infographics &amp; images by </a:t>
            </a:r>
            <a:r>
              <a:rPr b="1" lang="en" sz="1200" u="sng">
                <a:solidFill>
                  <a:schemeClr val="dk1"/>
                </a:solidFill>
                <a:latin typeface="DM Sans"/>
                <a:ea typeface="DM Sans"/>
                <a:cs typeface="DM Sans"/>
                <a:sym typeface="DM Sans"/>
                <a:hlinkClick r:id="rId4">
                  <a:extLst>
                    <a:ext uri="{A12FA001-AC4F-418D-AE19-62706E023703}">
                      <ahyp:hlinkClr val="tx"/>
                    </a:ext>
                  </a:extLst>
                </a:hlinkClick>
              </a:rPr>
              <a:t>Freepik</a:t>
            </a:r>
            <a:r>
              <a:rPr lang="en" sz="1200" u="sng">
                <a:solidFill>
                  <a:schemeClr val="dk1"/>
                </a:solidFill>
                <a:latin typeface="DM Sans"/>
                <a:ea typeface="DM Sans"/>
                <a:cs typeface="DM Sans"/>
                <a:sym typeface="DM Sans"/>
              </a:rPr>
              <a:t> </a:t>
            </a:r>
            <a:endParaRPr b="1" sz="1200" u="sng">
              <a:solidFill>
                <a:schemeClr val="dk1"/>
              </a:solidFill>
              <a:latin typeface="DM Sans"/>
              <a:ea typeface="DM Sans"/>
              <a:cs typeface="DM Sans"/>
              <a:sym typeface="DM San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313" name="Shape 313"/>
        <p:cNvGrpSpPr/>
        <p:nvPr/>
      </p:nvGrpSpPr>
      <p:grpSpPr>
        <a:xfrm>
          <a:off x="0" y="0"/>
          <a:ext cx="0" cy="0"/>
          <a:chOff x="0" y="0"/>
          <a:chExt cx="0" cy="0"/>
        </a:xfrm>
      </p:grpSpPr>
      <p:grpSp>
        <p:nvGrpSpPr>
          <p:cNvPr id="314" name="Google Shape;314;p31"/>
          <p:cNvGrpSpPr/>
          <p:nvPr/>
        </p:nvGrpSpPr>
        <p:grpSpPr>
          <a:xfrm>
            <a:off x="-247298" y="-446215"/>
            <a:ext cx="9638610" cy="6030088"/>
            <a:chOff x="-247298" y="-446215"/>
            <a:chExt cx="9638610" cy="6030088"/>
          </a:xfrm>
        </p:grpSpPr>
        <p:sp>
          <p:nvSpPr>
            <p:cNvPr id="315" name="Google Shape;315;p31"/>
            <p:cNvSpPr/>
            <p:nvPr/>
          </p:nvSpPr>
          <p:spPr>
            <a:xfrm>
              <a:off x="-125573"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31"/>
            <p:cNvSpPr/>
            <p:nvPr/>
          </p:nvSpPr>
          <p:spPr>
            <a:xfrm>
              <a:off x="-125583"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31"/>
            <p:cNvSpPr/>
            <p:nvPr/>
          </p:nvSpPr>
          <p:spPr>
            <a:xfrm flipH="1" rot="10800000">
              <a:off x="-247298"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31"/>
            <p:cNvSpPr/>
            <p:nvPr/>
          </p:nvSpPr>
          <p:spPr>
            <a:xfrm flipH="1" rot="10800000">
              <a:off x="346967" y="-4462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31"/>
            <p:cNvSpPr/>
            <p:nvPr/>
          </p:nvSpPr>
          <p:spPr>
            <a:xfrm rot="10800000">
              <a:off x="7958317" y="-42862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31"/>
            <p:cNvSpPr/>
            <p:nvPr/>
          </p:nvSpPr>
          <p:spPr>
            <a:xfrm rot="10800000">
              <a:off x="8552602" y="496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31"/>
            <p:cNvSpPr/>
            <p:nvPr/>
          </p:nvSpPr>
          <p:spPr>
            <a:xfrm>
              <a:off x="8430777" y="411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31"/>
            <p:cNvSpPr/>
            <p:nvPr/>
          </p:nvSpPr>
          <p:spPr>
            <a:xfrm>
              <a:off x="8430767" y="46157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323" name="Shape 323"/>
        <p:cNvGrpSpPr/>
        <p:nvPr/>
      </p:nvGrpSpPr>
      <p:grpSpPr>
        <a:xfrm>
          <a:off x="0" y="0"/>
          <a:ext cx="0" cy="0"/>
          <a:chOff x="0" y="0"/>
          <a:chExt cx="0" cy="0"/>
        </a:xfrm>
      </p:grpSpPr>
      <p:grpSp>
        <p:nvGrpSpPr>
          <p:cNvPr id="324" name="Google Shape;324;p32"/>
          <p:cNvGrpSpPr/>
          <p:nvPr/>
        </p:nvGrpSpPr>
        <p:grpSpPr>
          <a:xfrm>
            <a:off x="-476796" y="2900252"/>
            <a:ext cx="10097585" cy="2865204"/>
            <a:chOff x="-476796" y="2900252"/>
            <a:chExt cx="10097585" cy="2865204"/>
          </a:xfrm>
        </p:grpSpPr>
        <p:grpSp>
          <p:nvGrpSpPr>
            <p:cNvPr id="325" name="Google Shape;325;p32"/>
            <p:cNvGrpSpPr/>
            <p:nvPr/>
          </p:nvGrpSpPr>
          <p:grpSpPr>
            <a:xfrm>
              <a:off x="-476796" y="2900252"/>
              <a:ext cx="10097585" cy="2865204"/>
              <a:chOff x="-476796" y="2900252"/>
              <a:chExt cx="10097585" cy="2865204"/>
            </a:xfrm>
          </p:grpSpPr>
          <p:sp>
            <p:nvSpPr>
              <p:cNvPr id="326" name="Google Shape;326;p32"/>
              <p:cNvSpPr/>
              <p:nvPr/>
            </p:nvSpPr>
            <p:spPr>
              <a:xfrm flipH="1" rot="10800000">
                <a:off x="-266661" y="29002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32"/>
              <p:cNvSpPr/>
              <p:nvPr/>
            </p:nvSpPr>
            <p:spPr>
              <a:xfrm>
                <a:off x="-90736" y="442524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32"/>
              <p:cNvSpPr/>
              <p:nvPr/>
            </p:nvSpPr>
            <p:spPr>
              <a:xfrm>
                <a:off x="-476796" y="35228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32"/>
              <p:cNvSpPr/>
              <p:nvPr/>
            </p:nvSpPr>
            <p:spPr>
              <a:xfrm rot="10800000">
                <a:off x="8571944" y="290025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32"/>
              <p:cNvSpPr/>
              <p:nvPr/>
            </p:nvSpPr>
            <p:spPr>
              <a:xfrm flipH="1">
                <a:off x="8396019" y="442524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32"/>
              <p:cNvSpPr/>
              <p:nvPr/>
            </p:nvSpPr>
            <p:spPr>
              <a:xfrm flipH="1">
                <a:off x="8782079" y="35228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2"/>
              <p:cNvSpPr/>
              <p:nvPr/>
            </p:nvSpPr>
            <p:spPr>
              <a:xfrm rot="10800000">
                <a:off x="8009979" y="47973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3" name="Google Shape;333;p32"/>
            <p:cNvSpPr/>
            <p:nvPr/>
          </p:nvSpPr>
          <p:spPr>
            <a:xfrm flipH="1" rot="10800000">
              <a:off x="293867" y="47973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32" Type="http://schemas.openxmlformats.org/officeDocument/2006/relationships/theme" Target="../theme/theme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chemeClr val="dk1"/>
              </a:buClr>
              <a:buSzPts val="3500"/>
              <a:buFont typeface="Outfit"/>
              <a:buNone/>
              <a:defRPr b="1" sz="3500">
                <a:solidFill>
                  <a:schemeClr val="dk1"/>
                </a:solidFill>
                <a:latin typeface="Outfit"/>
                <a:ea typeface="Outfit"/>
                <a:cs typeface="Outfit"/>
                <a:sym typeface="Outfit"/>
              </a:defRPr>
            </a:lvl1pPr>
            <a:lvl2pPr lvl="1"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2pPr>
            <a:lvl3pPr lvl="2"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3pPr>
            <a:lvl4pPr lvl="3"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4pPr>
            <a:lvl5pPr lvl="4"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5pPr>
            <a:lvl6pPr lvl="5"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6pPr>
            <a:lvl7pPr lvl="6"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7pPr>
            <a:lvl8pPr lvl="7"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8pPr>
            <a:lvl9pPr lvl="8" rtl="0">
              <a:spcBef>
                <a:spcPts val="0"/>
              </a:spcBef>
              <a:spcAft>
                <a:spcPts val="0"/>
              </a:spcAft>
              <a:buClr>
                <a:schemeClr val="dk1"/>
              </a:buClr>
              <a:buSzPts val="3500"/>
              <a:buFont typeface="Outfit Medium"/>
              <a:buNone/>
              <a:defRPr sz="3500">
                <a:solidFill>
                  <a:schemeClr val="dk1"/>
                </a:solidFill>
                <a:latin typeface="Outfit Medium"/>
                <a:ea typeface="Outfit Medium"/>
                <a:cs typeface="Outfit Medium"/>
                <a:sym typeface="Outfit Medium"/>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1pPr>
            <a:lvl2pPr indent="-317500" lvl="1" marL="9144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2pPr>
            <a:lvl3pPr indent="-317500" lvl="2" marL="13716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3pPr>
            <a:lvl4pPr indent="-317500" lvl="3" marL="18288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4pPr>
            <a:lvl5pPr indent="-317500" lvl="4" marL="22860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5pPr>
            <a:lvl6pPr indent="-317500" lvl="5" marL="27432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6pPr>
            <a:lvl7pPr indent="-317500" lvl="6" marL="32004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7pPr>
            <a:lvl8pPr indent="-317500" lvl="7" marL="36576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8pPr>
            <a:lvl9pPr indent="-317500" lvl="8" marL="41148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hyperlink" Target="https://www.kaggle.com/datasets/teejmahal20/airline-passenger-satisfaction"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3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3.png"/><Relationship Id="rId4" Type="http://schemas.openxmlformats.org/officeDocument/2006/relationships/image" Target="../media/image2.png"/><Relationship Id="rId5"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7.png"/><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3.png"/><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0.png"/><Relationship Id="rId4" Type="http://schemas.openxmlformats.org/officeDocument/2006/relationships/image" Target="../media/image36.png"/><Relationship Id="rId5" Type="http://schemas.openxmlformats.org/officeDocument/2006/relationships/image" Target="../media/image3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6.png"/><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4.png"/><Relationship Id="rId4" Type="http://schemas.openxmlformats.org/officeDocument/2006/relationships/image" Target="../media/image9.png"/><Relationship Id="rId5"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5.png"/><Relationship Id="rId4" Type="http://schemas.openxmlformats.org/officeDocument/2006/relationships/image" Target="../media/image35.png"/><Relationship Id="rId5"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1.png"/><Relationship Id="rId4" Type="http://schemas.openxmlformats.org/officeDocument/2006/relationships/image" Target="../media/image26.png"/><Relationship Id="rId5"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image" Target="../media/image2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hyperlink" Target="https://82e81b3c263fde35f9.gradio.live/" TargetMode="External"/><Relationship Id="rId4" Type="http://schemas.openxmlformats.org/officeDocument/2006/relationships/image" Target="../media/image2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33"/>
          <p:cNvSpPr txBox="1"/>
          <p:nvPr>
            <p:ph type="ctrTitle"/>
          </p:nvPr>
        </p:nvSpPr>
        <p:spPr>
          <a:xfrm>
            <a:off x="713225" y="1156000"/>
            <a:ext cx="4160700" cy="238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400"/>
              <a:t>Airline Passenger Satisfaction</a:t>
            </a:r>
            <a:r>
              <a:rPr b="1" lang="en" sz="2700"/>
              <a:t> </a:t>
            </a:r>
            <a:br>
              <a:rPr b="1" lang="en"/>
            </a:br>
            <a:endParaRPr b="1"/>
          </a:p>
          <a:p>
            <a:pPr indent="0" lvl="0" marL="0" rtl="0" algn="l">
              <a:spcBef>
                <a:spcPts val="0"/>
              </a:spcBef>
              <a:spcAft>
                <a:spcPts val="0"/>
              </a:spcAft>
              <a:buNone/>
            </a:pPr>
            <a:r>
              <a:rPr lang="en" sz="2200"/>
              <a:t>DATA 602 - Team 5</a:t>
            </a:r>
            <a:endParaRPr sz="4800"/>
          </a:p>
        </p:txBody>
      </p:sp>
      <p:sp>
        <p:nvSpPr>
          <p:cNvPr id="339" name="Google Shape;339;p33"/>
          <p:cNvSpPr txBox="1"/>
          <p:nvPr>
            <p:ph idx="1" type="subTitle"/>
          </p:nvPr>
        </p:nvSpPr>
        <p:spPr>
          <a:xfrm>
            <a:off x="713225" y="3541600"/>
            <a:ext cx="4160700" cy="123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Brett Allen, Eeshani Gundi, Sruthi Kapudasi, Bharath Prabhakaran, and Nandhu Unnikrishnan</a:t>
            </a:r>
            <a:endParaRPr/>
          </a:p>
          <a:p>
            <a:pPr indent="0" lvl="0" marL="0" rtl="0" algn="l">
              <a:spcBef>
                <a:spcPts val="0"/>
              </a:spcBef>
              <a:spcAft>
                <a:spcPts val="0"/>
              </a:spcAft>
              <a:buNone/>
            </a:pPr>
            <a:r>
              <a:t/>
            </a:r>
            <a:endParaRPr/>
          </a:p>
        </p:txBody>
      </p:sp>
      <p:cxnSp>
        <p:nvCxnSpPr>
          <p:cNvPr id="340" name="Google Shape;340;p33"/>
          <p:cNvCxnSpPr/>
          <p:nvPr/>
        </p:nvCxnSpPr>
        <p:spPr>
          <a:xfrm>
            <a:off x="823425" y="987213"/>
            <a:ext cx="373500" cy="0"/>
          </a:xfrm>
          <a:prstGeom prst="straightConnector1">
            <a:avLst/>
          </a:prstGeom>
          <a:noFill/>
          <a:ln cap="flat" cmpd="sng" w="19050">
            <a:solidFill>
              <a:schemeClr val="dk1"/>
            </a:solidFill>
            <a:prstDash val="solid"/>
            <a:round/>
            <a:headEnd len="med" w="med" type="none"/>
            <a:tailEnd len="med" w="med" type="none"/>
          </a:ln>
        </p:spPr>
      </p:cxnSp>
      <p:grpSp>
        <p:nvGrpSpPr>
          <p:cNvPr id="341" name="Google Shape;341;p33"/>
          <p:cNvGrpSpPr/>
          <p:nvPr/>
        </p:nvGrpSpPr>
        <p:grpSpPr>
          <a:xfrm>
            <a:off x="5115337" y="-428624"/>
            <a:ext cx="4275118" cy="6450405"/>
            <a:chOff x="5115337" y="-428624"/>
            <a:chExt cx="4275118" cy="6450405"/>
          </a:xfrm>
        </p:grpSpPr>
        <p:sp>
          <p:nvSpPr>
            <p:cNvPr id="342" name="Google Shape;342;p33"/>
            <p:cNvSpPr/>
            <p:nvPr/>
          </p:nvSpPr>
          <p:spPr>
            <a:xfrm flipH="1" rot="10800000">
              <a:off x="8492525" y="-19272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33"/>
            <p:cNvSpPr/>
            <p:nvPr/>
          </p:nvSpPr>
          <p:spPr>
            <a:xfrm>
              <a:off x="8551745" y="326783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33"/>
            <p:cNvSpPr/>
            <p:nvPr/>
          </p:nvSpPr>
          <p:spPr>
            <a:xfrm>
              <a:off x="6606686" y="254737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33"/>
            <p:cNvSpPr/>
            <p:nvPr/>
          </p:nvSpPr>
          <p:spPr>
            <a:xfrm>
              <a:off x="7103477" y="-1533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33"/>
            <p:cNvSpPr/>
            <p:nvPr/>
          </p:nvSpPr>
          <p:spPr>
            <a:xfrm>
              <a:off x="6684072" y="31846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3"/>
            <p:cNvSpPr/>
            <p:nvPr/>
          </p:nvSpPr>
          <p:spPr>
            <a:xfrm>
              <a:off x="6109895" y="119408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3"/>
            <p:cNvSpPr/>
            <p:nvPr/>
          </p:nvSpPr>
          <p:spPr>
            <a:xfrm>
              <a:off x="6109895" y="697741"/>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3"/>
            <p:cNvSpPr/>
            <p:nvPr/>
          </p:nvSpPr>
          <p:spPr>
            <a:xfrm>
              <a:off x="7587339" y="11940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33"/>
            <p:cNvSpPr/>
            <p:nvPr/>
          </p:nvSpPr>
          <p:spPr>
            <a:xfrm>
              <a:off x="5634170" y="-42862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33"/>
            <p:cNvSpPr/>
            <p:nvPr/>
          </p:nvSpPr>
          <p:spPr>
            <a:xfrm>
              <a:off x="7017892" y="207505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33"/>
            <p:cNvSpPr/>
            <p:nvPr/>
          </p:nvSpPr>
          <p:spPr>
            <a:xfrm>
              <a:off x="5193798" y="1"/>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33"/>
            <p:cNvSpPr/>
            <p:nvPr/>
          </p:nvSpPr>
          <p:spPr>
            <a:xfrm>
              <a:off x="8068891" y="16222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33"/>
            <p:cNvSpPr/>
            <p:nvPr/>
          </p:nvSpPr>
          <p:spPr>
            <a:xfrm flipH="1" rot="10800000">
              <a:off x="5115337" y="365597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33"/>
            <p:cNvSpPr/>
            <p:nvPr/>
          </p:nvSpPr>
          <p:spPr>
            <a:xfrm flipH="1" rot="10800000">
              <a:off x="6606680" y="392470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3"/>
            <p:cNvSpPr/>
            <p:nvPr/>
          </p:nvSpPr>
          <p:spPr>
            <a:xfrm flipH="1" rot="10800000">
              <a:off x="5983934" y="505366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3"/>
            <p:cNvSpPr/>
            <p:nvPr/>
          </p:nvSpPr>
          <p:spPr>
            <a:xfrm flipH="1" rot="10800000">
              <a:off x="7178797" y="353334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33"/>
            <p:cNvSpPr/>
            <p:nvPr/>
          </p:nvSpPr>
          <p:spPr>
            <a:xfrm flipH="1" rot="10800000">
              <a:off x="6606686" y="460940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33"/>
            <p:cNvSpPr/>
            <p:nvPr/>
          </p:nvSpPr>
          <p:spPr>
            <a:xfrm flipH="1" rot="10800000">
              <a:off x="5526543" y="412830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3"/>
            <p:cNvSpPr/>
            <p:nvPr/>
          </p:nvSpPr>
          <p:spPr>
            <a:xfrm>
              <a:off x="8117298" y="285223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3"/>
            <p:cNvSpPr/>
            <p:nvPr/>
          </p:nvSpPr>
          <p:spPr>
            <a:xfrm>
              <a:off x="8172542" y="30360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3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Outline</a:t>
            </a:r>
            <a:endParaRPr/>
          </a:p>
        </p:txBody>
      </p:sp>
      <p:sp>
        <p:nvSpPr>
          <p:cNvPr id="367" name="Google Shape;367;p34"/>
          <p:cNvSpPr txBox="1"/>
          <p:nvPr>
            <p:ph idx="3" type="subTitle"/>
          </p:nvPr>
        </p:nvSpPr>
        <p:spPr>
          <a:xfrm>
            <a:off x="720000" y="4064075"/>
            <a:ext cx="2305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Measuring precision, recall, F1 score, accuracy and more.</a:t>
            </a:r>
            <a:endParaRPr sz="1600">
              <a:solidFill>
                <a:srgbClr val="666666"/>
              </a:solidFill>
            </a:endParaRPr>
          </a:p>
        </p:txBody>
      </p:sp>
      <p:sp>
        <p:nvSpPr>
          <p:cNvPr id="368" name="Google Shape;368;p34"/>
          <p:cNvSpPr txBox="1"/>
          <p:nvPr>
            <p:ph idx="1" type="subTitle"/>
          </p:nvPr>
        </p:nvSpPr>
        <p:spPr>
          <a:xfrm>
            <a:off x="720000" y="2119768"/>
            <a:ext cx="2305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Results from analyzing nulls, unique values, and more.</a:t>
            </a:r>
            <a:endParaRPr/>
          </a:p>
        </p:txBody>
      </p:sp>
      <p:sp>
        <p:nvSpPr>
          <p:cNvPr id="369" name="Google Shape;369;p34"/>
          <p:cNvSpPr txBox="1"/>
          <p:nvPr>
            <p:ph idx="2" type="subTitle"/>
          </p:nvPr>
        </p:nvSpPr>
        <p:spPr>
          <a:xfrm>
            <a:off x="3419271" y="2149418"/>
            <a:ext cx="2305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Visualizations and findings from the dataset.</a:t>
            </a:r>
            <a:endParaRPr/>
          </a:p>
        </p:txBody>
      </p:sp>
      <p:sp>
        <p:nvSpPr>
          <p:cNvPr id="370" name="Google Shape;370;p34"/>
          <p:cNvSpPr txBox="1"/>
          <p:nvPr>
            <p:ph idx="4" type="subTitle"/>
          </p:nvPr>
        </p:nvSpPr>
        <p:spPr>
          <a:xfrm>
            <a:off x="3419275" y="3911975"/>
            <a:ext cx="2305500" cy="967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Linear separability and observations from model training/evaluation along with a quick demo.</a:t>
            </a:r>
            <a:endParaRPr/>
          </a:p>
        </p:txBody>
      </p:sp>
      <p:sp>
        <p:nvSpPr>
          <p:cNvPr id="371" name="Google Shape;371;p34"/>
          <p:cNvSpPr txBox="1"/>
          <p:nvPr>
            <p:ph idx="5" type="subTitle"/>
          </p:nvPr>
        </p:nvSpPr>
        <p:spPr>
          <a:xfrm>
            <a:off x="6118549" y="2149418"/>
            <a:ext cx="2305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Selecting the most appropriate models based on the data.</a:t>
            </a:r>
            <a:endParaRPr/>
          </a:p>
        </p:txBody>
      </p:sp>
      <p:sp>
        <p:nvSpPr>
          <p:cNvPr id="372" name="Google Shape;372;p34"/>
          <p:cNvSpPr txBox="1"/>
          <p:nvPr>
            <p:ph idx="6" type="subTitle"/>
          </p:nvPr>
        </p:nvSpPr>
        <p:spPr>
          <a:xfrm>
            <a:off x="6118549" y="3911975"/>
            <a:ext cx="2305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Possible methods for improving model performance.</a:t>
            </a:r>
            <a:endParaRPr/>
          </a:p>
        </p:txBody>
      </p:sp>
      <p:sp>
        <p:nvSpPr>
          <p:cNvPr id="373" name="Google Shape;373;p34"/>
          <p:cNvSpPr txBox="1"/>
          <p:nvPr>
            <p:ph idx="7" type="title"/>
          </p:nvPr>
        </p:nvSpPr>
        <p:spPr>
          <a:xfrm>
            <a:off x="1505400" y="1206926"/>
            <a:ext cx="7347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400"/>
              <a:t>01</a:t>
            </a:r>
            <a:endParaRPr sz="2400"/>
          </a:p>
        </p:txBody>
      </p:sp>
      <p:sp>
        <p:nvSpPr>
          <p:cNvPr id="374" name="Google Shape;374;p34"/>
          <p:cNvSpPr txBox="1"/>
          <p:nvPr>
            <p:ph idx="8" type="title"/>
          </p:nvPr>
        </p:nvSpPr>
        <p:spPr>
          <a:xfrm>
            <a:off x="1505400" y="3091927"/>
            <a:ext cx="7347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400"/>
              <a:t>04</a:t>
            </a:r>
            <a:endParaRPr sz="2400"/>
          </a:p>
        </p:txBody>
      </p:sp>
      <p:sp>
        <p:nvSpPr>
          <p:cNvPr id="375" name="Google Shape;375;p34"/>
          <p:cNvSpPr txBox="1"/>
          <p:nvPr>
            <p:ph idx="9" type="title"/>
          </p:nvPr>
        </p:nvSpPr>
        <p:spPr>
          <a:xfrm>
            <a:off x="4204671" y="1206926"/>
            <a:ext cx="7347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400"/>
              <a:t>02</a:t>
            </a:r>
            <a:endParaRPr sz="2400"/>
          </a:p>
        </p:txBody>
      </p:sp>
      <p:sp>
        <p:nvSpPr>
          <p:cNvPr id="376" name="Google Shape;376;p34"/>
          <p:cNvSpPr txBox="1"/>
          <p:nvPr>
            <p:ph idx="13" type="title"/>
          </p:nvPr>
        </p:nvSpPr>
        <p:spPr>
          <a:xfrm>
            <a:off x="4204671" y="3091927"/>
            <a:ext cx="7347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400"/>
              <a:t>05</a:t>
            </a:r>
            <a:endParaRPr sz="2400"/>
          </a:p>
        </p:txBody>
      </p:sp>
      <p:sp>
        <p:nvSpPr>
          <p:cNvPr id="377" name="Google Shape;377;p34"/>
          <p:cNvSpPr txBox="1"/>
          <p:nvPr>
            <p:ph idx="14" type="title"/>
          </p:nvPr>
        </p:nvSpPr>
        <p:spPr>
          <a:xfrm>
            <a:off x="6903950" y="1206926"/>
            <a:ext cx="7347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400"/>
              <a:t>03</a:t>
            </a:r>
            <a:endParaRPr sz="2400"/>
          </a:p>
        </p:txBody>
      </p:sp>
      <p:sp>
        <p:nvSpPr>
          <p:cNvPr id="378" name="Google Shape;378;p34"/>
          <p:cNvSpPr txBox="1"/>
          <p:nvPr>
            <p:ph idx="15" type="title"/>
          </p:nvPr>
        </p:nvSpPr>
        <p:spPr>
          <a:xfrm>
            <a:off x="6903950" y="3091927"/>
            <a:ext cx="7347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400"/>
              <a:t>06</a:t>
            </a:r>
            <a:endParaRPr sz="2400"/>
          </a:p>
        </p:txBody>
      </p:sp>
      <p:sp>
        <p:nvSpPr>
          <p:cNvPr id="379" name="Google Shape;379;p34"/>
          <p:cNvSpPr txBox="1"/>
          <p:nvPr>
            <p:ph idx="16" type="subTitle"/>
          </p:nvPr>
        </p:nvSpPr>
        <p:spPr>
          <a:xfrm>
            <a:off x="720000" y="1801112"/>
            <a:ext cx="2305500" cy="484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800"/>
              <a:t>Describing the Data</a:t>
            </a:r>
            <a:endParaRPr sz="1800"/>
          </a:p>
        </p:txBody>
      </p:sp>
      <p:sp>
        <p:nvSpPr>
          <p:cNvPr id="380" name="Google Shape;380;p34"/>
          <p:cNvSpPr txBox="1"/>
          <p:nvPr>
            <p:ph idx="17" type="subTitle"/>
          </p:nvPr>
        </p:nvSpPr>
        <p:spPr>
          <a:xfrm>
            <a:off x="3419271" y="1801112"/>
            <a:ext cx="2305500" cy="484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800"/>
              <a:t>EDA Insights</a:t>
            </a:r>
            <a:endParaRPr sz="1800"/>
          </a:p>
        </p:txBody>
      </p:sp>
      <p:sp>
        <p:nvSpPr>
          <p:cNvPr id="381" name="Google Shape;381;p34"/>
          <p:cNvSpPr txBox="1"/>
          <p:nvPr>
            <p:ph idx="18" type="subTitle"/>
          </p:nvPr>
        </p:nvSpPr>
        <p:spPr>
          <a:xfrm>
            <a:off x="6118549" y="1801112"/>
            <a:ext cx="2305500" cy="484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800"/>
              <a:t>Model Selection</a:t>
            </a:r>
            <a:endParaRPr sz="1800"/>
          </a:p>
        </p:txBody>
      </p:sp>
      <p:sp>
        <p:nvSpPr>
          <p:cNvPr id="382" name="Google Shape;382;p34"/>
          <p:cNvSpPr txBox="1"/>
          <p:nvPr>
            <p:ph idx="19" type="subTitle"/>
          </p:nvPr>
        </p:nvSpPr>
        <p:spPr>
          <a:xfrm>
            <a:off x="634800" y="3546675"/>
            <a:ext cx="2475900" cy="624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800"/>
              <a:t>Model Training &amp; </a:t>
            </a:r>
            <a:endParaRPr sz="1800"/>
          </a:p>
          <a:p>
            <a:pPr indent="0" lvl="0" marL="0" rtl="0" algn="ctr">
              <a:spcBef>
                <a:spcPts val="0"/>
              </a:spcBef>
              <a:spcAft>
                <a:spcPts val="0"/>
              </a:spcAft>
              <a:buNone/>
            </a:pPr>
            <a:r>
              <a:rPr lang="en" sz="1800"/>
              <a:t>Evaluation</a:t>
            </a:r>
            <a:endParaRPr sz="1800"/>
          </a:p>
        </p:txBody>
      </p:sp>
      <p:sp>
        <p:nvSpPr>
          <p:cNvPr id="383" name="Google Shape;383;p34"/>
          <p:cNvSpPr txBox="1"/>
          <p:nvPr>
            <p:ph idx="20" type="subTitle"/>
          </p:nvPr>
        </p:nvSpPr>
        <p:spPr>
          <a:xfrm>
            <a:off x="2975275" y="3546675"/>
            <a:ext cx="31935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800"/>
              <a:t>Observations &amp; Solution</a:t>
            </a:r>
            <a:endParaRPr sz="1800"/>
          </a:p>
        </p:txBody>
      </p:sp>
      <p:sp>
        <p:nvSpPr>
          <p:cNvPr id="384" name="Google Shape;384;p34"/>
          <p:cNvSpPr txBox="1"/>
          <p:nvPr>
            <p:ph idx="21" type="subTitle"/>
          </p:nvPr>
        </p:nvSpPr>
        <p:spPr>
          <a:xfrm>
            <a:off x="6118549" y="3546675"/>
            <a:ext cx="2305500" cy="484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800"/>
              <a:t>Future Work</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35"/>
          <p:cNvSpPr txBox="1"/>
          <p:nvPr>
            <p:ph type="title"/>
          </p:nvPr>
        </p:nvSpPr>
        <p:spPr>
          <a:xfrm>
            <a:off x="713225" y="1556700"/>
            <a:ext cx="4344300" cy="174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Describing the data</a:t>
            </a:r>
            <a:endParaRPr/>
          </a:p>
        </p:txBody>
      </p:sp>
      <p:grpSp>
        <p:nvGrpSpPr>
          <p:cNvPr id="390" name="Google Shape;390;p35"/>
          <p:cNvGrpSpPr/>
          <p:nvPr/>
        </p:nvGrpSpPr>
        <p:grpSpPr>
          <a:xfrm>
            <a:off x="5104880" y="-153372"/>
            <a:ext cx="4218588" cy="6000577"/>
            <a:chOff x="5104880" y="-153372"/>
            <a:chExt cx="4218588" cy="6000577"/>
          </a:xfrm>
        </p:grpSpPr>
        <p:sp>
          <p:nvSpPr>
            <p:cNvPr id="391" name="Google Shape;391;p35"/>
            <p:cNvSpPr/>
            <p:nvPr/>
          </p:nvSpPr>
          <p:spPr>
            <a:xfrm>
              <a:off x="7074911" y="254737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35"/>
            <p:cNvSpPr/>
            <p:nvPr/>
          </p:nvSpPr>
          <p:spPr>
            <a:xfrm>
              <a:off x="7026089" y="-1533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35"/>
            <p:cNvSpPr/>
            <p:nvPr/>
          </p:nvSpPr>
          <p:spPr>
            <a:xfrm>
              <a:off x="6606684" y="31846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35"/>
            <p:cNvSpPr/>
            <p:nvPr/>
          </p:nvSpPr>
          <p:spPr>
            <a:xfrm>
              <a:off x="6138958" y="13708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35"/>
            <p:cNvSpPr/>
            <p:nvPr/>
          </p:nvSpPr>
          <p:spPr>
            <a:xfrm>
              <a:off x="5732458" y="87452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35"/>
            <p:cNvSpPr/>
            <p:nvPr/>
          </p:nvSpPr>
          <p:spPr>
            <a:xfrm>
              <a:off x="7480889" y="98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35"/>
            <p:cNvSpPr/>
            <p:nvPr/>
          </p:nvSpPr>
          <p:spPr>
            <a:xfrm>
              <a:off x="7074904" y="207505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35"/>
            <p:cNvSpPr/>
            <p:nvPr/>
          </p:nvSpPr>
          <p:spPr>
            <a:xfrm>
              <a:off x="7962441" y="140407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5"/>
            <p:cNvSpPr/>
            <p:nvPr/>
          </p:nvSpPr>
          <p:spPr>
            <a:xfrm flipH="1" rot="10800000">
              <a:off x="6036087" y="312497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35"/>
            <p:cNvSpPr/>
            <p:nvPr/>
          </p:nvSpPr>
          <p:spPr>
            <a:xfrm flipH="1" rot="10800000">
              <a:off x="6355205" y="41020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35"/>
            <p:cNvSpPr/>
            <p:nvPr/>
          </p:nvSpPr>
          <p:spPr>
            <a:xfrm flipH="1" rot="10800000">
              <a:off x="5732459" y="48790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5"/>
            <p:cNvSpPr/>
            <p:nvPr/>
          </p:nvSpPr>
          <p:spPr>
            <a:xfrm flipH="1" rot="10800000">
              <a:off x="6683197" y="351549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35"/>
            <p:cNvSpPr/>
            <p:nvPr/>
          </p:nvSpPr>
          <p:spPr>
            <a:xfrm flipH="1" rot="10800000">
              <a:off x="5104880" y="443452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35"/>
            <p:cNvSpPr/>
            <p:nvPr/>
          </p:nvSpPr>
          <p:spPr>
            <a:xfrm>
              <a:off x="8484758" y="243811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35"/>
            <p:cNvSpPr/>
            <p:nvPr/>
          </p:nvSpPr>
          <p:spPr>
            <a:xfrm>
              <a:off x="8038260" y="29212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35"/>
            <p:cNvSpPr/>
            <p:nvPr/>
          </p:nvSpPr>
          <p:spPr>
            <a:xfrm flipH="1" rot="10800000">
              <a:off x="7853362" y="396220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35"/>
            <p:cNvSpPr/>
            <p:nvPr/>
          </p:nvSpPr>
          <p:spPr>
            <a:xfrm flipH="1" rot="10800000">
              <a:off x="8261505" y="443452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08" name="Google Shape;408;p35"/>
          <p:cNvCxnSpPr/>
          <p:nvPr/>
        </p:nvCxnSpPr>
        <p:spPr>
          <a:xfrm>
            <a:off x="841250" y="1385850"/>
            <a:ext cx="373500" cy="0"/>
          </a:xfrm>
          <a:prstGeom prst="straightConnector1">
            <a:avLst/>
          </a:prstGeom>
          <a:noFill/>
          <a:ln cap="flat" cmpd="sng" w="19050">
            <a:solidFill>
              <a:schemeClr val="dk1"/>
            </a:solidFill>
            <a:prstDash val="solid"/>
            <a:round/>
            <a:headEnd len="med" w="med" type="none"/>
            <a:tailEnd len="med" w="med" type="none"/>
          </a:ln>
        </p:spPr>
      </p:cxnSp>
      <p:sp>
        <p:nvSpPr>
          <p:cNvPr id="409" name="Google Shape;409;p35"/>
          <p:cNvSpPr txBox="1"/>
          <p:nvPr/>
        </p:nvSpPr>
        <p:spPr>
          <a:xfrm>
            <a:off x="713225" y="690075"/>
            <a:ext cx="1260600" cy="6099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n" sz="5000">
                <a:solidFill>
                  <a:schemeClr val="dk1"/>
                </a:solidFill>
                <a:latin typeface="Outfit"/>
                <a:ea typeface="Outfit"/>
                <a:cs typeface="Outfit"/>
                <a:sym typeface="Outfit"/>
              </a:rPr>
              <a:t>01</a:t>
            </a:r>
            <a:endParaRPr>
              <a:solidFill>
                <a:schemeClr val="dk1"/>
              </a:solidFill>
              <a:latin typeface="DM Sans"/>
              <a:ea typeface="DM Sans"/>
              <a:cs typeface="DM Sans"/>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36"/>
          <p:cNvSpPr txBox="1"/>
          <p:nvPr>
            <p:ph type="title"/>
          </p:nvPr>
        </p:nvSpPr>
        <p:spPr>
          <a:xfrm>
            <a:off x="720000" y="445025"/>
            <a:ext cx="5549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Airline Passenger Satisfaction Dataset</a:t>
            </a:r>
            <a:endParaRPr/>
          </a:p>
        </p:txBody>
      </p:sp>
      <p:sp>
        <p:nvSpPr>
          <p:cNvPr id="415" name="Google Shape;415;p36"/>
          <p:cNvSpPr txBox="1"/>
          <p:nvPr>
            <p:ph idx="1" type="subTitle"/>
          </p:nvPr>
        </p:nvSpPr>
        <p:spPr>
          <a:xfrm>
            <a:off x="720000" y="1652075"/>
            <a:ext cx="4934700" cy="213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our project, we've utilized the Airline Passenger Satisfaction dataset from Kaggle containing 103,594 records and 22 features. This dataset provides a comprehensive view of various factors influencing passenger satisfaction during air travel.</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Data</a:t>
            </a:r>
            <a:r>
              <a:rPr lang="en"/>
              <a:t>: </a:t>
            </a:r>
            <a:r>
              <a:rPr lang="en" u="sng">
                <a:solidFill>
                  <a:schemeClr val="hlink"/>
                </a:solidFill>
                <a:hlinkClick r:id="rId3"/>
              </a:rPr>
              <a:t>https://www.kaggle.com/datasets/teejmahal20/airline-passenger-satisfaction</a:t>
            </a:r>
            <a:r>
              <a:rPr lang="en"/>
              <a:t> </a:t>
            </a:r>
            <a:endParaRPr/>
          </a:p>
        </p:txBody>
      </p:sp>
      <p:grpSp>
        <p:nvGrpSpPr>
          <p:cNvPr id="416" name="Google Shape;416;p36"/>
          <p:cNvGrpSpPr/>
          <p:nvPr/>
        </p:nvGrpSpPr>
        <p:grpSpPr>
          <a:xfrm>
            <a:off x="5430930" y="-445784"/>
            <a:ext cx="4086563" cy="6064817"/>
            <a:chOff x="5430930" y="-445784"/>
            <a:chExt cx="4086563" cy="6064817"/>
          </a:xfrm>
        </p:grpSpPr>
        <p:sp>
          <p:nvSpPr>
            <p:cNvPr id="417" name="Google Shape;417;p36"/>
            <p:cNvSpPr/>
            <p:nvPr/>
          </p:nvSpPr>
          <p:spPr>
            <a:xfrm>
              <a:off x="7368520" y="98876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6"/>
            <p:cNvSpPr/>
            <p:nvPr/>
          </p:nvSpPr>
          <p:spPr>
            <a:xfrm flipH="1" rot="10800000">
              <a:off x="6036409" y="19621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36"/>
            <p:cNvSpPr/>
            <p:nvPr/>
          </p:nvSpPr>
          <p:spPr>
            <a:xfrm>
              <a:off x="7309474" y="21661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36"/>
            <p:cNvSpPr/>
            <p:nvPr/>
          </p:nvSpPr>
          <p:spPr>
            <a:xfrm>
              <a:off x="6269702" y="-44578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6"/>
            <p:cNvSpPr/>
            <p:nvPr/>
          </p:nvSpPr>
          <p:spPr>
            <a:xfrm>
              <a:off x="5830483" y="421588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36"/>
            <p:cNvSpPr/>
            <p:nvPr/>
          </p:nvSpPr>
          <p:spPr>
            <a:xfrm>
              <a:off x="6269683" y="1332541"/>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36"/>
            <p:cNvSpPr/>
            <p:nvPr/>
          </p:nvSpPr>
          <p:spPr>
            <a:xfrm>
              <a:off x="8430764" y="23422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36"/>
            <p:cNvSpPr/>
            <p:nvPr/>
          </p:nvSpPr>
          <p:spPr>
            <a:xfrm>
              <a:off x="7309467" y="261820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36"/>
            <p:cNvSpPr/>
            <p:nvPr/>
          </p:nvSpPr>
          <p:spPr>
            <a:xfrm>
              <a:off x="7962441" y="13180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36"/>
            <p:cNvSpPr/>
            <p:nvPr/>
          </p:nvSpPr>
          <p:spPr>
            <a:xfrm flipH="1" rot="10800000">
              <a:off x="6351880" y="311086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36"/>
            <p:cNvSpPr/>
            <p:nvPr/>
          </p:nvSpPr>
          <p:spPr>
            <a:xfrm flipH="1" rot="10800000">
              <a:off x="6790284" y="354856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36"/>
            <p:cNvSpPr/>
            <p:nvPr/>
          </p:nvSpPr>
          <p:spPr>
            <a:xfrm flipH="1" rot="10800000">
              <a:off x="5430930" y="465091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36"/>
            <p:cNvSpPr/>
            <p:nvPr/>
          </p:nvSpPr>
          <p:spPr>
            <a:xfrm>
              <a:off x="8678783" y="266882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36"/>
            <p:cNvSpPr/>
            <p:nvPr/>
          </p:nvSpPr>
          <p:spPr>
            <a:xfrm>
              <a:off x="8430773" y="22359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36"/>
            <p:cNvSpPr/>
            <p:nvPr/>
          </p:nvSpPr>
          <p:spPr>
            <a:xfrm flipH="1" rot="10800000">
              <a:off x="8119787" y="363695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36"/>
            <p:cNvSpPr/>
            <p:nvPr/>
          </p:nvSpPr>
          <p:spPr>
            <a:xfrm flipH="1" rot="10800000">
              <a:off x="7697255" y="411247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36"/>
            <p:cNvSpPr/>
            <p:nvPr/>
          </p:nvSpPr>
          <p:spPr>
            <a:xfrm>
              <a:off x="6628072" y="112491"/>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36"/>
            <p:cNvSpPr/>
            <p:nvPr/>
          </p:nvSpPr>
          <p:spPr>
            <a:xfrm flipH="1" rot="10800000">
              <a:off x="7825159" y="-2514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Data Cleaning</a:t>
            </a:r>
            <a:endParaRPr/>
          </a:p>
        </p:txBody>
      </p:sp>
      <p:sp>
        <p:nvSpPr>
          <p:cNvPr id="440" name="Google Shape;440;p37"/>
          <p:cNvSpPr/>
          <p:nvPr/>
        </p:nvSpPr>
        <p:spPr>
          <a:xfrm>
            <a:off x="3426850" y="1498063"/>
            <a:ext cx="764100" cy="7641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41" name="Google Shape;441;p37"/>
          <p:cNvSpPr txBox="1"/>
          <p:nvPr/>
        </p:nvSpPr>
        <p:spPr>
          <a:xfrm>
            <a:off x="6408600" y="3748750"/>
            <a:ext cx="2015400" cy="899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latin typeface="DM Sans"/>
                <a:ea typeface="DM Sans"/>
                <a:cs typeface="DM Sans"/>
                <a:sym typeface="DM Sans"/>
              </a:rPr>
              <a:t>Applied simple imputation to improve model performance.</a:t>
            </a:r>
            <a:endParaRPr>
              <a:solidFill>
                <a:schemeClr val="dk1"/>
              </a:solidFill>
              <a:latin typeface="DM Sans"/>
              <a:ea typeface="DM Sans"/>
              <a:cs typeface="DM Sans"/>
              <a:sym typeface="DM Sans"/>
            </a:endParaRPr>
          </a:p>
        </p:txBody>
      </p:sp>
      <p:sp>
        <p:nvSpPr>
          <p:cNvPr id="442" name="Google Shape;442;p37"/>
          <p:cNvSpPr txBox="1"/>
          <p:nvPr/>
        </p:nvSpPr>
        <p:spPr>
          <a:xfrm>
            <a:off x="720075" y="1728352"/>
            <a:ext cx="2015400" cy="12804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lang="en">
                <a:solidFill>
                  <a:schemeClr val="dk1"/>
                </a:solidFill>
                <a:latin typeface="DM Sans"/>
                <a:ea typeface="DM Sans"/>
                <a:cs typeface="DM Sans"/>
                <a:sym typeface="DM Sans"/>
              </a:rPr>
              <a:t>Removed unnecessary column names, and formatted column names and row values.</a:t>
            </a:r>
            <a:endParaRPr>
              <a:solidFill>
                <a:schemeClr val="dk1"/>
              </a:solidFill>
              <a:latin typeface="DM Sans"/>
              <a:ea typeface="DM Sans"/>
              <a:cs typeface="DM Sans"/>
              <a:sym typeface="DM Sans"/>
            </a:endParaRPr>
          </a:p>
        </p:txBody>
      </p:sp>
      <p:sp>
        <p:nvSpPr>
          <p:cNvPr id="443" name="Google Shape;443;p37"/>
          <p:cNvSpPr txBox="1"/>
          <p:nvPr/>
        </p:nvSpPr>
        <p:spPr>
          <a:xfrm>
            <a:off x="720075" y="3748775"/>
            <a:ext cx="2015400" cy="8676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lang="en">
                <a:solidFill>
                  <a:schemeClr val="dk1"/>
                </a:solidFill>
                <a:latin typeface="DM Sans"/>
                <a:ea typeface="DM Sans"/>
                <a:cs typeface="DM Sans"/>
                <a:sym typeface="DM Sans"/>
              </a:rPr>
              <a:t>Identified categorical features by analyzing uniqueness.</a:t>
            </a:r>
            <a:endParaRPr>
              <a:solidFill>
                <a:schemeClr val="dk1"/>
              </a:solidFill>
              <a:latin typeface="DM Sans"/>
              <a:ea typeface="DM Sans"/>
              <a:cs typeface="DM Sans"/>
              <a:sym typeface="DM Sans"/>
            </a:endParaRPr>
          </a:p>
        </p:txBody>
      </p:sp>
      <p:sp>
        <p:nvSpPr>
          <p:cNvPr id="444" name="Google Shape;444;p37"/>
          <p:cNvSpPr txBox="1"/>
          <p:nvPr/>
        </p:nvSpPr>
        <p:spPr>
          <a:xfrm>
            <a:off x="6408600" y="1728375"/>
            <a:ext cx="2015400" cy="1470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latin typeface="DM Sans"/>
                <a:ea typeface="DM Sans"/>
                <a:cs typeface="DM Sans"/>
                <a:sym typeface="DM Sans"/>
              </a:rPr>
              <a:t>Identified null values and dropped rows with null values after careful consideration.</a:t>
            </a:r>
            <a:endParaRPr>
              <a:solidFill>
                <a:schemeClr val="dk1"/>
              </a:solidFill>
              <a:latin typeface="DM Sans"/>
              <a:ea typeface="DM Sans"/>
              <a:cs typeface="DM Sans"/>
              <a:sym typeface="DM Sans"/>
            </a:endParaRPr>
          </a:p>
        </p:txBody>
      </p:sp>
      <p:sp>
        <p:nvSpPr>
          <p:cNvPr id="445" name="Google Shape;445;p37"/>
          <p:cNvSpPr txBox="1"/>
          <p:nvPr/>
        </p:nvSpPr>
        <p:spPr>
          <a:xfrm>
            <a:off x="720075" y="1382875"/>
            <a:ext cx="2015400" cy="492600"/>
          </a:xfrm>
          <a:prstGeom prst="rect">
            <a:avLst/>
          </a:prstGeom>
          <a:noFill/>
          <a:ln>
            <a:noFill/>
          </a:ln>
        </p:spPr>
        <p:txBody>
          <a:bodyPr anchorCtr="0" anchor="b" bIns="91425" lIns="91425" spcFirstLastPara="1" rIns="91425" wrap="square" tIns="91425">
            <a:noAutofit/>
          </a:bodyPr>
          <a:lstStyle/>
          <a:p>
            <a:pPr indent="0" lvl="0" marL="0" rtl="0" algn="r">
              <a:lnSpc>
                <a:spcPct val="115000"/>
              </a:lnSpc>
              <a:spcBef>
                <a:spcPts val="0"/>
              </a:spcBef>
              <a:spcAft>
                <a:spcPts val="0"/>
              </a:spcAft>
              <a:buNone/>
            </a:pPr>
            <a:r>
              <a:rPr b="1" lang="en" sz="2400">
                <a:solidFill>
                  <a:schemeClr val="dk1"/>
                </a:solidFill>
                <a:latin typeface="Outfit"/>
                <a:ea typeface="Outfit"/>
                <a:cs typeface="Outfit"/>
                <a:sym typeface="Outfit"/>
              </a:rPr>
              <a:t>Formatting</a:t>
            </a:r>
            <a:endParaRPr b="1" sz="2400">
              <a:solidFill>
                <a:schemeClr val="dk1"/>
              </a:solidFill>
              <a:latin typeface="Outfit"/>
              <a:ea typeface="Outfit"/>
              <a:cs typeface="Outfit"/>
              <a:sym typeface="Outfit"/>
            </a:endParaRPr>
          </a:p>
        </p:txBody>
      </p:sp>
      <p:sp>
        <p:nvSpPr>
          <p:cNvPr id="446" name="Google Shape;446;p37"/>
          <p:cNvSpPr txBox="1"/>
          <p:nvPr/>
        </p:nvSpPr>
        <p:spPr>
          <a:xfrm>
            <a:off x="6408600" y="3403275"/>
            <a:ext cx="2568600" cy="4926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2400">
                <a:solidFill>
                  <a:schemeClr val="dk1"/>
                </a:solidFill>
                <a:latin typeface="Outfit"/>
                <a:ea typeface="Outfit"/>
                <a:cs typeface="Outfit"/>
                <a:sym typeface="Outfit"/>
              </a:rPr>
              <a:t>Imputation</a:t>
            </a:r>
            <a:endParaRPr b="1" sz="2400">
              <a:solidFill>
                <a:schemeClr val="dk1"/>
              </a:solidFill>
              <a:latin typeface="Outfit"/>
              <a:ea typeface="Outfit"/>
              <a:cs typeface="Outfit"/>
              <a:sym typeface="Outfit"/>
            </a:endParaRPr>
          </a:p>
        </p:txBody>
      </p:sp>
      <p:sp>
        <p:nvSpPr>
          <p:cNvPr id="447" name="Google Shape;447;p37"/>
          <p:cNvSpPr txBox="1"/>
          <p:nvPr/>
        </p:nvSpPr>
        <p:spPr>
          <a:xfrm>
            <a:off x="720086" y="3403278"/>
            <a:ext cx="2015400" cy="492600"/>
          </a:xfrm>
          <a:prstGeom prst="rect">
            <a:avLst/>
          </a:prstGeom>
          <a:noFill/>
          <a:ln>
            <a:noFill/>
          </a:ln>
        </p:spPr>
        <p:txBody>
          <a:bodyPr anchorCtr="0" anchor="b" bIns="91425" lIns="91425" spcFirstLastPara="1" rIns="91425" wrap="square" tIns="91425">
            <a:noAutofit/>
          </a:bodyPr>
          <a:lstStyle/>
          <a:p>
            <a:pPr indent="0" lvl="0" marL="0" rtl="0" algn="r">
              <a:lnSpc>
                <a:spcPct val="115000"/>
              </a:lnSpc>
              <a:spcBef>
                <a:spcPts val="0"/>
              </a:spcBef>
              <a:spcAft>
                <a:spcPts val="0"/>
              </a:spcAft>
              <a:buNone/>
            </a:pPr>
            <a:r>
              <a:rPr b="1" lang="en" sz="2400">
                <a:solidFill>
                  <a:schemeClr val="dk1"/>
                </a:solidFill>
                <a:latin typeface="Outfit"/>
                <a:ea typeface="Outfit"/>
                <a:cs typeface="Outfit"/>
                <a:sym typeface="Outfit"/>
              </a:rPr>
              <a:t>Uniqueness</a:t>
            </a:r>
            <a:endParaRPr b="1" sz="2400">
              <a:solidFill>
                <a:schemeClr val="dk1"/>
              </a:solidFill>
              <a:latin typeface="Outfit"/>
              <a:ea typeface="Outfit"/>
              <a:cs typeface="Outfit"/>
              <a:sym typeface="Outfit"/>
            </a:endParaRPr>
          </a:p>
        </p:txBody>
      </p:sp>
      <p:sp>
        <p:nvSpPr>
          <p:cNvPr id="448" name="Google Shape;448;p37"/>
          <p:cNvSpPr txBox="1"/>
          <p:nvPr/>
        </p:nvSpPr>
        <p:spPr>
          <a:xfrm>
            <a:off x="6408612" y="1382875"/>
            <a:ext cx="2015400" cy="4926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2400">
                <a:solidFill>
                  <a:schemeClr val="dk1"/>
                </a:solidFill>
                <a:latin typeface="Outfit"/>
                <a:ea typeface="Outfit"/>
                <a:cs typeface="Outfit"/>
                <a:sym typeface="Outfit"/>
              </a:rPr>
              <a:t>Null Values</a:t>
            </a:r>
            <a:endParaRPr b="1" sz="2400">
              <a:solidFill>
                <a:schemeClr val="dk1"/>
              </a:solidFill>
              <a:latin typeface="Outfit"/>
              <a:ea typeface="Outfit"/>
              <a:cs typeface="Outfit"/>
              <a:sym typeface="Outfit"/>
            </a:endParaRPr>
          </a:p>
        </p:txBody>
      </p:sp>
      <p:sp>
        <p:nvSpPr>
          <p:cNvPr id="449" name="Google Shape;449;p37"/>
          <p:cNvSpPr/>
          <p:nvPr/>
        </p:nvSpPr>
        <p:spPr>
          <a:xfrm>
            <a:off x="4942175" y="1498063"/>
            <a:ext cx="764100" cy="7641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50" name="Google Shape;450;p37"/>
          <p:cNvSpPr/>
          <p:nvPr/>
        </p:nvSpPr>
        <p:spPr>
          <a:xfrm>
            <a:off x="4942150" y="3012538"/>
            <a:ext cx="764100" cy="7641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51" name="Google Shape;451;p37"/>
          <p:cNvSpPr/>
          <p:nvPr/>
        </p:nvSpPr>
        <p:spPr>
          <a:xfrm>
            <a:off x="3426850" y="3012538"/>
            <a:ext cx="764100" cy="7641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nvGrpSpPr>
          <p:cNvPr id="452" name="Google Shape;452;p37"/>
          <p:cNvGrpSpPr/>
          <p:nvPr/>
        </p:nvGrpSpPr>
        <p:grpSpPr>
          <a:xfrm>
            <a:off x="5128099" y="3198535"/>
            <a:ext cx="392133" cy="392133"/>
            <a:chOff x="6706751" y="1332817"/>
            <a:chExt cx="392133" cy="392133"/>
          </a:xfrm>
        </p:grpSpPr>
        <p:sp>
          <p:nvSpPr>
            <p:cNvPr id="453" name="Google Shape;453;p37"/>
            <p:cNvSpPr/>
            <p:nvPr/>
          </p:nvSpPr>
          <p:spPr>
            <a:xfrm>
              <a:off x="6815186" y="1332817"/>
              <a:ext cx="283698" cy="284783"/>
            </a:xfrm>
            <a:custGeom>
              <a:rect b="b" l="l" r="r" t="t"/>
              <a:pathLst>
                <a:path extrusionOk="0" h="12601" w="12553">
                  <a:moveTo>
                    <a:pt x="4362" y="1018"/>
                  </a:moveTo>
                  <a:lnTo>
                    <a:pt x="4653" y="1066"/>
                  </a:lnTo>
                  <a:lnTo>
                    <a:pt x="4992" y="1115"/>
                  </a:lnTo>
                  <a:lnTo>
                    <a:pt x="5332" y="1163"/>
                  </a:lnTo>
                  <a:lnTo>
                    <a:pt x="5622" y="1260"/>
                  </a:lnTo>
                  <a:lnTo>
                    <a:pt x="5913" y="1405"/>
                  </a:lnTo>
                  <a:lnTo>
                    <a:pt x="6204" y="1599"/>
                  </a:lnTo>
                  <a:lnTo>
                    <a:pt x="6495" y="1793"/>
                  </a:lnTo>
                  <a:lnTo>
                    <a:pt x="6737" y="2036"/>
                  </a:lnTo>
                  <a:lnTo>
                    <a:pt x="6979" y="2278"/>
                  </a:lnTo>
                  <a:lnTo>
                    <a:pt x="7173" y="2569"/>
                  </a:lnTo>
                  <a:lnTo>
                    <a:pt x="7319" y="2811"/>
                  </a:lnTo>
                  <a:lnTo>
                    <a:pt x="7464" y="3150"/>
                  </a:lnTo>
                  <a:lnTo>
                    <a:pt x="7561" y="3441"/>
                  </a:lnTo>
                  <a:lnTo>
                    <a:pt x="7658" y="3732"/>
                  </a:lnTo>
                  <a:lnTo>
                    <a:pt x="7706" y="4071"/>
                  </a:lnTo>
                  <a:lnTo>
                    <a:pt x="7706" y="4410"/>
                  </a:lnTo>
                  <a:lnTo>
                    <a:pt x="7706" y="4701"/>
                  </a:lnTo>
                  <a:lnTo>
                    <a:pt x="7658" y="5040"/>
                  </a:lnTo>
                  <a:lnTo>
                    <a:pt x="7561" y="5331"/>
                  </a:lnTo>
                  <a:lnTo>
                    <a:pt x="7464" y="5670"/>
                  </a:lnTo>
                  <a:lnTo>
                    <a:pt x="7319" y="5961"/>
                  </a:lnTo>
                  <a:lnTo>
                    <a:pt x="7173" y="6252"/>
                  </a:lnTo>
                  <a:lnTo>
                    <a:pt x="6979" y="6543"/>
                  </a:lnTo>
                  <a:lnTo>
                    <a:pt x="6737" y="6785"/>
                  </a:lnTo>
                  <a:lnTo>
                    <a:pt x="6495" y="7027"/>
                  </a:lnTo>
                  <a:lnTo>
                    <a:pt x="6204" y="7221"/>
                  </a:lnTo>
                  <a:lnTo>
                    <a:pt x="5913" y="7367"/>
                  </a:lnTo>
                  <a:lnTo>
                    <a:pt x="5622" y="7512"/>
                  </a:lnTo>
                  <a:lnTo>
                    <a:pt x="5332" y="7609"/>
                  </a:lnTo>
                  <a:lnTo>
                    <a:pt x="4992" y="7706"/>
                  </a:lnTo>
                  <a:lnTo>
                    <a:pt x="4653" y="7754"/>
                  </a:lnTo>
                  <a:lnTo>
                    <a:pt x="4023" y="7754"/>
                  </a:lnTo>
                  <a:lnTo>
                    <a:pt x="3732" y="7706"/>
                  </a:lnTo>
                  <a:lnTo>
                    <a:pt x="3393" y="7609"/>
                  </a:lnTo>
                  <a:lnTo>
                    <a:pt x="3102" y="7512"/>
                  </a:lnTo>
                  <a:lnTo>
                    <a:pt x="2811" y="7367"/>
                  </a:lnTo>
                  <a:lnTo>
                    <a:pt x="2521" y="7221"/>
                  </a:lnTo>
                  <a:lnTo>
                    <a:pt x="2230" y="7027"/>
                  </a:lnTo>
                  <a:lnTo>
                    <a:pt x="1988" y="6785"/>
                  </a:lnTo>
                  <a:lnTo>
                    <a:pt x="1745" y="6543"/>
                  </a:lnTo>
                  <a:lnTo>
                    <a:pt x="1551" y="6252"/>
                  </a:lnTo>
                  <a:lnTo>
                    <a:pt x="1357" y="5961"/>
                  </a:lnTo>
                  <a:lnTo>
                    <a:pt x="1261" y="5670"/>
                  </a:lnTo>
                  <a:lnTo>
                    <a:pt x="1115" y="5331"/>
                  </a:lnTo>
                  <a:lnTo>
                    <a:pt x="1067" y="5040"/>
                  </a:lnTo>
                  <a:lnTo>
                    <a:pt x="1018" y="4701"/>
                  </a:lnTo>
                  <a:lnTo>
                    <a:pt x="970" y="4410"/>
                  </a:lnTo>
                  <a:lnTo>
                    <a:pt x="1018" y="4071"/>
                  </a:lnTo>
                  <a:lnTo>
                    <a:pt x="1067" y="3732"/>
                  </a:lnTo>
                  <a:lnTo>
                    <a:pt x="1115" y="3441"/>
                  </a:lnTo>
                  <a:lnTo>
                    <a:pt x="1261" y="3150"/>
                  </a:lnTo>
                  <a:lnTo>
                    <a:pt x="1357" y="2811"/>
                  </a:lnTo>
                  <a:lnTo>
                    <a:pt x="1551" y="2569"/>
                  </a:lnTo>
                  <a:lnTo>
                    <a:pt x="1745" y="2278"/>
                  </a:lnTo>
                  <a:lnTo>
                    <a:pt x="1988" y="2036"/>
                  </a:lnTo>
                  <a:lnTo>
                    <a:pt x="2230" y="1793"/>
                  </a:lnTo>
                  <a:lnTo>
                    <a:pt x="2521" y="1599"/>
                  </a:lnTo>
                  <a:lnTo>
                    <a:pt x="2811" y="1405"/>
                  </a:lnTo>
                  <a:lnTo>
                    <a:pt x="3102" y="1260"/>
                  </a:lnTo>
                  <a:lnTo>
                    <a:pt x="3393" y="1163"/>
                  </a:lnTo>
                  <a:lnTo>
                    <a:pt x="3732" y="1115"/>
                  </a:lnTo>
                  <a:lnTo>
                    <a:pt x="4023" y="1066"/>
                  </a:lnTo>
                  <a:lnTo>
                    <a:pt x="4362" y="1018"/>
                  </a:lnTo>
                  <a:close/>
                  <a:moveTo>
                    <a:pt x="7803" y="7124"/>
                  </a:moveTo>
                  <a:lnTo>
                    <a:pt x="11390" y="10711"/>
                  </a:lnTo>
                  <a:lnTo>
                    <a:pt x="11487" y="10856"/>
                  </a:lnTo>
                  <a:lnTo>
                    <a:pt x="11535" y="11050"/>
                  </a:lnTo>
                  <a:lnTo>
                    <a:pt x="11487" y="11244"/>
                  </a:lnTo>
                  <a:lnTo>
                    <a:pt x="11390" y="11438"/>
                  </a:lnTo>
                  <a:lnTo>
                    <a:pt x="11196" y="11535"/>
                  </a:lnTo>
                  <a:lnTo>
                    <a:pt x="11002" y="11583"/>
                  </a:lnTo>
                  <a:lnTo>
                    <a:pt x="10808" y="11535"/>
                  </a:lnTo>
                  <a:lnTo>
                    <a:pt x="10663" y="11438"/>
                  </a:lnTo>
                  <a:lnTo>
                    <a:pt x="7076" y="7851"/>
                  </a:lnTo>
                  <a:lnTo>
                    <a:pt x="7464" y="7512"/>
                  </a:lnTo>
                  <a:lnTo>
                    <a:pt x="7803" y="7124"/>
                  </a:lnTo>
                  <a:close/>
                  <a:moveTo>
                    <a:pt x="4362" y="0"/>
                  </a:moveTo>
                  <a:lnTo>
                    <a:pt x="3926" y="48"/>
                  </a:lnTo>
                  <a:lnTo>
                    <a:pt x="3538" y="97"/>
                  </a:lnTo>
                  <a:lnTo>
                    <a:pt x="3102" y="194"/>
                  </a:lnTo>
                  <a:lnTo>
                    <a:pt x="2714" y="339"/>
                  </a:lnTo>
                  <a:lnTo>
                    <a:pt x="2327" y="533"/>
                  </a:lnTo>
                  <a:lnTo>
                    <a:pt x="1939" y="727"/>
                  </a:lnTo>
                  <a:lnTo>
                    <a:pt x="1600" y="1018"/>
                  </a:lnTo>
                  <a:lnTo>
                    <a:pt x="1261" y="1309"/>
                  </a:lnTo>
                  <a:lnTo>
                    <a:pt x="970" y="1648"/>
                  </a:lnTo>
                  <a:lnTo>
                    <a:pt x="679" y="1987"/>
                  </a:lnTo>
                  <a:lnTo>
                    <a:pt x="485" y="2375"/>
                  </a:lnTo>
                  <a:lnTo>
                    <a:pt x="291" y="2762"/>
                  </a:lnTo>
                  <a:lnTo>
                    <a:pt x="146" y="3150"/>
                  </a:lnTo>
                  <a:lnTo>
                    <a:pt x="49" y="3538"/>
                  </a:lnTo>
                  <a:lnTo>
                    <a:pt x="0" y="3974"/>
                  </a:lnTo>
                  <a:lnTo>
                    <a:pt x="0" y="4410"/>
                  </a:lnTo>
                  <a:lnTo>
                    <a:pt x="0" y="4798"/>
                  </a:lnTo>
                  <a:lnTo>
                    <a:pt x="49" y="5234"/>
                  </a:lnTo>
                  <a:lnTo>
                    <a:pt x="146" y="5622"/>
                  </a:lnTo>
                  <a:lnTo>
                    <a:pt x="291" y="6058"/>
                  </a:lnTo>
                  <a:lnTo>
                    <a:pt x="485" y="6446"/>
                  </a:lnTo>
                  <a:lnTo>
                    <a:pt x="679" y="6785"/>
                  </a:lnTo>
                  <a:lnTo>
                    <a:pt x="970" y="7173"/>
                  </a:lnTo>
                  <a:lnTo>
                    <a:pt x="1261" y="7512"/>
                  </a:lnTo>
                  <a:lnTo>
                    <a:pt x="1600" y="7803"/>
                  </a:lnTo>
                  <a:lnTo>
                    <a:pt x="1939" y="8045"/>
                  </a:lnTo>
                  <a:lnTo>
                    <a:pt x="2327" y="8287"/>
                  </a:lnTo>
                  <a:lnTo>
                    <a:pt x="2714" y="8433"/>
                  </a:lnTo>
                  <a:lnTo>
                    <a:pt x="3102" y="8578"/>
                  </a:lnTo>
                  <a:lnTo>
                    <a:pt x="3538" y="8675"/>
                  </a:lnTo>
                  <a:lnTo>
                    <a:pt x="3926" y="8772"/>
                  </a:lnTo>
                  <a:lnTo>
                    <a:pt x="4798" y="8772"/>
                  </a:lnTo>
                  <a:lnTo>
                    <a:pt x="5283" y="8675"/>
                  </a:lnTo>
                  <a:lnTo>
                    <a:pt x="5719" y="8530"/>
                  </a:lnTo>
                  <a:lnTo>
                    <a:pt x="6156" y="8384"/>
                  </a:lnTo>
                  <a:lnTo>
                    <a:pt x="9936" y="12116"/>
                  </a:lnTo>
                  <a:lnTo>
                    <a:pt x="10178" y="12310"/>
                  </a:lnTo>
                  <a:lnTo>
                    <a:pt x="10420" y="12455"/>
                  </a:lnTo>
                  <a:lnTo>
                    <a:pt x="10711" y="12552"/>
                  </a:lnTo>
                  <a:lnTo>
                    <a:pt x="11002" y="12601"/>
                  </a:lnTo>
                  <a:lnTo>
                    <a:pt x="11293" y="12552"/>
                  </a:lnTo>
                  <a:lnTo>
                    <a:pt x="11584" y="12455"/>
                  </a:lnTo>
                  <a:lnTo>
                    <a:pt x="11874" y="12310"/>
                  </a:lnTo>
                  <a:lnTo>
                    <a:pt x="12068" y="12116"/>
                  </a:lnTo>
                  <a:lnTo>
                    <a:pt x="12262" y="11874"/>
                  </a:lnTo>
                  <a:lnTo>
                    <a:pt x="12408" y="11632"/>
                  </a:lnTo>
                  <a:lnTo>
                    <a:pt x="12504" y="11341"/>
                  </a:lnTo>
                  <a:lnTo>
                    <a:pt x="12553" y="11050"/>
                  </a:lnTo>
                  <a:lnTo>
                    <a:pt x="12504" y="10759"/>
                  </a:lnTo>
                  <a:lnTo>
                    <a:pt x="12408" y="10468"/>
                  </a:lnTo>
                  <a:lnTo>
                    <a:pt x="12262" y="10226"/>
                  </a:lnTo>
                  <a:lnTo>
                    <a:pt x="12068" y="9984"/>
                  </a:lnTo>
                  <a:lnTo>
                    <a:pt x="8336" y="6203"/>
                  </a:lnTo>
                  <a:lnTo>
                    <a:pt x="8579" y="5622"/>
                  </a:lnTo>
                  <a:lnTo>
                    <a:pt x="8676" y="4943"/>
                  </a:lnTo>
                  <a:lnTo>
                    <a:pt x="8724" y="4313"/>
                  </a:lnTo>
                  <a:lnTo>
                    <a:pt x="8676" y="3635"/>
                  </a:lnTo>
                  <a:lnTo>
                    <a:pt x="8530" y="3005"/>
                  </a:lnTo>
                  <a:lnTo>
                    <a:pt x="8240" y="2423"/>
                  </a:lnTo>
                  <a:lnTo>
                    <a:pt x="7900" y="1842"/>
                  </a:lnTo>
                  <a:lnTo>
                    <a:pt x="7464" y="1309"/>
                  </a:lnTo>
                  <a:lnTo>
                    <a:pt x="7125" y="1018"/>
                  </a:lnTo>
                  <a:lnTo>
                    <a:pt x="6786" y="727"/>
                  </a:lnTo>
                  <a:lnTo>
                    <a:pt x="6398" y="533"/>
                  </a:lnTo>
                  <a:lnTo>
                    <a:pt x="6010" y="339"/>
                  </a:lnTo>
                  <a:lnTo>
                    <a:pt x="5622" y="194"/>
                  </a:lnTo>
                  <a:lnTo>
                    <a:pt x="5186" y="97"/>
                  </a:lnTo>
                  <a:lnTo>
                    <a:pt x="4750" y="48"/>
                  </a:lnTo>
                  <a:lnTo>
                    <a:pt x="43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37"/>
            <p:cNvSpPr/>
            <p:nvPr/>
          </p:nvSpPr>
          <p:spPr>
            <a:xfrm>
              <a:off x="6706751" y="1494904"/>
              <a:ext cx="297936" cy="230045"/>
            </a:xfrm>
            <a:custGeom>
              <a:rect b="b" l="l" r="r" t="t"/>
              <a:pathLst>
                <a:path extrusionOk="0" h="10179" w="13183">
                  <a:moveTo>
                    <a:pt x="3054" y="1019"/>
                  </a:moveTo>
                  <a:lnTo>
                    <a:pt x="3054" y="9161"/>
                  </a:lnTo>
                  <a:lnTo>
                    <a:pt x="2036" y="9161"/>
                  </a:lnTo>
                  <a:lnTo>
                    <a:pt x="2036" y="1019"/>
                  </a:lnTo>
                  <a:close/>
                  <a:moveTo>
                    <a:pt x="7125" y="3442"/>
                  </a:moveTo>
                  <a:lnTo>
                    <a:pt x="7125" y="9161"/>
                  </a:lnTo>
                  <a:lnTo>
                    <a:pt x="6107" y="9161"/>
                  </a:lnTo>
                  <a:lnTo>
                    <a:pt x="6107" y="3442"/>
                  </a:lnTo>
                  <a:close/>
                  <a:moveTo>
                    <a:pt x="11147" y="4556"/>
                  </a:moveTo>
                  <a:lnTo>
                    <a:pt x="11147" y="9161"/>
                  </a:lnTo>
                  <a:lnTo>
                    <a:pt x="10178" y="9161"/>
                  </a:lnTo>
                  <a:lnTo>
                    <a:pt x="10178" y="4556"/>
                  </a:lnTo>
                  <a:close/>
                  <a:moveTo>
                    <a:pt x="1503" y="1"/>
                  </a:moveTo>
                  <a:lnTo>
                    <a:pt x="1309" y="49"/>
                  </a:lnTo>
                  <a:lnTo>
                    <a:pt x="1164" y="146"/>
                  </a:lnTo>
                  <a:lnTo>
                    <a:pt x="1067" y="292"/>
                  </a:lnTo>
                  <a:lnTo>
                    <a:pt x="1018" y="485"/>
                  </a:lnTo>
                  <a:lnTo>
                    <a:pt x="1018" y="9161"/>
                  </a:lnTo>
                  <a:lnTo>
                    <a:pt x="485" y="9161"/>
                  </a:lnTo>
                  <a:lnTo>
                    <a:pt x="291" y="9209"/>
                  </a:lnTo>
                  <a:lnTo>
                    <a:pt x="146" y="9306"/>
                  </a:lnTo>
                  <a:lnTo>
                    <a:pt x="49" y="9500"/>
                  </a:lnTo>
                  <a:lnTo>
                    <a:pt x="0" y="9694"/>
                  </a:lnTo>
                  <a:lnTo>
                    <a:pt x="49" y="9888"/>
                  </a:lnTo>
                  <a:lnTo>
                    <a:pt x="146" y="10033"/>
                  </a:lnTo>
                  <a:lnTo>
                    <a:pt x="291" y="10130"/>
                  </a:lnTo>
                  <a:lnTo>
                    <a:pt x="485" y="10178"/>
                  </a:lnTo>
                  <a:lnTo>
                    <a:pt x="12698" y="10178"/>
                  </a:lnTo>
                  <a:lnTo>
                    <a:pt x="12892" y="10130"/>
                  </a:lnTo>
                  <a:lnTo>
                    <a:pt x="13038" y="10033"/>
                  </a:lnTo>
                  <a:lnTo>
                    <a:pt x="13183" y="9888"/>
                  </a:lnTo>
                  <a:lnTo>
                    <a:pt x="13183" y="9694"/>
                  </a:lnTo>
                  <a:lnTo>
                    <a:pt x="13183" y="9500"/>
                  </a:lnTo>
                  <a:lnTo>
                    <a:pt x="13038" y="9306"/>
                  </a:lnTo>
                  <a:lnTo>
                    <a:pt x="12892" y="9209"/>
                  </a:lnTo>
                  <a:lnTo>
                    <a:pt x="12698" y="9161"/>
                  </a:lnTo>
                  <a:lnTo>
                    <a:pt x="12165" y="9161"/>
                  </a:lnTo>
                  <a:lnTo>
                    <a:pt x="12165" y="4072"/>
                  </a:lnTo>
                  <a:lnTo>
                    <a:pt x="12165" y="3878"/>
                  </a:lnTo>
                  <a:lnTo>
                    <a:pt x="12020" y="3684"/>
                  </a:lnTo>
                  <a:lnTo>
                    <a:pt x="11874" y="3587"/>
                  </a:lnTo>
                  <a:lnTo>
                    <a:pt x="11680" y="3539"/>
                  </a:lnTo>
                  <a:lnTo>
                    <a:pt x="9645" y="3539"/>
                  </a:lnTo>
                  <a:lnTo>
                    <a:pt x="9451" y="3587"/>
                  </a:lnTo>
                  <a:lnTo>
                    <a:pt x="9306" y="3684"/>
                  </a:lnTo>
                  <a:lnTo>
                    <a:pt x="9160" y="3878"/>
                  </a:lnTo>
                  <a:lnTo>
                    <a:pt x="9160" y="4072"/>
                  </a:lnTo>
                  <a:lnTo>
                    <a:pt x="9160" y="9161"/>
                  </a:lnTo>
                  <a:lnTo>
                    <a:pt x="8143" y="9161"/>
                  </a:lnTo>
                  <a:lnTo>
                    <a:pt x="8143" y="2909"/>
                  </a:lnTo>
                  <a:lnTo>
                    <a:pt x="8094" y="2715"/>
                  </a:lnTo>
                  <a:lnTo>
                    <a:pt x="7997" y="2569"/>
                  </a:lnTo>
                  <a:lnTo>
                    <a:pt x="7803" y="2472"/>
                  </a:lnTo>
                  <a:lnTo>
                    <a:pt x="7609" y="2424"/>
                  </a:lnTo>
                  <a:lnTo>
                    <a:pt x="5574" y="2424"/>
                  </a:lnTo>
                  <a:lnTo>
                    <a:pt x="5380" y="2472"/>
                  </a:lnTo>
                  <a:lnTo>
                    <a:pt x="5235" y="2569"/>
                  </a:lnTo>
                  <a:lnTo>
                    <a:pt x="5138" y="2715"/>
                  </a:lnTo>
                  <a:lnTo>
                    <a:pt x="5089" y="2909"/>
                  </a:lnTo>
                  <a:lnTo>
                    <a:pt x="5089" y="9161"/>
                  </a:lnTo>
                  <a:lnTo>
                    <a:pt x="4071" y="9161"/>
                  </a:lnTo>
                  <a:lnTo>
                    <a:pt x="4071" y="485"/>
                  </a:lnTo>
                  <a:lnTo>
                    <a:pt x="4023" y="292"/>
                  </a:lnTo>
                  <a:lnTo>
                    <a:pt x="3926" y="146"/>
                  </a:lnTo>
                  <a:lnTo>
                    <a:pt x="3732" y="49"/>
                  </a:lnTo>
                  <a:lnTo>
                    <a:pt x="35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37"/>
            <p:cNvSpPr/>
            <p:nvPr/>
          </p:nvSpPr>
          <p:spPr>
            <a:xfrm>
              <a:off x="6857900" y="1420437"/>
              <a:ext cx="23029" cy="23007"/>
            </a:xfrm>
            <a:custGeom>
              <a:rect b="b" l="l" r="r" t="t"/>
              <a:pathLst>
                <a:path extrusionOk="0" h="1018" w="1019">
                  <a:moveTo>
                    <a:pt x="534" y="0"/>
                  </a:moveTo>
                  <a:lnTo>
                    <a:pt x="340" y="49"/>
                  </a:lnTo>
                  <a:lnTo>
                    <a:pt x="146" y="146"/>
                  </a:lnTo>
                  <a:lnTo>
                    <a:pt x="49" y="291"/>
                  </a:lnTo>
                  <a:lnTo>
                    <a:pt x="1" y="485"/>
                  </a:lnTo>
                  <a:lnTo>
                    <a:pt x="49" y="727"/>
                  </a:lnTo>
                  <a:lnTo>
                    <a:pt x="146" y="873"/>
                  </a:lnTo>
                  <a:lnTo>
                    <a:pt x="340" y="969"/>
                  </a:lnTo>
                  <a:lnTo>
                    <a:pt x="534" y="1018"/>
                  </a:lnTo>
                  <a:lnTo>
                    <a:pt x="728" y="969"/>
                  </a:lnTo>
                  <a:lnTo>
                    <a:pt x="873" y="873"/>
                  </a:lnTo>
                  <a:lnTo>
                    <a:pt x="970" y="727"/>
                  </a:lnTo>
                  <a:lnTo>
                    <a:pt x="1018" y="485"/>
                  </a:lnTo>
                  <a:lnTo>
                    <a:pt x="970" y="291"/>
                  </a:lnTo>
                  <a:lnTo>
                    <a:pt x="873" y="146"/>
                  </a:lnTo>
                  <a:lnTo>
                    <a:pt x="728" y="49"/>
                  </a:lnTo>
                  <a:lnTo>
                    <a:pt x="53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7"/>
            <p:cNvSpPr/>
            <p:nvPr/>
          </p:nvSpPr>
          <p:spPr>
            <a:xfrm>
              <a:off x="6901721" y="1420437"/>
              <a:ext cx="23007" cy="23007"/>
            </a:xfrm>
            <a:custGeom>
              <a:rect b="b" l="l" r="r" t="t"/>
              <a:pathLst>
                <a:path extrusionOk="0" h="1018" w="1018">
                  <a:moveTo>
                    <a:pt x="533" y="0"/>
                  </a:moveTo>
                  <a:lnTo>
                    <a:pt x="291" y="49"/>
                  </a:lnTo>
                  <a:lnTo>
                    <a:pt x="146" y="146"/>
                  </a:lnTo>
                  <a:lnTo>
                    <a:pt x="49" y="291"/>
                  </a:lnTo>
                  <a:lnTo>
                    <a:pt x="0" y="485"/>
                  </a:lnTo>
                  <a:lnTo>
                    <a:pt x="49" y="727"/>
                  </a:lnTo>
                  <a:lnTo>
                    <a:pt x="146" y="873"/>
                  </a:lnTo>
                  <a:lnTo>
                    <a:pt x="291" y="969"/>
                  </a:lnTo>
                  <a:lnTo>
                    <a:pt x="533" y="1018"/>
                  </a:lnTo>
                  <a:lnTo>
                    <a:pt x="727" y="969"/>
                  </a:lnTo>
                  <a:lnTo>
                    <a:pt x="873" y="873"/>
                  </a:lnTo>
                  <a:lnTo>
                    <a:pt x="969" y="727"/>
                  </a:lnTo>
                  <a:lnTo>
                    <a:pt x="1018" y="485"/>
                  </a:lnTo>
                  <a:lnTo>
                    <a:pt x="969" y="291"/>
                  </a:lnTo>
                  <a:lnTo>
                    <a:pt x="873" y="146"/>
                  </a:lnTo>
                  <a:lnTo>
                    <a:pt x="727" y="49"/>
                  </a:lnTo>
                  <a:lnTo>
                    <a:pt x="53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37"/>
            <p:cNvSpPr/>
            <p:nvPr/>
          </p:nvSpPr>
          <p:spPr>
            <a:xfrm>
              <a:off x="6946627" y="1420437"/>
              <a:ext cx="23029" cy="23007"/>
            </a:xfrm>
            <a:custGeom>
              <a:rect b="b" l="l" r="r" t="t"/>
              <a:pathLst>
                <a:path extrusionOk="0" h="1018" w="1019">
                  <a:moveTo>
                    <a:pt x="485" y="0"/>
                  </a:moveTo>
                  <a:lnTo>
                    <a:pt x="291" y="49"/>
                  </a:lnTo>
                  <a:lnTo>
                    <a:pt x="146" y="146"/>
                  </a:lnTo>
                  <a:lnTo>
                    <a:pt x="0" y="291"/>
                  </a:lnTo>
                  <a:lnTo>
                    <a:pt x="0" y="485"/>
                  </a:lnTo>
                  <a:lnTo>
                    <a:pt x="0" y="727"/>
                  </a:lnTo>
                  <a:lnTo>
                    <a:pt x="146" y="873"/>
                  </a:lnTo>
                  <a:lnTo>
                    <a:pt x="291" y="969"/>
                  </a:lnTo>
                  <a:lnTo>
                    <a:pt x="485" y="1018"/>
                  </a:lnTo>
                  <a:lnTo>
                    <a:pt x="679" y="969"/>
                  </a:lnTo>
                  <a:lnTo>
                    <a:pt x="873" y="873"/>
                  </a:lnTo>
                  <a:lnTo>
                    <a:pt x="970" y="727"/>
                  </a:lnTo>
                  <a:lnTo>
                    <a:pt x="1018" y="485"/>
                  </a:lnTo>
                  <a:lnTo>
                    <a:pt x="970" y="291"/>
                  </a:lnTo>
                  <a:lnTo>
                    <a:pt x="873" y="146"/>
                  </a:lnTo>
                  <a:lnTo>
                    <a:pt x="679" y="49"/>
                  </a:lnTo>
                  <a:lnTo>
                    <a:pt x="48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8" name="Google Shape;458;p37"/>
          <p:cNvGrpSpPr/>
          <p:nvPr/>
        </p:nvGrpSpPr>
        <p:grpSpPr>
          <a:xfrm>
            <a:off x="3612799" y="3199066"/>
            <a:ext cx="392155" cy="391048"/>
            <a:chOff x="2619044" y="2636227"/>
            <a:chExt cx="392155" cy="391048"/>
          </a:xfrm>
        </p:grpSpPr>
        <p:sp>
          <p:nvSpPr>
            <p:cNvPr id="459" name="Google Shape;459;p37"/>
            <p:cNvSpPr/>
            <p:nvPr/>
          </p:nvSpPr>
          <p:spPr>
            <a:xfrm>
              <a:off x="2711048" y="2818044"/>
              <a:ext cx="208146" cy="209231"/>
            </a:xfrm>
            <a:custGeom>
              <a:rect b="b" l="l" r="r" t="t"/>
              <a:pathLst>
                <a:path extrusionOk="0" h="9258" w="9210">
                  <a:moveTo>
                    <a:pt x="5138" y="1018"/>
                  </a:moveTo>
                  <a:lnTo>
                    <a:pt x="5138" y="1648"/>
                  </a:lnTo>
                  <a:lnTo>
                    <a:pt x="5138" y="1793"/>
                  </a:lnTo>
                  <a:lnTo>
                    <a:pt x="5235" y="1939"/>
                  </a:lnTo>
                  <a:lnTo>
                    <a:pt x="5332" y="2036"/>
                  </a:lnTo>
                  <a:lnTo>
                    <a:pt x="5477" y="2133"/>
                  </a:lnTo>
                  <a:lnTo>
                    <a:pt x="5962" y="2327"/>
                  </a:lnTo>
                  <a:lnTo>
                    <a:pt x="6350" y="2617"/>
                  </a:lnTo>
                  <a:lnTo>
                    <a:pt x="6495" y="2714"/>
                  </a:lnTo>
                  <a:lnTo>
                    <a:pt x="6641" y="2763"/>
                  </a:lnTo>
                  <a:lnTo>
                    <a:pt x="6834" y="2763"/>
                  </a:lnTo>
                  <a:lnTo>
                    <a:pt x="6980" y="2666"/>
                  </a:lnTo>
                  <a:lnTo>
                    <a:pt x="7513" y="2375"/>
                  </a:lnTo>
                  <a:lnTo>
                    <a:pt x="7998" y="3247"/>
                  </a:lnTo>
                  <a:lnTo>
                    <a:pt x="7464" y="3587"/>
                  </a:lnTo>
                  <a:lnTo>
                    <a:pt x="7368" y="3684"/>
                  </a:lnTo>
                  <a:lnTo>
                    <a:pt x="7271" y="3781"/>
                  </a:lnTo>
                  <a:lnTo>
                    <a:pt x="7222" y="3926"/>
                  </a:lnTo>
                  <a:lnTo>
                    <a:pt x="7222" y="4120"/>
                  </a:lnTo>
                  <a:lnTo>
                    <a:pt x="7271" y="4653"/>
                  </a:lnTo>
                  <a:lnTo>
                    <a:pt x="7222" y="5138"/>
                  </a:lnTo>
                  <a:lnTo>
                    <a:pt x="7222" y="5331"/>
                  </a:lnTo>
                  <a:lnTo>
                    <a:pt x="7271" y="5477"/>
                  </a:lnTo>
                  <a:lnTo>
                    <a:pt x="7368" y="5574"/>
                  </a:lnTo>
                  <a:lnTo>
                    <a:pt x="7464" y="5671"/>
                  </a:lnTo>
                  <a:lnTo>
                    <a:pt x="7998" y="6010"/>
                  </a:lnTo>
                  <a:lnTo>
                    <a:pt x="7513" y="6882"/>
                  </a:lnTo>
                  <a:lnTo>
                    <a:pt x="6980" y="6591"/>
                  </a:lnTo>
                  <a:lnTo>
                    <a:pt x="6834" y="6495"/>
                  </a:lnTo>
                  <a:lnTo>
                    <a:pt x="6641" y="6495"/>
                  </a:lnTo>
                  <a:lnTo>
                    <a:pt x="6495" y="6543"/>
                  </a:lnTo>
                  <a:lnTo>
                    <a:pt x="6350" y="6640"/>
                  </a:lnTo>
                  <a:lnTo>
                    <a:pt x="5962" y="6931"/>
                  </a:lnTo>
                  <a:lnTo>
                    <a:pt x="5477" y="7173"/>
                  </a:lnTo>
                  <a:lnTo>
                    <a:pt x="5332" y="7222"/>
                  </a:lnTo>
                  <a:lnTo>
                    <a:pt x="5235" y="7318"/>
                  </a:lnTo>
                  <a:lnTo>
                    <a:pt x="5138" y="7464"/>
                  </a:lnTo>
                  <a:lnTo>
                    <a:pt x="5138" y="7609"/>
                  </a:lnTo>
                  <a:lnTo>
                    <a:pt x="5138" y="8288"/>
                  </a:lnTo>
                  <a:lnTo>
                    <a:pt x="4120" y="8288"/>
                  </a:lnTo>
                  <a:lnTo>
                    <a:pt x="4120" y="7609"/>
                  </a:lnTo>
                  <a:lnTo>
                    <a:pt x="4072" y="7464"/>
                  </a:lnTo>
                  <a:lnTo>
                    <a:pt x="4023" y="7318"/>
                  </a:lnTo>
                  <a:lnTo>
                    <a:pt x="3927" y="7222"/>
                  </a:lnTo>
                  <a:lnTo>
                    <a:pt x="3781" y="7173"/>
                  </a:lnTo>
                  <a:lnTo>
                    <a:pt x="3296" y="6931"/>
                  </a:lnTo>
                  <a:lnTo>
                    <a:pt x="2860" y="6640"/>
                  </a:lnTo>
                  <a:lnTo>
                    <a:pt x="2715" y="6543"/>
                  </a:lnTo>
                  <a:lnTo>
                    <a:pt x="2570" y="6495"/>
                  </a:lnTo>
                  <a:lnTo>
                    <a:pt x="2424" y="6495"/>
                  </a:lnTo>
                  <a:lnTo>
                    <a:pt x="2279" y="6591"/>
                  </a:lnTo>
                  <a:lnTo>
                    <a:pt x="1746" y="6882"/>
                  </a:lnTo>
                  <a:lnTo>
                    <a:pt x="1212" y="6010"/>
                  </a:lnTo>
                  <a:lnTo>
                    <a:pt x="1746" y="5671"/>
                  </a:lnTo>
                  <a:lnTo>
                    <a:pt x="1891" y="5574"/>
                  </a:lnTo>
                  <a:lnTo>
                    <a:pt x="1988" y="5477"/>
                  </a:lnTo>
                  <a:lnTo>
                    <a:pt x="2036" y="5331"/>
                  </a:lnTo>
                  <a:lnTo>
                    <a:pt x="1988" y="5138"/>
                  </a:lnTo>
                  <a:lnTo>
                    <a:pt x="1939" y="4653"/>
                  </a:lnTo>
                  <a:lnTo>
                    <a:pt x="1988" y="4120"/>
                  </a:lnTo>
                  <a:lnTo>
                    <a:pt x="2036" y="3926"/>
                  </a:lnTo>
                  <a:lnTo>
                    <a:pt x="1988" y="3781"/>
                  </a:lnTo>
                  <a:lnTo>
                    <a:pt x="1891" y="3684"/>
                  </a:lnTo>
                  <a:lnTo>
                    <a:pt x="1746" y="3587"/>
                  </a:lnTo>
                  <a:lnTo>
                    <a:pt x="1212" y="3247"/>
                  </a:lnTo>
                  <a:lnTo>
                    <a:pt x="1746" y="2375"/>
                  </a:lnTo>
                  <a:lnTo>
                    <a:pt x="2279" y="2666"/>
                  </a:lnTo>
                  <a:lnTo>
                    <a:pt x="2424" y="2763"/>
                  </a:lnTo>
                  <a:lnTo>
                    <a:pt x="2570" y="2763"/>
                  </a:lnTo>
                  <a:lnTo>
                    <a:pt x="2715" y="2714"/>
                  </a:lnTo>
                  <a:lnTo>
                    <a:pt x="2860" y="2617"/>
                  </a:lnTo>
                  <a:lnTo>
                    <a:pt x="3296" y="2327"/>
                  </a:lnTo>
                  <a:lnTo>
                    <a:pt x="3781" y="2133"/>
                  </a:lnTo>
                  <a:lnTo>
                    <a:pt x="3927" y="2036"/>
                  </a:lnTo>
                  <a:lnTo>
                    <a:pt x="4023" y="1939"/>
                  </a:lnTo>
                  <a:lnTo>
                    <a:pt x="4072" y="1793"/>
                  </a:lnTo>
                  <a:lnTo>
                    <a:pt x="4120" y="1648"/>
                  </a:lnTo>
                  <a:lnTo>
                    <a:pt x="4120" y="1018"/>
                  </a:lnTo>
                  <a:close/>
                  <a:moveTo>
                    <a:pt x="3393" y="0"/>
                  </a:moveTo>
                  <a:lnTo>
                    <a:pt x="3248" y="146"/>
                  </a:lnTo>
                  <a:lnTo>
                    <a:pt x="3151" y="291"/>
                  </a:lnTo>
                  <a:lnTo>
                    <a:pt x="3103" y="485"/>
                  </a:lnTo>
                  <a:lnTo>
                    <a:pt x="3103" y="1260"/>
                  </a:lnTo>
                  <a:lnTo>
                    <a:pt x="2763" y="1454"/>
                  </a:lnTo>
                  <a:lnTo>
                    <a:pt x="2473" y="1648"/>
                  </a:lnTo>
                  <a:lnTo>
                    <a:pt x="1794" y="1260"/>
                  </a:lnTo>
                  <a:lnTo>
                    <a:pt x="1600" y="1163"/>
                  </a:lnTo>
                  <a:lnTo>
                    <a:pt x="1406" y="1212"/>
                  </a:lnTo>
                  <a:lnTo>
                    <a:pt x="1212" y="1260"/>
                  </a:lnTo>
                  <a:lnTo>
                    <a:pt x="1116" y="1406"/>
                  </a:lnTo>
                  <a:lnTo>
                    <a:pt x="98" y="3199"/>
                  </a:lnTo>
                  <a:lnTo>
                    <a:pt x="1" y="3393"/>
                  </a:lnTo>
                  <a:lnTo>
                    <a:pt x="49" y="3587"/>
                  </a:lnTo>
                  <a:lnTo>
                    <a:pt x="98" y="3732"/>
                  </a:lnTo>
                  <a:lnTo>
                    <a:pt x="243" y="3877"/>
                  </a:lnTo>
                  <a:lnTo>
                    <a:pt x="970" y="4265"/>
                  </a:lnTo>
                  <a:lnTo>
                    <a:pt x="922" y="4653"/>
                  </a:lnTo>
                  <a:lnTo>
                    <a:pt x="970" y="4992"/>
                  </a:lnTo>
                  <a:lnTo>
                    <a:pt x="243" y="5380"/>
                  </a:lnTo>
                  <a:lnTo>
                    <a:pt x="98" y="5525"/>
                  </a:lnTo>
                  <a:lnTo>
                    <a:pt x="49" y="5671"/>
                  </a:lnTo>
                  <a:lnTo>
                    <a:pt x="1" y="5865"/>
                  </a:lnTo>
                  <a:lnTo>
                    <a:pt x="98" y="6058"/>
                  </a:lnTo>
                  <a:lnTo>
                    <a:pt x="1116" y="7852"/>
                  </a:lnTo>
                  <a:lnTo>
                    <a:pt x="1212" y="7997"/>
                  </a:lnTo>
                  <a:lnTo>
                    <a:pt x="1406" y="8094"/>
                  </a:lnTo>
                  <a:lnTo>
                    <a:pt x="1600" y="8094"/>
                  </a:lnTo>
                  <a:lnTo>
                    <a:pt x="1794" y="7997"/>
                  </a:lnTo>
                  <a:lnTo>
                    <a:pt x="2473" y="7609"/>
                  </a:lnTo>
                  <a:lnTo>
                    <a:pt x="2763" y="7803"/>
                  </a:lnTo>
                  <a:lnTo>
                    <a:pt x="3103" y="7997"/>
                  </a:lnTo>
                  <a:lnTo>
                    <a:pt x="3103" y="8772"/>
                  </a:lnTo>
                  <a:lnTo>
                    <a:pt x="3151" y="8966"/>
                  </a:lnTo>
                  <a:lnTo>
                    <a:pt x="3248" y="9112"/>
                  </a:lnTo>
                  <a:lnTo>
                    <a:pt x="3393" y="9257"/>
                  </a:lnTo>
                  <a:lnTo>
                    <a:pt x="5817" y="9257"/>
                  </a:lnTo>
                  <a:lnTo>
                    <a:pt x="6011" y="9112"/>
                  </a:lnTo>
                  <a:lnTo>
                    <a:pt x="6107" y="8966"/>
                  </a:lnTo>
                  <a:lnTo>
                    <a:pt x="6156" y="8772"/>
                  </a:lnTo>
                  <a:lnTo>
                    <a:pt x="6156" y="7997"/>
                  </a:lnTo>
                  <a:lnTo>
                    <a:pt x="6447" y="7803"/>
                  </a:lnTo>
                  <a:lnTo>
                    <a:pt x="6738" y="7609"/>
                  </a:lnTo>
                  <a:lnTo>
                    <a:pt x="7464" y="7997"/>
                  </a:lnTo>
                  <a:lnTo>
                    <a:pt x="7610" y="8094"/>
                  </a:lnTo>
                  <a:lnTo>
                    <a:pt x="7804" y="8094"/>
                  </a:lnTo>
                  <a:lnTo>
                    <a:pt x="7998" y="7997"/>
                  </a:lnTo>
                  <a:lnTo>
                    <a:pt x="8143" y="7852"/>
                  </a:lnTo>
                  <a:lnTo>
                    <a:pt x="9161" y="6058"/>
                  </a:lnTo>
                  <a:lnTo>
                    <a:pt x="9209" y="5865"/>
                  </a:lnTo>
                  <a:lnTo>
                    <a:pt x="9209" y="5671"/>
                  </a:lnTo>
                  <a:lnTo>
                    <a:pt x="9112" y="5525"/>
                  </a:lnTo>
                  <a:lnTo>
                    <a:pt x="8967" y="5380"/>
                  </a:lnTo>
                  <a:lnTo>
                    <a:pt x="8288" y="4992"/>
                  </a:lnTo>
                  <a:lnTo>
                    <a:pt x="8288" y="4653"/>
                  </a:lnTo>
                  <a:lnTo>
                    <a:pt x="8288" y="4265"/>
                  </a:lnTo>
                  <a:lnTo>
                    <a:pt x="8967" y="3877"/>
                  </a:lnTo>
                  <a:lnTo>
                    <a:pt x="9112" y="3732"/>
                  </a:lnTo>
                  <a:lnTo>
                    <a:pt x="9209" y="3587"/>
                  </a:lnTo>
                  <a:lnTo>
                    <a:pt x="9209" y="3393"/>
                  </a:lnTo>
                  <a:lnTo>
                    <a:pt x="9161" y="3199"/>
                  </a:lnTo>
                  <a:lnTo>
                    <a:pt x="8143" y="1406"/>
                  </a:lnTo>
                  <a:lnTo>
                    <a:pt x="7998" y="1260"/>
                  </a:lnTo>
                  <a:lnTo>
                    <a:pt x="7804" y="1212"/>
                  </a:lnTo>
                  <a:lnTo>
                    <a:pt x="7610" y="1163"/>
                  </a:lnTo>
                  <a:lnTo>
                    <a:pt x="7464" y="1260"/>
                  </a:lnTo>
                  <a:lnTo>
                    <a:pt x="6738" y="1648"/>
                  </a:lnTo>
                  <a:lnTo>
                    <a:pt x="6447" y="1454"/>
                  </a:lnTo>
                  <a:lnTo>
                    <a:pt x="6156" y="1260"/>
                  </a:lnTo>
                  <a:lnTo>
                    <a:pt x="6156" y="485"/>
                  </a:lnTo>
                  <a:lnTo>
                    <a:pt x="6107" y="291"/>
                  </a:lnTo>
                  <a:lnTo>
                    <a:pt x="6011" y="146"/>
                  </a:lnTo>
                  <a:lnTo>
                    <a:pt x="581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37"/>
            <p:cNvSpPr/>
            <p:nvPr/>
          </p:nvSpPr>
          <p:spPr>
            <a:xfrm>
              <a:off x="2781153" y="2888149"/>
              <a:ext cx="69020" cy="69020"/>
            </a:xfrm>
            <a:custGeom>
              <a:rect b="b" l="l" r="r" t="t"/>
              <a:pathLst>
                <a:path extrusionOk="0" h="3054" w="3054">
                  <a:moveTo>
                    <a:pt x="1503" y="1018"/>
                  </a:moveTo>
                  <a:lnTo>
                    <a:pt x="1697" y="1066"/>
                  </a:lnTo>
                  <a:lnTo>
                    <a:pt x="1891" y="1163"/>
                  </a:lnTo>
                  <a:lnTo>
                    <a:pt x="1988" y="1309"/>
                  </a:lnTo>
                  <a:lnTo>
                    <a:pt x="2036" y="1551"/>
                  </a:lnTo>
                  <a:lnTo>
                    <a:pt x="1988" y="1745"/>
                  </a:lnTo>
                  <a:lnTo>
                    <a:pt x="1891" y="1890"/>
                  </a:lnTo>
                  <a:lnTo>
                    <a:pt x="1697" y="1987"/>
                  </a:lnTo>
                  <a:lnTo>
                    <a:pt x="1503" y="2036"/>
                  </a:lnTo>
                  <a:lnTo>
                    <a:pt x="1309" y="1987"/>
                  </a:lnTo>
                  <a:lnTo>
                    <a:pt x="1164" y="1890"/>
                  </a:lnTo>
                  <a:lnTo>
                    <a:pt x="1067" y="1745"/>
                  </a:lnTo>
                  <a:lnTo>
                    <a:pt x="1018" y="1551"/>
                  </a:lnTo>
                  <a:lnTo>
                    <a:pt x="1067" y="1309"/>
                  </a:lnTo>
                  <a:lnTo>
                    <a:pt x="1164" y="1163"/>
                  </a:lnTo>
                  <a:lnTo>
                    <a:pt x="1309" y="1066"/>
                  </a:lnTo>
                  <a:lnTo>
                    <a:pt x="1503" y="1018"/>
                  </a:lnTo>
                  <a:close/>
                  <a:moveTo>
                    <a:pt x="1503" y="0"/>
                  </a:moveTo>
                  <a:lnTo>
                    <a:pt x="1212" y="48"/>
                  </a:lnTo>
                  <a:lnTo>
                    <a:pt x="921" y="145"/>
                  </a:lnTo>
                  <a:lnTo>
                    <a:pt x="679" y="242"/>
                  </a:lnTo>
                  <a:lnTo>
                    <a:pt x="437" y="436"/>
                  </a:lnTo>
                  <a:lnTo>
                    <a:pt x="243" y="679"/>
                  </a:lnTo>
                  <a:lnTo>
                    <a:pt x="98" y="921"/>
                  </a:lnTo>
                  <a:lnTo>
                    <a:pt x="1" y="1212"/>
                  </a:lnTo>
                  <a:lnTo>
                    <a:pt x="1" y="1551"/>
                  </a:lnTo>
                  <a:lnTo>
                    <a:pt x="1" y="1842"/>
                  </a:lnTo>
                  <a:lnTo>
                    <a:pt x="98" y="2132"/>
                  </a:lnTo>
                  <a:lnTo>
                    <a:pt x="243" y="2375"/>
                  </a:lnTo>
                  <a:lnTo>
                    <a:pt x="437" y="2617"/>
                  </a:lnTo>
                  <a:lnTo>
                    <a:pt x="679" y="2811"/>
                  </a:lnTo>
                  <a:lnTo>
                    <a:pt x="921" y="2956"/>
                  </a:lnTo>
                  <a:lnTo>
                    <a:pt x="1212" y="3005"/>
                  </a:lnTo>
                  <a:lnTo>
                    <a:pt x="1503" y="3053"/>
                  </a:lnTo>
                  <a:lnTo>
                    <a:pt x="1842" y="3005"/>
                  </a:lnTo>
                  <a:lnTo>
                    <a:pt x="2085" y="2956"/>
                  </a:lnTo>
                  <a:lnTo>
                    <a:pt x="2375" y="2811"/>
                  </a:lnTo>
                  <a:lnTo>
                    <a:pt x="2569" y="2617"/>
                  </a:lnTo>
                  <a:lnTo>
                    <a:pt x="2763" y="2375"/>
                  </a:lnTo>
                  <a:lnTo>
                    <a:pt x="2909" y="2132"/>
                  </a:lnTo>
                  <a:lnTo>
                    <a:pt x="3005" y="1842"/>
                  </a:lnTo>
                  <a:lnTo>
                    <a:pt x="3054" y="1551"/>
                  </a:lnTo>
                  <a:lnTo>
                    <a:pt x="3005" y="1212"/>
                  </a:lnTo>
                  <a:lnTo>
                    <a:pt x="2909" y="921"/>
                  </a:lnTo>
                  <a:lnTo>
                    <a:pt x="2763" y="679"/>
                  </a:lnTo>
                  <a:lnTo>
                    <a:pt x="2569" y="436"/>
                  </a:lnTo>
                  <a:lnTo>
                    <a:pt x="2375" y="242"/>
                  </a:lnTo>
                  <a:lnTo>
                    <a:pt x="2085" y="145"/>
                  </a:lnTo>
                  <a:lnTo>
                    <a:pt x="1842" y="48"/>
                  </a:lnTo>
                  <a:lnTo>
                    <a:pt x="15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37"/>
            <p:cNvSpPr/>
            <p:nvPr/>
          </p:nvSpPr>
          <p:spPr>
            <a:xfrm>
              <a:off x="2619044" y="2636227"/>
              <a:ext cx="168709" cy="155556"/>
            </a:xfrm>
            <a:custGeom>
              <a:rect b="b" l="l" r="r" t="t"/>
              <a:pathLst>
                <a:path extrusionOk="0" h="6883" w="7465">
                  <a:moveTo>
                    <a:pt x="6447" y="1018"/>
                  </a:moveTo>
                  <a:lnTo>
                    <a:pt x="6447" y="4071"/>
                  </a:lnTo>
                  <a:lnTo>
                    <a:pt x="2521" y="4071"/>
                  </a:lnTo>
                  <a:lnTo>
                    <a:pt x="2376" y="4168"/>
                  </a:lnTo>
                  <a:lnTo>
                    <a:pt x="1019" y="5283"/>
                  </a:lnTo>
                  <a:lnTo>
                    <a:pt x="1019" y="1018"/>
                  </a:lnTo>
                  <a:close/>
                  <a:moveTo>
                    <a:pt x="534" y="0"/>
                  </a:moveTo>
                  <a:lnTo>
                    <a:pt x="340" y="49"/>
                  </a:lnTo>
                  <a:lnTo>
                    <a:pt x="146" y="146"/>
                  </a:lnTo>
                  <a:lnTo>
                    <a:pt x="49" y="291"/>
                  </a:lnTo>
                  <a:lnTo>
                    <a:pt x="1" y="485"/>
                  </a:lnTo>
                  <a:lnTo>
                    <a:pt x="1" y="6397"/>
                  </a:lnTo>
                  <a:lnTo>
                    <a:pt x="49" y="6543"/>
                  </a:lnTo>
                  <a:lnTo>
                    <a:pt x="98" y="6688"/>
                  </a:lnTo>
                  <a:lnTo>
                    <a:pt x="195" y="6785"/>
                  </a:lnTo>
                  <a:lnTo>
                    <a:pt x="292" y="6834"/>
                  </a:lnTo>
                  <a:lnTo>
                    <a:pt x="437" y="6882"/>
                  </a:lnTo>
                  <a:lnTo>
                    <a:pt x="728" y="6882"/>
                  </a:lnTo>
                  <a:lnTo>
                    <a:pt x="873" y="6785"/>
                  </a:lnTo>
                  <a:lnTo>
                    <a:pt x="2909" y="5040"/>
                  </a:lnTo>
                  <a:lnTo>
                    <a:pt x="7174" y="5040"/>
                  </a:lnTo>
                  <a:lnTo>
                    <a:pt x="7319" y="4895"/>
                  </a:lnTo>
                  <a:lnTo>
                    <a:pt x="7416" y="4750"/>
                  </a:lnTo>
                  <a:lnTo>
                    <a:pt x="7464" y="4556"/>
                  </a:lnTo>
                  <a:lnTo>
                    <a:pt x="7464" y="485"/>
                  </a:lnTo>
                  <a:lnTo>
                    <a:pt x="7416" y="291"/>
                  </a:lnTo>
                  <a:lnTo>
                    <a:pt x="7319" y="146"/>
                  </a:lnTo>
                  <a:lnTo>
                    <a:pt x="7174" y="49"/>
                  </a:lnTo>
                  <a:lnTo>
                    <a:pt x="698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37"/>
            <p:cNvSpPr/>
            <p:nvPr/>
          </p:nvSpPr>
          <p:spPr>
            <a:xfrm>
              <a:off x="2667249" y="2682218"/>
              <a:ext cx="73405" cy="23029"/>
            </a:xfrm>
            <a:custGeom>
              <a:rect b="b" l="l" r="r" t="t"/>
              <a:pathLst>
                <a:path extrusionOk="0" h="1019" w="3248">
                  <a:moveTo>
                    <a:pt x="291" y="1"/>
                  </a:moveTo>
                  <a:lnTo>
                    <a:pt x="146" y="146"/>
                  </a:lnTo>
                  <a:lnTo>
                    <a:pt x="49" y="291"/>
                  </a:lnTo>
                  <a:lnTo>
                    <a:pt x="0" y="485"/>
                  </a:lnTo>
                  <a:lnTo>
                    <a:pt x="49" y="679"/>
                  </a:lnTo>
                  <a:lnTo>
                    <a:pt x="146" y="873"/>
                  </a:lnTo>
                  <a:lnTo>
                    <a:pt x="291" y="970"/>
                  </a:lnTo>
                  <a:lnTo>
                    <a:pt x="485" y="1018"/>
                  </a:lnTo>
                  <a:lnTo>
                    <a:pt x="2763" y="1018"/>
                  </a:lnTo>
                  <a:lnTo>
                    <a:pt x="2957" y="970"/>
                  </a:lnTo>
                  <a:lnTo>
                    <a:pt x="3102" y="873"/>
                  </a:lnTo>
                  <a:lnTo>
                    <a:pt x="3199" y="679"/>
                  </a:lnTo>
                  <a:lnTo>
                    <a:pt x="3247" y="485"/>
                  </a:lnTo>
                  <a:lnTo>
                    <a:pt x="3199" y="291"/>
                  </a:lnTo>
                  <a:lnTo>
                    <a:pt x="3102" y="146"/>
                  </a:lnTo>
                  <a:lnTo>
                    <a:pt x="295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37"/>
            <p:cNvSpPr/>
            <p:nvPr/>
          </p:nvSpPr>
          <p:spPr>
            <a:xfrm>
              <a:off x="2842490" y="2674557"/>
              <a:ext cx="168709" cy="155556"/>
            </a:xfrm>
            <a:custGeom>
              <a:rect b="b" l="l" r="r" t="t"/>
              <a:pathLst>
                <a:path extrusionOk="0" h="6883" w="7465">
                  <a:moveTo>
                    <a:pt x="6447" y="1018"/>
                  </a:moveTo>
                  <a:lnTo>
                    <a:pt x="6447" y="5283"/>
                  </a:lnTo>
                  <a:lnTo>
                    <a:pt x="5138" y="4168"/>
                  </a:lnTo>
                  <a:lnTo>
                    <a:pt x="4944" y="4071"/>
                  </a:lnTo>
                  <a:lnTo>
                    <a:pt x="4799" y="4023"/>
                  </a:lnTo>
                  <a:lnTo>
                    <a:pt x="1018" y="4023"/>
                  </a:lnTo>
                  <a:lnTo>
                    <a:pt x="1018" y="1018"/>
                  </a:lnTo>
                  <a:close/>
                  <a:moveTo>
                    <a:pt x="340" y="0"/>
                  </a:moveTo>
                  <a:lnTo>
                    <a:pt x="146" y="146"/>
                  </a:lnTo>
                  <a:lnTo>
                    <a:pt x="49" y="291"/>
                  </a:lnTo>
                  <a:lnTo>
                    <a:pt x="1" y="485"/>
                  </a:lnTo>
                  <a:lnTo>
                    <a:pt x="1" y="4556"/>
                  </a:lnTo>
                  <a:lnTo>
                    <a:pt x="49" y="4750"/>
                  </a:lnTo>
                  <a:lnTo>
                    <a:pt x="146" y="4895"/>
                  </a:lnTo>
                  <a:lnTo>
                    <a:pt x="340" y="5041"/>
                  </a:lnTo>
                  <a:lnTo>
                    <a:pt x="4605" y="5041"/>
                  </a:lnTo>
                  <a:lnTo>
                    <a:pt x="6640" y="6785"/>
                  </a:lnTo>
                  <a:lnTo>
                    <a:pt x="6786" y="6882"/>
                  </a:lnTo>
                  <a:lnTo>
                    <a:pt x="6980" y="6882"/>
                  </a:lnTo>
                  <a:lnTo>
                    <a:pt x="7174" y="6834"/>
                  </a:lnTo>
                  <a:lnTo>
                    <a:pt x="7319" y="6785"/>
                  </a:lnTo>
                  <a:lnTo>
                    <a:pt x="7367" y="6640"/>
                  </a:lnTo>
                  <a:lnTo>
                    <a:pt x="7464" y="6543"/>
                  </a:lnTo>
                  <a:lnTo>
                    <a:pt x="7464" y="6398"/>
                  </a:lnTo>
                  <a:lnTo>
                    <a:pt x="7464" y="485"/>
                  </a:lnTo>
                  <a:lnTo>
                    <a:pt x="7416" y="291"/>
                  </a:lnTo>
                  <a:lnTo>
                    <a:pt x="7319" y="146"/>
                  </a:lnTo>
                  <a:lnTo>
                    <a:pt x="717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37"/>
            <p:cNvSpPr/>
            <p:nvPr/>
          </p:nvSpPr>
          <p:spPr>
            <a:xfrm>
              <a:off x="2889588" y="2720548"/>
              <a:ext cx="74512" cy="23029"/>
            </a:xfrm>
            <a:custGeom>
              <a:rect b="b" l="l" r="r" t="t"/>
              <a:pathLst>
                <a:path extrusionOk="0" h="1019" w="3297">
                  <a:moveTo>
                    <a:pt x="340" y="1"/>
                  </a:moveTo>
                  <a:lnTo>
                    <a:pt x="146" y="146"/>
                  </a:lnTo>
                  <a:lnTo>
                    <a:pt x="49" y="292"/>
                  </a:lnTo>
                  <a:lnTo>
                    <a:pt x="1" y="486"/>
                  </a:lnTo>
                  <a:lnTo>
                    <a:pt x="49" y="679"/>
                  </a:lnTo>
                  <a:lnTo>
                    <a:pt x="146" y="825"/>
                  </a:lnTo>
                  <a:lnTo>
                    <a:pt x="340" y="970"/>
                  </a:lnTo>
                  <a:lnTo>
                    <a:pt x="534" y="1019"/>
                  </a:lnTo>
                  <a:lnTo>
                    <a:pt x="2763" y="1019"/>
                  </a:lnTo>
                  <a:lnTo>
                    <a:pt x="2957" y="970"/>
                  </a:lnTo>
                  <a:lnTo>
                    <a:pt x="3151" y="825"/>
                  </a:lnTo>
                  <a:lnTo>
                    <a:pt x="3248" y="679"/>
                  </a:lnTo>
                  <a:lnTo>
                    <a:pt x="3296" y="486"/>
                  </a:lnTo>
                  <a:lnTo>
                    <a:pt x="3248" y="292"/>
                  </a:lnTo>
                  <a:lnTo>
                    <a:pt x="3151" y="146"/>
                  </a:lnTo>
                  <a:lnTo>
                    <a:pt x="295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5" name="Google Shape;465;p37"/>
          <p:cNvGrpSpPr/>
          <p:nvPr/>
        </p:nvGrpSpPr>
        <p:grpSpPr>
          <a:xfrm>
            <a:off x="3613387" y="1684062"/>
            <a:ext cx="391048" cy="392133"/>
            <a:chOff x="1363817" y="3315312"/>
            <a:chExt cx="391048" cy="392133"/>
          </a:xfrm>
        </p:grpSpPr>
        <p:sp>
          <p:nvSpPr>
            <p:cNvPr id="466" name="Google Shape;466;p37"/>
            <p:cNvSpPr/>
            <p:nvPr/>
          </p:nvSpPr>
          <p:spPr>
            <a:xfrm>
              <a:off x="1363817" y="3315312"/>
              <a:ext cx="391048" cy="392133"/>
            </a:xfrm>
            <a:custGeom>
              <a:rect b="b" l="l" r="r" t="t"/>
              <a:pathLst>
                <a:path extrusionOk="0" h="17351" w="17303">
                  <a:moveTo>
                    <a:pt x="6447" y="1018"/>
                  </a:moveTo>
                  <a:lnTo>
                    <a:pt x="6786" y="1067"/>
                  </a:lnTo>
                  <a:lnTo>
                    <a:pt x="7125" y="1163"/>
                  </a:lnTo>
                  <a:lnTo>
                    <a:pt x="7416" y="1309"/>
                  </a:lnTo>
                  <a:lnTo>
                    <a:pt x="7658" y="1503"/>
                  </a:lnTo>
                  <a:lnTo>
                    <a:pt x="7852" y="1745"/>
                  </a:lnTo>
                  <a:lnTo>
                    <a:pt x="7998" y="2036"/>
                  </a:lnTo>
                  <a:lnTo>
                    <a:pt x="8095" y="2375"/>
                  </a:lnTo>
                  <a:lnTo>
                    <a:pt x="8143" y="2714"/>
                  </a:lnTo>
                  <a:lnTo>
                    <a:pt x="8143" y="3974"/>
                  </a:lnTo>
                  <a:lnTo>
                    <a:pt x="7755" y="4023"/>
                  </a:lnTo>
                  <a:lnTo>
                    <a:pt x="7368" y="4120"/>
                  </a:lnTo>
                  <a:lnTo>
                    <a:pt x="6980" y="4265"/>
                  </a:lnTo>
                  <a:lnTo>
                    <a:pt x="6641" y="4459"/>
                  </a:lnTo>
                  <a:lnTo>
                    <a:pt x="6301" y="4653"/>
                  </a:lnTo>
                  <a:lnTo>
                    <a:pt x="5962" y="4895"/>
                  </a:lnTo>
                  <a:lnTo>
                    <a:pt x="5671" y="5138"/>
                  </a:lnTo>
                  <a:lnTo>
                    <a:pt x="5380" y="5428"/>
                  </a:lnTo>
                  <a:lnTo>
                    <a:pt x="5138" y="5719"/>
                  </a:lnTo>
                  <a:lnTo>
                    <a:pt x="4944" y="6010"/>
                  </a:lnTo>
                  <a:lnTo>
                    <a:pt x="4750" y="6398"/>
                  </a:lnTo>
                  <a:lnTo>
                    <a:pt x="4557" y="6737"/>
                  </a:lnTo>
                  <a:lnTo>
                    <a:pt x="4460" y="7125"/>
                  </a:lnTo>
                  <a:lnTo>
                    <a:pt x="4363" y="7512"/>
                  </a:lnTo>
                  <a:lnTo>
                    <a:pt x="4266" y="7900"/>
                  </a:lnTo>
                  <a:lnTo>
                    <a:pt x="4266" y="8336"/>
                  </a:lnTo>
                  <a:lnTo>
                    <a:pt x="4266" y="8724"/>
                  </a:lnTo>
                  <a:lnTo>
                    <a:pt x="4314" y="9063"/>
                  </a:lnTo>
                  <a:lnTo>
                    <a:pt x="4411" y="9451"/>
                  </a:lnTo>
                  <a:lnTo>
                    <a:pt x="4508" y="9790"/>
                  </a:lnTo>
                  <a:lnTo>
                    <a:pt x="4653" y="10129"/>
                  </a:lnTo>
                  <a:lnTo>
                    <a:pt x="4799" y="10420"/>
                  </a:lnTo>
                  <a:lnTo>
                    <a:pt x="5187" y="11002"/>
                  </a:lnTo>
                  <a:lnTo>
                    <a:pt x="1019" y="11002"/>
                  </a:lnTo>
                  <a:lnTo>
                    <a:pt x="1019" y="1018"/>
                  </a:lnTo>
                  <a:close/>
                  <a:moveTo>
                    <a:pt x="16285" y="1018"/>
                  </a:moveTo>
                  <a:lnTo>
                    <a:pt x="16285" y="11002"/>
                  </a:lnTo>
                  <a:lnTo>
                    <a:pt x="12117" y="11002"/>
                  </a:lnTo>
                  <a:lnTo>
                    <a:pt x="12505" y="10420"/>
                  </a:lnTo>
                  <a:lnTo>
                    <a:pt x="12650" y="10129"/>
                  </a:lnTo>
                  <a:lnTo>
                    <a:pt x="12796" y="9790"/>
                  </a:lnTo>
                  <a:lnTo>
                    <a:pt x="12893" y="9451"/>
                  </a:lnTo>
                  <a:lnTo>
                    <a:pt x="12989" y="9063"/>
                  </a:lnTo>
                  <a:lnTo>
                    <a:pt x="12989" y="8724"/>
                  </a:lnTo>
                  <a:lnTo>
                    <a:pt x="13038" y="8336"/>
                  </a:lnTo>
                  <a:lnTo>
                    <a:pt x="12989" y="7900"/>
                  </a:lnTo>
                  <a:lnTo>
                    <a:pt x="12941" y="7512"/>
                  </a:lnTo>
                  <a:lnTo>
                    <a:pt x="12844" y="7125"/>
                  </a:lnTo>
                  <a:lnTo>
                    <a:pt x="12747" y="6737"/>
                  </a:lnTo>
                  <a:lnTo>
                    <a:pt x="12553" y="6398"/>
                  </a:lnTo>
                  <a:lnTo>
                    <a:pt x="12359" y="6010"/>
                  </a:lnTo>
                  <a:lnTo>
                    <a:pt x="12166" y="5719"/>
                  </a:lnTo>
                  <a:lnTo>
                    <a:pt x="11923" y="5428"/>
                  </a:lnTo>
                  <a:lnTo>
                    <a:pt x="11632" y="5138"/>
                  </a:lnTo>
                  <a:lnTo>
                    <a:pt x="11342" y="4895"/>
                  </a:lnTo>
                  <a:lnTo>
                    <a:pt x="11002" y="4653"/>
                  </a:lnTo>
                  <a:lnTo>
                    <a:pt x="10663" y="4459"/>
                  </a:lnTo>
                  <a:lnTo>
                    <a:pt x="10324" y="4265"/>
                  </a:lnTo>
                  <a:lnTo>
                    <a:pt x="9936" y="4120"/>
                  </a:lnTo>
                  <a:lnTo>
                    <a:pt x="9548" y="4023"/>
                  </a:lnTo>
                  <a:lnTo>
                    <a:pt x="9161" y="3974"/>
                  </a:lnTo>
                  <a:lnTo>
                    <a:pt x="9161" y="2714"/>
                  </a:lnTo>
                  <a:lnTo>
                    <a:pt x="9209" y="2375"/>
                  </a:lnTo>
                  <a:lnTo>
                    <a:pt x="9306" y="2036"/>
                  </a:lnTo>
                  <a:lnTo>
                    <a:pt x="9452" y="1745"/>
                  </a:lnTo>
                  <a:lnTo>
                    <a:pt x="9645" y="1503"/>
                  </a:lnTo>
                  <a:lnTo>
                    <a:pt x="9888" y="1309"/>
                  </a:lnTo>
                  <a:lnTo>
                    <a:pt x="10178" y="1163"/>
                  </a:lnTo>
                  <a:lnTo>
                    <a:pt x="10518" y="1067"/>
                  </a:lnTo>
                  <a:lnTo>
                    <a:pt x="10857" y="1018"/>
                  </a:lnTo>
                  <a:close/>
                  <a:moveTo>
                    <a:pt x="8628" y="4944"/>
                  </a:moveTo>
                  <a:lnTo>
                    <a:pt x="9015" y="4992"/>
                  </a:lnTo>
                  <a:lnTo>
                    <a:pt x="9306" y="5041"/>
                  </a:lnTo>
                  <a:lnTo>
                    <a:pt x="9645" y="5138"/>
                  </a:lnTo>
                  <a:lnTo>
                    <a:pt x="9936" y="5234"/>
                  </a:lnTo>
                  <a:lnTo>
                    <a:pt x="10275" y="5380"/>
                  </a:lnTo>
                  <a:lnTo>
                    <a:pt x="10518" y="5525"/>
                  </a:lnTo>
                  <a:lnTo>
                    <a:pt x="10809" y="5719"/>
                  </a:lnTo>
                  <a:lnTo>
                    <a:pt x="11051" y="5961"/>
                  </a:lnTo>
                  <a:lnTo>
                    <a:pt x="11245" y="6204"/>
                  </a:lnTo>
                  <a:lnTo>
                    <a:pt x="11439" y="6446"/>
                  </a:lnTo>
                  <a:lnTo>
                    <a:pt x="11584" y="6737"/>
                  </a:lnTo>
                  <a:lnTo>
                    <a:pt x="11729" y="7028"/>
                  </a:lnTo>
                  <a:lnTo>
                    <a:pt x="11875" y="7318"/>
                  </a:lnTo>
                  <a:lnTo>
                    <a:pt x="11923" y="7658"/>
                  </a:lnTo>
                  <a:lnTo>
                    <a:pt x="11972" y="7997"/>
                  </a:lnTo>
                  <a:lnTo>
                    <a:pt x="12020" y="8336"/>
                  </a:lnTo>
                  <a:lnTo>
                    <a:pt x="11972" y="8675"/>
                  </a:lnTo>
                  <a:lnTo>
                    <a:pt x="11923" y="9015"/>
                  </a:lnTo>
                  <a:lnTo>
                    <a:pt x="11875" y="9306"/>
                  </a:lnTo>
                  <a:lnTo>
                    <a:pt x="11729" y="9645"/>
                  </a:lnTo>
                  <a:lnTo>
                    <a:pt x="11584" y="9936"/>
                  </a:lnTo>
                  <a:lnTo>
                    <a:pt x="11439" y="10226"/>
                  </a:lnTo>
                  <a:lnTo>
                    <a:pt x="11245" y="10469"/>
                  </a:lnTo>
                  <a:lnTo>
                    <a:pt x="11051" y="10711"/>
                  </a:lnTo>
                  <a:lnTo>
                    <a:pt x="10809" y="10905"/>
                  </a:lnTo>
                  <a:lnTo>
                    <a:pt x="10518" y="11099"/>
                  </a:lnTo>
                  <a:lnTo>
                    <a:pt x="10275" y="11293"/>
                  </a:lnTo>
                  <a:lnTo>
                    <a:pt x="9936" y="11438"/>
                  </a:lnTo>
                  <a:lnTo>
                    <a:pt x="9645" y="11535"/>
                  </a:lnTo>
                  <a:lnTo>
                    <a:pt x="9306" y="11632"/>
                  </a:lnTo>
                  <a:lnTo>
                    <a:pt x="9015" y="11680"/>
                  </a:lnTo>
                  <a:lnTo>
                    <a:pt x="8288" y="11680"/>
                  </a:lnTo>
                  <a:lnTo>
                    <a:pt x="7949" y="11632"/>
                  </a:lnTo>
                  <a:lnTo>
                    <a:pt x="7658" y="11535"/>
                  </a:lnTo>
                  <a:lnTo>
                    <a:pt x="7319" y="11438"/>
                  </a:lnTo>
                  <a:lnTo>
                    <a:pt x="7028" y="11293"/>
                  </a:lnTo>
                  <a:lnTo>
                    <a:pt x="6786" y="11099"/>
                  </a:lnTo>
                  <a:lnTo>
                    <a:pt x="6495" y="10905"/>
                  </a:lnTo>
                  <a:lnTo>
                    <a:pt x="6253" y="10711"/>
                  </a:lnTo>
                  <a:lnTo>
                    <a:pt x="6059" y="10469"/>
                  </a:lnTo>
                  <a:lnTo>
                    <a:pt x="5865" y="10226"/>
                  </a:lnTo>
                  <a:lnTo>
                    <a:pt x="5671" y="9936"/>
                  </a:lnTo>
                  <a:lnTo>
                    <a:pt x="5574" y="9645"/>
                  </a:lnTo>
                  <a:lnTo>
                    <a:pt x="5429" y="9306"/>
                  </a:lnTo>
                  <a:lnTo>
                    <a:pt x="5332" y="9015"/>
                  </a:lnTo>
                  <a:lnTo>
                    <a:pt x="5284" y="8675"/>
                  </a:lnTo>
                  <a:lnTo>
                    <a:pt x="5284" y="8336"/>
                  </a:lnTo>
                  <a:lnTo>
                    <a:pt x="5284" y="7997"/>
                  </a:lnTo>
                  <a:lnTo>
                    <a:pt x="5332" y="7658"/>
                  </a:lnTo>
                  <a:lnTo>
                    <a:pt x="5429" y="7318"/>
                  </a:lnTo>
                  <a:lnTo>
                    <a:pt x="5574" y="7028"/>
                  </a:lnTo>
                  <a:lnTo>
                    <a:pt x="5671" y="6737"/>
                  </a:lnTo>
                  <a:lnTo>
                    <a:pt x="5865" y="6446"/>
                  </a:lnTo>
                  <a:lnTo>
                    <a:pt x="6059" y="6204"/>
                  </a:lnTo>
                  <a:lnTo>
                    <a:pt x="6253" y="5961"/>
                  </a:lnTo>
                  <a:lnTo>
                    <a:pt x="6495" y="5719"/>
                  </a:lnTo>
                  <a:lnTo>
                    <a:pt x="6786" y="5525"/>
                  </a:lnTo>
                  <a:lnTo>
                    <a:pt x="7028" y="5380"/>
                  </a:lnTo>
                  <a:lnTo>
                    <a:pt x="7319" y="5234"/>
                  </a:lnTo>
                  <a:lnTo>
                    <a:pt x="7658" y="5138"/>
                  </a:lnTo>
                  <a:lnTo>
                    <a:pt x="7949" y="5041"/>
                  </a:lnTo>
                  <a:lnTo>
                    <a:pt x="8288" y="4992"/>
                  </a:lnTo>
                  <a:lnTo>
                    <a:pt x="8628" y="4944"/>
                  </a:lnTo>
                  <a:close/>
                  <a:moveTo>
                    <a:pt x="9161" y="12698"/>
                  </a:moveTo>
                  <a:lnTo>
                    <a:pt x="9161" y="15848"/>
                  </a:lnTo>
                  <a:lnTo>
                    <a:pt x="9112" y="16042"/>
                  </a:lnTo>
                  <a:lnTo>
                    <a:pt x="9015" y="16188"/>
                  </a:lnTo>
                  <a:lnTo>
                    <a:pt x="8870" y="16284"/>
                  </a:lnTo>
                  <a:lnTo>
                    <a:pt x="8628" y="16333"/>
                  </a:lnTo>
                  <a:lnTo>
                    <a:pt x="8434" y="16284"/>
                  </a:lnTo>
                  <a:lnTo>
                    <a:pt x="8288" y="16188"/>
                  </a:lnTo>
                  <a:lnTo>
                    <a:pt x="8191" y="16042"/>
                  </a:lnTo>
                  <a:lnTo>
                    <a:pt x="8143" y="15848"/>
                  </a:lnTo>
                  <a:lnTo>
                    <a:pt x="8143" y="12698"/>
                  </a:lnTo>
                  <a:close/>
                  <a:moveTo>
                    <a:pt x="485" y="0"/>
                  </a:moveTo>
                  <a:lnTo>
                    <a:pt x="292" y="49"/>
                  </a:lnTo>
                  <a:lnTo>
                    <a:pt x="146" y="146"/>
                  </a:lnTo>
                  <a:lnTo>
                    <a:pt x="1" y="340"/>
                  </a:lnTo>
                  <a:lnTo>
                    <a:pt x="1" y="533"/>
                  </a:lnTo>
                  <a:lnTo>
                    <a:pt x="1" y="11535"/>
                  </a:lnTo>
                  <a:lnTo>
                    <a:pt x="1" y="11729"/>
                  </a:lnTo>
                  <a:lnTo>
                    <a:pt x="146" y="11874"/>
                  </a:lnTo>
                  <a:lnTo>
                    <a:pt x="292" y="11971"/>
                  </a:lnTo>
                  <a:lnTo>
                    <a:pt x="485" y="12020"/>
                  </a:lnTo>
                  <a:lnTo>
                    <a:pt x="6301" y="12020"/>
                  </a:lnTo>
                  <a:lnTo>
                    <a:pt x="6689" y="12262"/>
                  </a:lnTo>
                  <a:lnTo>
                    <a:pt x="7125" y="12456"/>
                  </a:lnTo>
                  <a:lnTo>
                    <a:pt x="7125" y="15848"/>
                  </a:lnTo>
                  <a:lnTo>
                    <a:pt x="7174" y="16139"/>
                  </a:lnTo>
                  <a:lnTo>
                    <a:pt x="7222" y="16430"/>
                  </a:lnTo>
                  <a:lnTo>
                    <a:pt x="7368" y="16672"/>
                  </a:lnTo>
                  <a:lnTo>
                    <a:pt x="7561" y="16915"/>
                  </a:lnTo>
                  <a:lnTo>
                    <a:pt x="7804" y="17108"/>
                  </a:lnTo>
                  <a:lnTo>
                    <a:pt x="8046" y="17254"/>
                  </a:lnTo>
                  <a:lnTo>
                    <a:pt x="8337" y="17302"/>
                  </a:lnTo>
                  <a:lnTo>
                    <a:pt x="8628" y="17351"/>
                  </a:lnTo>
                  <a:lnTo>
                    <a:pt x="8967" y="17302"/>
                  </a:lnTo>
                  <a:lnTo>
                    <a:pt x="9258" y="17254"/>
                  </a:lnTo>
                  <a:lnTo>
                    <a:pt x="9500" y="17108"/>
                  </a:lnTo>
                  <a:lnTo>
                    <a:pt x="9742" y="16915"/>
                  </a:lnTo>
                  <a:lnTo>
                    <a:pt x="9936" y="16672"/>
                  </a:lnTo>
                  <a:lnTo>
                    <a:pt x="10033" y="16430"/>
                  </a:lnTo>
                  <a:lnTo>
                    <a:pt x="10130" y="16139"/>
                  </a:lnTo>
                  <a:lnTo>
                    <a:pt x="10178" y="15848"/>
                  </a:lnTo>
                  <a:lnTo>
                    <a:pt x="10178" y="12456"/>
                  </a:lnTo>
                  <a:lnTo>
                    <a:pt x="10566" y="12262"/>
                  </a:lnTo>
                  <a:lnTo>
                    <a:pt x="10954" y="12020"/>
                  </a:lnTo>
                  <a:lnTo>
                    <a:pt x="16818" y="12020"/>
                  </a:lnTo>
                  <a:lnTo>
                    <a:pt x="17012" y="11971"/>
                  </a:lnTo>
                  <a:lnTo>
                    <a:pt x="17157" y="11874"/>
                  </a:lnTo>
                  <a:lnTo>
                    <a:pt x="17303" y="11729"/>
                  </a:lnTo>
                  <a:lnTo>
                    <a:pt x="17303" y="11535"/>
                  </a:lnTo>
                  <a:lnTo>
                    <a:pt x="17303" y="533"/>
                  </a:lnTo>
                  <a:lnTo>
                    <a:pt x="17303" y="340"/>
                  </a:lnTo>
                  <a:lnTo>
                    <a:pt x="17157" y="146"/>
                  </a:lnTo>
                  <a:lnTo>
                    <a:pt x="17012" y="49"/>
                  </a:lnTo>
                  <a:lnTo>
                    <a:pt x="16818" y="0"/>
                  </a:lnTo>
                  <a:lnTo>
                    <a:pt x="10857" y="0"/>
                  </a:lnTo>
                  <a:lnTo>
                    <a:pt x="10518" y="49"/>
                  </a:lnTo>
                  <a:lnTo>
                    <a:pt x="10178" y="97"/>
                  </a:lnTo>
                  <a:lnTo>
                    <a:pt x="9888" y="194"/>
                  </a:lnTo>
                  <a:lnTo>
                    <a:pt x="9597" y="340"/>
                  </a:lnTo>
                  <a:lnTo>
                    <a:pt x="9306" y="485"/>
                  </a:lnTo>
                  <a:lnTo>
                    <a:pt x="9064" y="679"/>
                  </a:lnTo>
                  <a:lnTo>
                    <a:pt x="8870" y="873"/>
                  </a:lnTo>
                  <a:lnTo>
                    <a:pt x="8628" y="1115"/>
                  </a:lnTo>
                  <a:lnTo>
                    <a:pt x="8434" y="873"/>
                  </a:lnTo>
                  <a:lnTo>
                    <a:pt x="8240" y="679"/>
                  </a:lnTo>
                  <a:lnTo>
                    <a:pt x="7998" y="485"/>
                  </a:lnTo>
                  <a:lnTo>
                    <a:pt x="7707" y="340"/>
                  </a:lnTo>
                  <a:lnTo>
                    <a:pt x="7416" y="194"/>
                  </a:lnTo>
                  <a:lnTo>
                    <a:pt x="7125" y="97"/>
                  </a:lnTo>
                  <a:lnTo>
                    <a:pt x="6786" y="49"/>
                  </a:lnTo>
                  <a:lnTo>
                    <a:pt x="644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37"/>
            <p:cNvSpPr/>
            <p:nvPr/>
          </p:nvSpPr>
          <p:spPr>
            <a:xfrm>
              <a:off x="1504027" y="3491660"/>
              <a:ext cx="23029" cy="23007"/>
            </a:xfrm>
            <a:custGeom>
              <a:rect b="b" l="l" r="r" t="t"/>
              <a:pathLst>
                <a:path extrusionOk="0" h="1018" w="1019">
                  <a:moveTo>
                    <a:pt x="533" y="0"/>
                  </a:moveTo>
                  <a:lnTo>
                    <a:pt x="340" y="49"/>
                  </a:lnTo>
                  <a:lnTo>
                    <a:pt x="146" y="146"/>
                  </a:lnTo>
                  <a:lnTo>
                    <a:pt x="49" y="291"/>
                  </a:lnTo>
                  <a:lnTo>
                    <a:pt x="0" y="485"/>
                  </a:lnTo>
                  <a:lnTo>
                    <a:pt x="49" y="727"/>
                  </a:lnTo>
                  <a:lnTo>
                    <a:pt x="146" y="872"/>
                  </a:lnTo>
                  <a:lnTo>
                    <a:pt x="340" y="969"/>
                  </a:lnTo>
                  <a:lnTo>
                    <a:pt x="533" y="1018"/>
                  </a:lnTo>
                  <a:lnTo>
                    <a:pt x="727" y="969"/>
                  </a:lnTo>
                  <a:lnTo>
                    <a:pt x="873" y="872"/>
                  </a:lnTo>
                  <a:lnTo>
                    <a:pt x="970" y="727"/>
                  </a:lnTo>
                  <a:lnTo>
                    <a:pt x="1018" y="485"/>
                  </a:lnTo>
                  <a:lnTo>
                    <a:pt x="970" y="291"/>
                  </a:lnTo>
                  <a:lnTo>
                    <a:pt x="873" y="146"/>
                  </a:lnTo>
                  <a:lnTo>
                    <a:pt x="727" y="49"/>
                  </a:lnTo>
                  <a:lnTo>
                    <a:pt x="53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37"/>
            <p:cNvSpPr/>
            <p:nvPr/>
          </p:nvSpPr>
          <p:spPr>
            <a:xfrm>
              <a:off x="1591648" y="3491660"/>
              <a:ext cx="23029" cy="23007"/>
            </a:xfrm>
            <a:custGeom>
              <a:rect b="b" l="l" r="r" t="t"/>
              <a:pathLst>
                <a:path extrusionOk="0" h="1018" w="1019">
                  <a:moveTo>
                    <a:pt x="485" y="0"/>
                  </a:moveTo>
                  <a:lnTo>
                    <a:pt x="291" y="49"/>
                  </a:lnTo>
                  <a:lnTo>
                    <a:pt x="146" y="146"/>
                  </a:lnTo>
                  <a:lnTo>
                    <a:pt x="49" y="291"/>
                  </a:lnTo>
                  <a:lnTo>
                    <a:pt x="1" y="485"/>
                  </a:lnTo>
                  <a:lnTo>
                    <a:pt x="49" y="727"/>
                  </a:lnTo>
                  <a:lnTo>
                    <a:pt x="146" y="872"/>
                  </a:lnTo>
                  <a:lnTo>
                    <a:pt x="291" y="969"/>
                  </a:lnTo>
                  <a:lnTo>
                    <a:pt x="485" y="1018"/>
                  </a:lnTo>
                  <a:lnTo>
                    <a:pt x="679" y="969"/>
                  </a:lnTo>
                  <a:lnTo>
                    <a:pt x="873" y="872"/>
                  </a:lnTo>
                  <a:lnTo>
                    <a:pt x="970" y="727"/>
                  </a:lnTo>
                  <a:lnTo>
                    <a:pt x="1018" y="485"/>
                  </a:lnTo>
                  <a:lnTo>
                    <a:pt x="970" y="291"/>
                  </a:lnTo>
                  <a:lnTo>
                    <a:pt x="873" y="146"/>
                  </a:lnTo>
                  <a:lnTo>
                    <a:pt x="679" y="49"/>
                  </a:lnTo>
                  <a:lnTo>
                    <a:pt x="48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37"/>
            <p:cNvSpPr/>
            <p:nvPr/>
          </p:nvSpPr>
          <p:spPr>
            <a:xfrm>
              <a:off x="1547826" y="3491660"/>
              <a:ext cx="23029" cy="23007"/>
            </a:xfrm>
            <a:custGeom>
              <a:rect b="b" l="l" r="r" t="t"/>
              <a:pathLst>
                <a:path extrusionOk="0" h="1018" w="1019">
                  <a:moveTo>
                    <a:pt x="486" y="0"/>
                  </a:moveTo>
                  <a:lnTo>
                    <a:pt x="292" y="49"/>
                  </a:lnTo>
                  <a:lnTo>
                    <a:pt x="146" y="146"/>
                  </a:lnTo>
                  <a:lnTo>
                    <a:pt x="49" y="291"/>
                  </a:lnTo>
                  <a:lnTo>
                    <a:pt x="1" y="485"/>
                  </a:lnTo>
                  <a:lnTo>
                    <a:pt x="49" y="727"/>
                  </a:lnTo>
                  <a:lnTo>
                    <a:pt x="146" y="872"/>
                  </a:lnTo>
                  <a:lnTo>
                    <a:pt x="292" y="969"/>
                  </a:lnTo>
                  <a:lnTo>
                    <a:pt x="486" y="1018"/>
                  </a:lnTo>
                  <a:lnTo>
                    <a:pt x="728" y="969"/>
                  </a:lnTo>
                  <a:lnTo>
                    <a:pt x="873" y="872"/>
                  </a:lnTo>
                  <a:lnTo>
                    <a:pt x="970" y="727"/>
                  </a:lnTo>
                  <a:lnTo>
                    <a:pt x="1019" y="485"/>
                  </a:lnTo>
                  <a:lnTo>
                    <a:pt x="970" y="291"/>
                  </a:lnTo>
                  <a:lnTo>
                    <a:pt x="873" y="146"/>
                  </a:lnTo>
                  <a:lnTo>
                    <a:pt x="728" y="49"/>
                  </a:lnTo>
                  <a:lnTo>
                    <a:pt x="4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37"/>
            <p:cNvSpPr/>
            <p:nvPr/>
          </p:nvSpPr>
          <p:spPr>
            <a:xfrm>
              <a:off x="1597117" y="3361303"/>
              <a:ext cx="111757" cy="23029"/>
            </a:xfrm>
            <a:custGeom>
              <a:rect b="b" l="l" r="r" t="t"/>
              <a:pathLst>
                <a:path extrusionOk="0" h="1019" w="4945">
                  <a:moveTo>
                    <a:pt x="534" y="1"/>
                  </a:moveTo>
                  <a:lnTo>
                    <a:pt x="292" y="49"/>
                  </a:lnTo>
                  <a:lnTo>
                    <a:pt x="146" y="146"/>
                  </a:lnTo>
                  <a:lnTo>
                    <a:pt x="49" y="340"/>
                  </a:lnTo>
                  <a:lnTo>
                    <a:pt x="1" y="534"/>
                  </a:lnTo>
                  <a:lnTo>
                    <a:pt x="49" y="728"/>
                  </a:lnTo>
                  <a:lnTo>
                    <a:pt x="146" y="873"/>
                  </a:lnTo>
                  <a:lnTo>
                    <a:pt x="292" y="970"/>
                  </a:lnTo>
                  <a:lnTo>
                    <a:pt x="534" y="1019"/>
                  </a:lnTo>
                  <a:lnTo>
                    <a:pt x="4460" y="1019"/>
                  </a:lnTo>
                  <a:lnTo>
                    <a:pt x="4654" y="970"/>
                  </a:lnTo>
                  <a:lnTo>
                    <a:pt x="4799" y="873"/>
                  </a:lnTo>
                  <a:lnTo>
                    <a:pt x="4944" y="728"/>
                  </a:lnTo>
                  <a:lnTo>
                    <a:pt x="4944" y="534"/>
                  </a:lnTo>
                  <a:lnTo>
                    <a:pt x="4944" y="340"/>
                  </a:lnTo>
                  <a:lnTo>
                    <a:pt x="4799" y="146"/>
                  </a:lnTo>
                  <a:lnTo>
                    <a:pt x="4654" y="49"/>
                  </a:lnTo>
                  <a:lnTo>
                    <a:pt x="44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37"/>
            <p:cNvSpPr/>
            <p:nvPr/>
          </p:nvSpPr>
          <p:spPr>
            <a:xfrm>
              <a:off x="1650792" y="3407316"/>
              <a:ext cx="58082" cy="23029"/>
            </a:xfrm>
            <a:custGeom>
              <a:rect b="b" l="l" r="r" t="t"/>
              <a:pathLst>
                <a:path extrusionOk="0" h="1019" w="2570">
                  <a:moveTo>
                    <a:pt x="534" y="0"/>
                  </a:moveTo>
                  <a:lnTo>
                    <a:pt x="340" y="49"/>
                  </a:lnTo>
                  <a:lnTo>
                    <a:pt x="146" y="146"/>
                  </a:lnTo>
                  <a:lnTo>
                    <a:pt x="49" y="291"/>
                  </a:lnTo>
                  <a:lnTo>
                    <a:pt x="1" y="533"/>
                  </a:lnTo>
                  <a:lnTo>
                    <a:pt x="49" y="727"/>
                  </a:lnTo>
                  <a:lnTo>
                    <a:pt x="146" y="873"/>
                  </a:lnTo>
                  <a:lnTo>
                    <a:pt x="340" y="970"/>
                  </a:lnTo>
                  <a:lnTo>
                    <a:pt x="534" y="1018"/>
                  </a:lnTo>
                  <a:lnTo>
                    <a:pt x="2085" y="1018"/>
                  </a:lnTo>
                  <a:lnTo>
                    <a:pt x="2279" y="970"/>
                  </a:lnTo>
                  <a:lnTo>
                    <a:pt x="2424" y="873"/>
                  </a:lnTo>
                  <a:lnTo>
                    <a:pt x="2569" y="727"/>
                  </a:lnTo>
                  <a:lnTo>
                    <a:pt x="2569" y="533"/>
                  </a:lnTo>
                  <a:lnTo>
                    <a:pt x="2569" y="291"/>
                  </a:lnTo>
                  <a:lnTo>
                    <a:pt x="2424" y="146"/>
                  </a:lnTo>
                  <a:lnTo>
                    <a:pt x="2279" y="49"/>
                  </a:lnTo>
                  <a:lnTo>
                    <a:pt x="208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37"/>
            <p:cNvSpPr/>
            <p:nvPr/>
          </p:nvSpPr>
          <p:spPr>
            <a:xfrm>
              <a:off x="1408723" y="3361303"/>
              <a:ext cx="112842" cy="23029"/>
            </a:xfrm>
            <a:custGeom>
              <a:rect b="b" l="l" r="r" t="t"/>
              <a:pathLst>
                <a:path extrusionOk="0" h="1019" w="4993">
                  <a:moveTo>
                    <a:pt x="534" y="1"/>
                  </a:moveTo>
                  <a:lnTo>
                    <a:pt x="340" y="49"/>
                  </a:lnTo>
                  <a:lnTo>
                    <a:pt x="195" y="146"/>
                  </a:lnTo>
                  <a:lnTo>
                    <a:pt x="49" y="340"/>
                  </a:lnTo>
                  <a:lnTo>
                    <a:pt x="1" y="534"/>
                  </a:lnTo>
                  <a:lnTo>
                    <a:pt x="49" y="728"/>
                  </a:lnTo>
                  <a:lnTo>
                    <a:pt x="195" y="873"/>
                  </a:lnTo>
                  <a:lnTo>
                    <a:pt x="340" y="970"/>
                  </a:lnTo>
                  <a:lnTo>
                    <a:pt x="534" y="1019"/>
                  </a:lnTo>
                  <a:lnTo>
                    <a:pt x="4460" y="1019"/>
                  </a:lnTo>
                  <a:lnTo>
                    <a:pt x="4654" y="970"/>
                  </a:lnTo>
                  <a:lnTo>
                    <a:pt x="4847" y="873"/>
                  </a:lnTo>
                  <a:lnTo>
                    <a:pt x="4944" y="728"/>
                  </a:lnTo>
                  <a:lnTo>
                    <a:pt x="4993" y="534"/>
                  </a:lnTo>
                  <a:lnTo>
                    <a:pt x="4944" y="340"/>
                  </a:lnTo>
                  <a:lnTo>
                    <a:pt x="4847" y="146"/>
                  </a:lnTo>
                  <a:lnTo>
                    <a:pt x="4654" y="49"/>
                  </a:lnTo>
                  <a:lnTo>
                    <a:pt x="44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37"/>
            <p:cNvSpPr/>
            <p:nvPr/>
          </p:nvSpPr>
          <p:spPr>
            <a:xfrm>
              <a:off x="1408723" y="3407316"/>
              <a:ext cx="59189" cy="23029"/>
            </a:xfrm>
            <a:custGeom>
              <a:rect b="b" l="l" r="r" t="t"/>
              <a:pathLst>
                <a:path extrusionOk="0" h="1019" w="2619">
                  <a:moveTo>
                    <a:pt x="534" y="0"/>
                  </a:moveTo>
                  <a:lnTo>
                    <a:pt x="340" y="49"/>
                  </a:lnTo>
                  <a:lnTo>
                    <a:pt x="195" y="146"/>
                  </a:lnTo>
                  <a:lnTo>
                    <a:pt x="49" y="291"/>
                  </a:lnTo>
                  <a:lnTo>
                    <a:pt x="1" y="533"/>
                  </a:lnTo>
                  <a:lnTo>
                    <a:pt x="49" y="727"/>
                  </a:lnTo>
                  <a:lnTo>
                    <a:pt x="195" y="873"/>
                  </a:lnTo>
                  <a:lnTo>
                    <a:pt x="340" y="970"/>
                  </a:lnTo>
                  <a:lnTo>
                    <a:pt x="534" y="1018"/>
                  </a:lnTo>
                  <a:lnTo>
                    <a:pt x="2085" y="1018"/>
                  </a:lnTo>
                  <a:lnTo>
                    <a:pt x="2279" y="970"/>
                  </a:lnTo>
                  <a:lnTo>
                    <a:pt x="2473" y="873"/>
                  </a:lnTo>
                  <a:lnTo>
                    <a:pt x="2570" y="727"/>
                  </a:lnTo>
                  <a:lnTo>
                    <a:pt x="2618" y="533"/>
                  </a:lnTo>
                  <a:lnTo>
                    <a:pt x="2570" y="291"/>
                  </a:lnTo>
                  <a:lnTo>
                    <a:pt x="2473" y="146"/>
                  </a:lnTo>
                  <a:lnTo>
                    <a:pt x="2279" y="49"/>
                  </a:lnTo>
                  <a:lnTo>
                    <a:pt x="208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4" name="Google Shape;474;p37"/>
          <p:cNvGrpSpPr/>
          <p:nvPr/>
        </p:nvGrpSpPr>
        <p:grpSpPr>
          <a:xfrm>
            <a:off x="5128675" y="1684062"/>
            <a:ext cx="391048" cy="392133"/>
            <a:chOff x="3288275" y="3315312"/>
            <a:chExt cx="391048" cy="392133"/>
          </a:xfrm>
        </p:grpSpPr>
        <p:sp>
          <p:nvSpPr>
            <p:cNvPr id="475" name="Google Shape;475;p37"/>
            <p:cNvSpPr/>
            <p:nvPr/>
          </p:nvSpPr>
          <p:spPr>
            <a:xfrm>
              <a:off x="3391240" y="3419362"/>
              <a:ext cx="185139" cy="185117"/>
            </a:xfrm>
            <a:custGeom>
              <a:rect b="b" l="l" r="r" t="t"/>
              <a:pathLst>
                <a:path extrusionOk="0" h="8191" w="8192">
                  <a:moveTo>
                    <a:pt x="5186" y="1018"/>
                  </a:moveTo>
                  <a:lnTo>
                    <a:pt x="5283" y="1357"/>
                  </a:lnTo>
                  <a:lnTo>
                    <a:pt x="5477" y="1697"/>
                  </a:lnTo>
                  <a:lnTo>
                    <a:pt x="5671" y="1988"/>
                  </a:lnTo>
                  <a:lnTo>
                    <a:pt x="5913" y="2278"/>
                  </a:lnTo>
                  <a:lnTo>
                    <a:pt x="6156" y="2521"/>
                  </a:lnTo>
                  <a:lnTo>
                    <a:pt x="6495" y="2714"/>
                  </a:lnTo>
                  <a:lnTo>
                    <a:pt x="6834" y="2860"/>
                  </a:lnTo>
                  <a:lnTo>
                    <a:pt x="7173" y="2957"/>
                  </a:lnTo>
                  <a:lnTo>
                    <a:pt x="7173" y="5186"/>
                  </a:lnTo>
                  <a:lnTo>
                    <a:pt x="6834" y="5283"/>
                  </a:lnTo>
                  <a:lnTo>
                    <a:pt x="6495" y="5429"/>
                  </a:lnTo>
                  <a:lnTo>
                    <a:pt x="6156" y="5622"/>
                  </a:lnTo>
                  <a:lnTo>
                    <a:pt x="5913" y="5865"/>
                  </a:lnTo>
                  <a:lnTo>
                    <a:pt x="5671" y="6155"/>
                  </a:lnTo>
                  <a:lnTo>
                    <a:pt x="5477" y="6446"/>
                  </a:lnTo>
                  <a:lnTo>
                    <a:pt x="5283" y="6786"/>
                  </a:lnTo>
                  <a:lnTo>
                    <a:pt x="5186" y="7173"/>
                  </a:lnTo>
                  <a:lnTo>
                    <a:pt x="3006" y="7173"/>
                  </a:lnTo>
                  <a:lnTo>
                    <a:pt x="2860" y="6737"/>
                  </a:lnTo>
                  <a:lnTo>
                    <a:pt x="2666" y="6349"/>
                  </a:lnTo>
                  <a:lnTo>
                    <a:pt x="2424" y="6010"/>
                  </a:lnTo>
                  <a:lnTo>
                    <a:pt x="2133" y="5719"/>
                  </a:lnTo>
                  <a:lnTo>
                    <a:pt x="1891" y="5525"/>
                  </a:lnTo>
                  <a:lnTo>
                    <a:pt x="1600" y="5380"/>
                  </a:lnTo>
                  <a:lnTo>
                    <a:pt x="1309" y="5283"/>
                  </a:lnTo>
                  <a:lnTo>
                    <a:pt x="1018" y="5186"/>
                  </a:lnTo>
                  <a:lnTo>
                    <a:pt x="1018" y="2957"/>
                  </a:lnTo>
                  <a:lnTo>
                    <a:pt x="1358" y="2860"/>
                  </a:lnTo>
                  <a:lnTo>
                    <a:pt x="1697" y="2714"/>
                  </a:lnTo>
                  <a:lnTo>
                    <a:pt x="2036" y="2521"/>
                  </a:lnTo>
                  <a:lnTo>
                    <a:pt x="2327" y="2278"/>
                  </a:lnTo>
                  <a:lnTo>
                    <a:pt x="2521" y="1988"/>
                  </a:lnTo>
                  <a:lnTo>
                    <a:pt x="2763" y="1697"/>
                  </a:lnTo>
                  <a:lnTo>
                    <a:pt x="2909" y="1357"/>
                  </a:lnTo>
                  <a:lnTo>
                    <a:pt x="3006" y="1018"/>
                  </a:lnTo>
                  <a:close/>
                  <a:moveTo>
                    <a:pt x="2327" y="0"/>
                  </a:moveTo>
                  <a:lnTo>
                    <a:pt x="2182" y="146"/>
                  </a:lnTo>
                  <a:lnTo>
                    <a:pt x="2085" y="291"/>
                  </a:lnTo>
                  <a:lnTo>
                    <a:pt x="2036" y="485"/>
                  </a:lnTo>
                  <a:lnTo>
                    <a:pt x="1988" y="776"/>
                  </a:lnTo>
                  <a:lnTo>
                    <a:pt x="1891" y="1067"/>
                  </a:lnTo>
                  <a:lnTo>
                    <a:pt x="1794" y="1357"/>
                  </a:lnTo>
                  <a:lnTo>
                    <a:pt x="1600" y="1551"/>
                  </a:lnTo>
                  <a:lnTo>
                    <a:pt x="1358" y="1745"/>
                  </a:lnTo>
                  <a:lnTo>
                    <a:pt x="1115" y="1891"/>
                  </a:lnTo>
                  <a:lnTo>
                    <a:pt x="825" y="1988"/>
                  </a:lnTo>
                  <a:lnTo>
                    <a:pt x="485" y="2036"/>
                  </a:lnTo>
                  <a:lnTo>
                    <a:pt x="291" y="2036"/>
                  </a:lnTo>
                  <a:lnTo>
                    <a:pt x="146" y="2181"/>
                  </a:lnTo>
                  <a:lnTo>
                    <a:pt x="49" y="2327"/>
                  </a:lnTo>
                  <a:lnTo>
                    <a:pt x="1" y="2521"/>
                  </a:lnTo>
                  <a:lnTo>
                    <a:pt x="1" y="5622"/>
                  </a:lnTo>
                  <a:lnTo>
                    <a:pt x="49" y="5816"/>
                  </a:lnTo>
                  <a:lnTo>
                    <a:pt x="146" y="6010"/>
                  </a:lnTo>
                  <a:lnTo>
                    <a:pt x="291" y="6107"/>
                  </a:lnTo>
                  <a:lnTo>
                    <a:pt x="485" y="6155"/>
                  </a:lnTo>
                  <a:lnTo>
                    <a:pt x="776" y="6155"/>
                  </a:lnTo>
                  <a:lnTo>
                    <a:pt x="1018" y="6252"/>
                  </a:lnTo>
                  <a:lnTo>
                    <a:pt x="1261" y="6349"/>
                  </a:lnTo>
                  <a:lnTo>
                    <a:pt x="1503" y="6495"/>
                  </a:lnTo>
                  <a:lnTo>
                    <a:pt x="1697" y="6737"/>
                  </a:lnTo>
                  <a:lnTo>
                    <a:pt x="1891" y="7028"/>
                  </a:lnTo>
                  <a:lnTo>
                    <a:pt x="1988" y="7319"/>
                  </a:lnTo>
                  <a:lnTo>
                    <a:pt x="2036" y="7658"/>
                  </a:lnTo>
                  <a:lnTo>
                    <a:pt x="2085" y="7852"/>
                  </a:lnTo>
                  <a:lnTo>
                    <a:pt x="2182" y="8046"/>
                  </a:lnTo>
                  <a:lnTo>
                    <a:pt x="2327" y="8143"/>
                  </a:lnTo>
                  <a:lnTo>
                    <a:pt x="2521" y="8191"/>
                  </a:lnTo>
                  <a:lnTo>
                    <a:pt x="5671" y="8191"/>
                  </a:lnTo>
                  <a:lnTo>
                    <a:pt x="5865" y="8143"/>
                  </a:lnTo>
                  <a:lnTo>
                    <a:pt x="6010" y="8046"/>
                  </a:lnTo>
                  <a:lnTo>
                    <a:pt x="6107" y="7852"/>
                  </a:lnTo>
                  <a:lnTo>
                    <a:pt x="6156" y="7658"/>
                  </a:lnTo>
                  <a:lnTo>
                    <a:pt x="6204" y="7367"/>
                  </a:lnTo>
                  <a:lnTo>
                    <a:pt x="6301" y="7076"/>
                  </a:lnTo>
                  <a:lnTo>
                    <a:pt x="6447" y="6834"/>
                  </a:lnTo>
                  <a:lnTo>
                    <a:pt x="6592" y="6592"/>
                  </a:lnTo>
                  <a:lnTo>
                    <a:pt x="6834" y="6398"/>
                  </a:lnTo>
                  <a:lnTo>
                    <a:pt x="7077" y="6252"/>
                  </a:lnTo>
                  <a:lnTo>
                    <a:pt x="7367" y="6155"/>
                  </a:lnTo>
                  <a:lnTo>
                    <a:pt x="7707" y="6155"/>
                  </a:lnTo>
                  <a:lnTo>
                    <a:pt x="7900" y="6107"/>
                  </a:lnTo>
                  <a:lnTo>
                    <a:pt x="8046" y="6010"/>
                  </a:lnTo>
                  <a:lnTo>
                    <a:pt x="8143" y="5816"/>
                  </a:lnTo>
                  <a:lnTo>
                    <a:pt x="8191" y="5622"/>
                  </a:lnTo>
                  <a:lnTo>
                    <a:pt x="8191" y="2521"/>
                  </a:lnTo>
                  <a:lnTo>
                    <a:pt x="8143" y="2327"/>
                  </a:lnTo>
                  <a:lnTo>
                    <a:pt x="8046" y="2181"/>
                  </a:lnTo>
                  <a:lnTo>
                    <a:pt x="7900" y="2036"/>
                  </a:lnTo>
                  <a:lnTo>
                    <a:pt x="7707" y="2036"/>
                  </a:lnTo>
                  <a:lnTo>
                    <a:pt x="7367" y="1988"/>
                  </a:lnTo>
                  <a:lnTo>
                    <a:pt x="7077" y="1891"/>
                  </a:lnTo>
                  <a:lnTo>
                    <a:pt x="6834" y="1745"/>
                  </a:lnTo>
                  <a:lnTo>
                    <a:pt x="6592" y="1551"/>
                  </a:lnTo>
                  <a:lnTo>
                    <a:pt x="6447" y="1357"/>
                  </a:lnTo>
                  <a:lnTo>
                    <a:pt x="6301" y="1067"/>
                  </a:lnTo>
                  <a:lnTo>
                    <a:pt x="6204" y="776"/>
                  </a:lnTo>
                  <a:lnTo>
                    <a:pt x="6156" y="485"/>
                  </a:lnTo>
                  <a:lnTo>
                    <a:pt x="6107" y="291"/>
                  </a:lnTo>
                  <a:lnTo>
                    <a:pt x="6010" y="146"/>
                  </a:lnTo>
                  <a:lnTo>
                    <a:pt x="586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37"/>
            <p:cNvSpPr/>
            <p:nvPr/>
          </p:nvSpPr>
          <p:spPr>
            <a:xfrm>
              <a:off x="3288275" y="3315312"/>
              <a:ext cx="391048" cy="392133"/>
            </a:xfrm>
            <a:custGeom>
              <a:rect b="b" l="l" r="r" t="t"/>
              <a:pathLst>
                <a:path extrusionOk="0" h="17351" w="17303">
                  <a:moveTo>
                    <a:pt x="13765" y="3587"/>
                  </a:moveTo>
                  <a:lnTo>
                    <a:pt x="13765" y="13813"/>
                  </a:lnTo>
                  <a:lnTo>
                    <a:pt x="3539" y="13813"/>
                  </a:lnTo>
                  <a:lnTo>
                    <a:pt x="3539" y="3587"/>
                  </a:lnTo>
                  <a:close/>
                  <a:moveTo>
                    <a:pt x="3054" y="0"/>
                  </a:moveTo>
                  <a:lnTo>
                    <a:pt x="2812" y="49"/>
                  </a:lnTo>
                  <a:lnTo>
                    <a:pt x="2667" y="146"/>
                  </a:lnTo>
                  <a:lnTo>
                    <a:pt x="2570" y="340"/>
                  </a:lnTo>
                  <a:lnTo>
                    <a:pt x="2521" y="533"/>
                  </a:lnTo>
                  <a:lnTo>
                    <a:pt x="2570" y="727"/>
                  </a:lnTo>
                  <a:lnTo>
                    <a:pt x="2667" y="873"/>
                  </a:lnTo>
                  <a:lnTo>
                    <a:pt x="2812" y="970"/>
                  </a:lnTo>
                  <a:lnTo>
                    <a:pt x="3054" y="1018"/>
                  </a:lnTo>
                  <a:lnTo>
                    <a:pt x="4557" y="1018"/>
                  </a:lnTo>
                  <a:lnTo>
                    <a:pt x="4557" y="2569"/>
                  </a:lnTo>
                  <a:lnTo>
                    <a:pt x="2812" y="2569"/>
                  </a:lnTo>
                  <a:lnTo>
                    <a:pt x="2667" y="2714"/>
                  </a:lnTo>
                  <a:lnTo>
                    <a:pt x="2570" y="2860"/>
                  </a:lnTo>
                  <a:lnTo>
                    <a:pt x="2521" y="3054"/>
                  </a:lnTo>
                  <a:lnTo>
                    <a:pt x="2521" y="4604"/>
                  </a:lnTo>
                  <a:lnTo>
                    <a:pt x="1019" y="4604"/>
                  </a:lnTo>
                  <a:lnTo>
                    <a:pt x="1019" y="3054"/>
                  </a:lnTo>
                  <a:lnTo>
                    <a:pt x="970" y="2860"/>
                  </a:lnTo>
                  <a:lnTo>
                    <a:pt x="873" y="2714"/>
                  </a:lnTo>
                  <a:lnTo>
                    <a:pt x="679" y="2569"/>
                  </a:lnTo>
                  <a:lnTo>
                    <a:pt x="292" y="2569"/>
                  </a:lnTo>
                  <a:lnTo>
                    <a:pt x="146" y="2714"/>
                  </a:lnTo>
                  <a:lnTo>
                    <a:pt x="1" y="2860"/>
                  </a:lnTo>
                  <a:lnTo>
                    <a:pt x="1" y="3054"/>
                  </a:lnTo>
                  <a:lnTo>
                    <a:pt x="1" y="5089"/>
                  </a:lnTo>
                  <a:lnTo>
                    <a:pt x="1" y="5283"/>
                  </a:lnTo>
                  <a:lnTo>
                    <a:pt x="146" y="5428"/>
                  </a:lnTo>
                  <a:lnTo>
                    <a:pt x="292" y="5574"/>
                  </a:lnTo>
                  <a:lnTo>
                    <a:pt x="486" y="5622"/>
                  </a:lnTo>
                  <a:lnTo>
                    <a:pt x="2521" y="5622"/>
                  </a:lnTo>
                  <a:lnTo>
                    <a:pt x="2521" y="6979"/>
                  </a:lnTo>
                  <a:lnTo>
                    <a:pt x="486" y="6979"/>
                  </a:lnTo>
                  <a:lnTo>
                    <a:pt x="292" y="7028"/>
                  </a:lnTo>
                  <a:lnTo>
                    <a:pt x="146" y="7125"/>
                  </a:lnTo>
                  <a:lnTo>
                    <a:pt x="1" y="7270"/>
                  </a:lnTo>
                  <a:lnTo>
                    <a:pt x="1" y="7464"/>
                  </a:lnTo>
                  <a:lnTo>
                    <a:pt x="1" y="7706"/>
                  </a:lnTo>
                  <a:lnTo>
                    <a:pt x="146" y="7852"/>
                  </a:lnTo>
                  <a:lnTo>
                    <a:pt x="292" y="7949"/>
                  </a:lnTo>
                  <a:lnTo>
                    <a:pt x="486" y="7997"/>
                  </a:lnTo>
                  <a:lnTo>
                    <a:pt x="2521" y="7997"/>
                  </a:lnTo>
                  <a:lnTo>
                    <a:pt x="2521" y="9354"/>
                  </a:lnTo>
                  <a:lnTo>
                    <a:pt x="486" y="9354"/>
                  </a:lnTo>
                  <a:lnTo>
                    <a:pt x="292" y="9402"/>
                  </a:lnTo>
                  <a:lnTo>
                    <a:pt x="146" y="9499"/>
                  </a:lnTo>
                  <a:lnTo>
                    <a:pt x="1" y="9693"/>
                  </a:lnTo>
                  <a:lnTo>
                    <a:pt x="1" y="9887"/>
                  </a:lnTo>
                  <a:lnTo>
                    <a:pt x="1" y="10081"/>
                  </a:lnTo>
                  <a:lnTo>
                    <a:pt x="146" y="10226"/>
                  </a:lnTo>
                  <a:lnTo>
                    <a:pt x="292" y="10323"/>
                  </a:lnTo>
                  <a:lnTo>
                    <a:pt x="486" y="10372"/>
                  </a:lnTo>
                  <a:lnTo>
                    <a:pt x="2521" y="10372"/>
                  </a:lnTo>
                  <a:lnTo>
                    <a:pt x="2521" y="11777"/>
                  </a:lnTo>
                  <a:lnTo>
                    <a:pt x="486" y="11777"/>
                  </a:lnTo>
                  <a:lnTo>
                    <a:pt x="292" y="11826"/>
                  </a:lnTo>
                  <a:lnTo>
                    <a:pt x="146" y="11923"/>
                  </a:lnTo>
                  <a:lnTo>
                    <a:pt x="1" y="12068"/>
                  </a:lnTo>
                  <a:lnTo>
                    <a:pt x="1" y="12262"/>
                  </a:lnTo>
                  <a:lnTo>
                    <a:pt x="1" y="14297"/>
                  </a:lnTo>
                  <a:lnTo>
                    <a:pt x="1" y="14491"/>
                  </a:lnTo>
                  <a:lnTo>
                    <a:pt x="146" y="14685"/>
                  </a:lnTo>
                  <a:lnTo>
                    <a:pt x="292" y="14782"/>
                  </a:lnTo>
                  <a:lnTo>
                    <a:pt x="486" y="14831"/>
                  </a:lnTo>
                  <a:lnTo>
                    <a:pt x="679" y="14782"/>
                  </a:lnTo>
                  <a:lnTo>
                    <a:pt x="873" y="14685"/>
                  </a:lnTo>
                  <a:lnTo>
                    <a:pt x="970" y="14491"/>
                  </a:lnTo>
                  <a:lnTo>
                    <a:pt x="1019" y="14297"/>
                  </a:lnTo>
                  <a:lnTo>
                    <a:pt x="1019" y="12795"/>
                  </a:lnTo>
                  <a:lnTo>
                    <a:pt x="2521" y="12795"/>
                  </a:lnTo>
                  <a:lnTo>
                    <a:pt x="2521" y="14297"/>
                  </a:lnTo>
                  <a:lnTo>
                    <a:pt x="2570" y="14491"/>
                  </a:lnTo>
                  <a:lnTo>
                    <a:pt x="2667" y="14685"/>
                  </a:lnTo>
                  <a:lnTo>
                    <a:pt x="2812" y="14782"/>
                  </a:lnTo>
                  <a:lnTo>
                    <a:pt x="3054" y="14831"/>
                  </a:lnTo>
                  <a:lnTo>
                    <a:pt x="4557" y="14831"/>
                  </a:lnTo>
                  <a:lnTo>
                    <a:pt x="4557" y="16333"/>
                  </a:lnTo>
                  <a:lnTo>
                    <a:pt x="3054" y="16333"/>
                  </a:lnTo>
                  <a:lnTo>
                    <a:pt x="2812" y="16381"/>
                  </a:lnTo>
                  <a:lnTo>
                    <a:pt x="2667" y="16478"/>
                  </a:lnTo>
                  <a:lnTo>
                    <a:pt x="2570" y="16624"/>
                  </a:lnTo>
                  <a:lnTo>
                    <a:pt x="2521" y="16866"/>
                  </a:lnTo>
                  <a:lnTo>
                    <a:pt x="2570" y="17060"/>
                  </a:lnTo>
                  <a:lnTo>
                    <a:pt x="2667" y="17205"/>
                  </a:lnTo>
                  <a:lnTo>
                    <a:pt x="2812" y="17302"/>
                  </a:lnTo>
                  <a:lnTo>
                    <a:pt x="3054" y="17351"/>
                  </a:lnTo>
                  <a:lnTo>
                    <a:pt x="5041" y="17351"/>
                  </a:lnTo>
                  <a:lnTo>
                    <a:pt x="5284" y="17302"/>
                  </a:lnTo>
                  <a:lnTo>
                    <a:pt x="5429" y="17205"/>
                  </a:lnTo>
                  <a:lnTo>
                    <a:pt x="5526" y="17060"/>
                  </a:lnTo>
                  <a:lnTo>
                    <a:pt x="5574" y="16866"/>
                  </a:lnTo>
                  <a:lnTo>
                    <a:pt x="5574" y="14831"/>
                  </a:lnTo>
                  <a:lnTo>
                    <a:pt x="6931" y="14831"/>
                  </a:lnTo>
                  <a:lnTo>
                    <a:pt x="6931" y="16866"/>
                  </a:lnTo>
                  <a:lnTo>
                    <a:pt x="6980" y="17060"/>
                  </a:lnTo>
                  <a:lnTo>
                    <a:pt x="7077" y="17205"/>
                  </a:lnTo>
                  <a:lnTo>
                    <a:pt x="7271" y="17302"/>
                  </a:lnTo>
                  <a:lnTo>
                    <a:pt x="7465" y="17351"/>
                  </a:lnTo>
                  <a:lnTo>
                    <a:pt x="7658" y="17302"/>
                  </a:lnTo>
                  <a:lnTo>
                    <a:pt x="7804" y="17205"/>
                  </a:lnTo>
                  <a:lnTo>
                    <a:pt x="7949" y="17060"/>
                  </a:lnTo>
                  <a:lnTo>
                    <a:pt x="7949" y="16866"/>
                  </a:lnTo>
                  <a:lnTo>
                    <a:pt x="7949" y="14831"/>
                  </a:lnTo>
                  <a:lnTo>
                    <a:pt x="9355" y="14831"/>
                  </a:lnTo>
                  <a:lnTo>
                    <a:pt x="9355" y="16866"/>
                  </a:lnTo>
                  <a:lnTo>
                    <a:pt x="9403" y="17060"/>
                  </a:lnTo>
                  <a:lnTo>
                    <a:pt x="9500" y="17205"/>
                  </a:lnTo>
                  <a:lnTo>
                    <a:pt x="9645" y="17302"/>
                  </a:lnTo>
                  <a:lnTo>
                    <a:pt x="9839" y="17351"/>
                  </a:lnTo>
                  <a:lnTo>
                    <a:pt x="10033" y="17302"/>
                  </a:lnTo>
                  <a:lnTo>
                    <a:pt x="10227" y="17205"/>
                  </a:lnTo>
                  <a:lnTo>
                    <a:pt x="10324" y="17060"/>
                  </a:lnTo>
                  <a:lnTo>
                    <a:pt x="10372" y="16866"/>
                  </a:lnTo>
                  <a:lnTo>
                    <a:pt x="10372" y="14831"/>
                  </a:lnTo>
                  <a:lnTo>
                    <a:pt x="11729" y="14831"/>
                  </a:lnTo>
                  <a:lnTo>
                    <a:pt x="11729" y="16866"/>
                  </a:lnTo>
                  <a:lnTo>
                    <a:pt x="11778" y="17060"/>
                  </a:lnTo>
                  <a:lnTo>
                    <a:pt x="11875" y="17205"/>
                  </a:lnTo>
                  <a:lnTo>
                    <a:pt x="12069" y="17302"/>
                  </a:lnTo>
                  <a:lnTo>
                    <a:pt x="12263" y="17351"/>
                  </a:lnTo>
                  <a:lnTo>
                    <a:pt x="14298" y="17351"/>
                  </a:lnTo>
                  <a:lnTo>
                    <a:pt x="14492" y="17302"/>
                  </a:lnTo>
                  <a:lnTo>
                    <a:pt x="14637" y="17205"/>
                  </a:lnTo>
                  <a:lnTo>
                    <a:pt x="14734" y="17060"/>
                  </a:lnTo>
                  <a:lnTo>
                    <a:pt x="14783" y="16866"/>
                  </a:lnTo>
                  <a:lnTo>
                    <a:pt x="14734" y="16624"/>
                  </a:lnTo>
                  <a:lnTo>
                    <a:pt x="14637" y="16478"/>
                  </a:lnTo>
                  <a:lnTo>
                    <a:pt x="14492" y="16381"/>
                  </a:lnTo>
                  <a:lnTo>
                    <a:pt x="14298" y="16333"/>
                  </a:lnTo>
                  <a:lnTo>
                    <a:pt x="12747" y="16333"/>
                  </a:lnTo>
                  <a:lnTo>
                    <a:pt x="12747" y="14831"/>
                  </a:lnTo>
                  <a:lnTo>
                    <a:pt x="14298" y="14831"/>
                  </a:lnTo>
                  <a:lnTo>
                    <a:pt x="14492" y="14782"/>
                  </a:lnTo>
                  <a:lnTo>
                    <a:pt x="14637" y="14685"/>
                  </a:lnTo>
                  <a:lnTo>
                    <a:pt x="14734" y="14491"/>
                  </a:lnTo>
                  <a:lnTo>
                    <a:pt x="14783" y="14297"/>
                  </a:lnTo>
                  <a:lnTo>
                    <a:pt x="14783" y="12795"/>
                  </a:lnTo>
                  <a:lnTo>
                    <a:pt x="16285" y="12795"/>
                  </a:lnTo>
                  <a:lnTo>
                    <a:pt x="16285" y="14297"/>
                  </a:lnTo>
                  <a:lnTo>
                    <a:pt x="16334" y="14491"/>
                  </a:lnTo>
                  <a:lnTo>
                    <a:pt x="16479" y="14685"/>
                  </a:lnTo>
                  <a:lnTo>
                    <a:pt x="16624" y="14782"/>
                  </a:lnTo>
                  <a:lnTo>
                    <a:pt x="16818" y="14831"/>
                  </a:lnTo>
                  <a:lnTo>
                    <a:pt x="17012" y="14782"/>
                  </a:lnTo>
                  <a:lnTo>
                    <a:pt x="17158" y="14685"/>
                  </a:lnTo>
                  <a:lnTo>
                    <a:pt x="17303" y="14491"/>
                  </a:lnTo>
                  <a:lnTo>
                    <a:pt x="17303" y="14297"/>
                  </a:lnTo>
                  <a:lnTo>
                    <a:pt x="17303" y="12262"/>
                  </a:lnTo>
                  <a:lnTo>
                    <a:pt x="17303" y="12068"/>
                  </a:lnTo>
                  <a:lnTo>
                    <a:pt x="17158" y="11923"/>
                  </a:lnTo>
                  <a:lnTo>
                    <a:pt x="17012" y="11826"/>
                  </a:lnTo>
                  <a:lnTo>
                    <a:pt x="16818" y="11777"/>
                  </a:lnTo>
                  <a:lnTo>
                    <a:pt x="14783" y="11777"/>
                  </a:lnTo>
                  <a:lnTo>
                    <a:pt x="14783" y="10372"/>
                  </a:lnTo>
                  <a:lnTo>
                    <a:pt x="16818" y="10372"/>
                  </a:lnTo>
                  <a:lnTo>
                    <a:pt x="17012" y="10323"/>
                  </a:lnTo>
                  <a:lnTo>
                    <a:pt x="17158" y="10226"/>
                  </a:lnTo>
                  <a:lnTo>
                    <a:pt x="17303" y="10081"/>
                  </a:lnTo>
                  <a:lnTo>
                    <a:pt x="17303" y="9887"/>
                  </a:lnTo>
                  <a:lnTo>
                    <a:pt x="17303" y="9693"/>
                  </a:lnTo>
                  <a:lnTo>
                    <a:pt x="17158" y="9499"/>
                  </a:lnTo>
                  <a:lnTo>
                    <a:pt x="17012" y="9402"/>
                  </a:lnTo>
                  <a:lnTo>
                    <a:pt x="16818" y="9354"/>
                  </a:lnTo>
                  <a:lnTo>
                    <a:pt x="14783" y="9354"/>
                  </a:lnTo>
                  <a:lnTo>
                    <a:pt x="14783" y="7997"/>
                  </a:lnTo>
                  <a:lnTo>
                    <a:pt x="16818" y="7997"/>
                  </a:lnTo>
                  <a:lnTo>
                    <a:pt x="17012" y="7949"/>
                  </a:lnTo>
                  <a:lnTo>
                    <a:pt x="17158" y="7852"/>
                  </a:lnTo>
                  <a:lnTo>
                    <a:pt x="17303" y="7706"/>
                  </a:lnTo>
                  <a:lnTo>
                    <a:pt x="17303" y="7464"/>
                  </a:lnTo>
                  <a:lnTo>
                    <a:pt x="17303" y="7270"/>
                  </a:lnTo>
                  <a:lnTo>
                    <a:pt x="17158" y="7125"/>
                  </a:lnTo>
                  <a:lnTo>
                    <a:pt x="17012" y="7028"/>
                  </a:lnTo>
                  <a:lnTo>
                    <a:pt x="16818" y="6979"/>
                  </a:lnTo>
                  <a:lnTo>
                    <a:pt x="14783" y="6979"/>
                  </a:lnTo>
                  <a:lnTo>
                    <a:pt x="14783" y="5622"/>
                  </a:lnTo>
                  <a:lnTo>
                    <a:pt x="16818" y="5622"/>
                  </a:lnTo>
                  <a:lnTo>
                    <a:pt x="17012" y="5574"/>
                  </a:lnTo>
                  <a:lnTo>
                    <a:pt x="17158" y="5428"/>
                  </a:lnTo>
                  <a:lnTo>
                    <a:pt x="17303" y="5283"/>
                  </a:lnTo>
                  <a:lnTo>
                    <a:pt x="17303" y="5089"/>
                  </a:lnTo>
                  <a:lnTo>
                    <a:pt x="17303" y="3054"/>
                  </a:lnTo>
                  <a:lnTo>
                    <a:pt x="17303" y="2860"/>
                  </a:lnTo>
                  <a:lnTo>
                    <a:pt x="17158" y="2714"/>
                  </a:lnTo>
                  <a:lnTo>
                    <a:pt x="17012" y="2569"/>
                  </a:lnTo>
                  <a:lnTo>
                    <a:pt x="16624" y="2569"/>
                  </a:lnTo>
                  <a:lnTo>
                    <a:pt x="16479" y="2714"/>
                  </a:lnTo>
                  <a:lnTo>
                    <a:pt x="16334" y="2860"/>
                  </a:lnTo>
                  <a:lnTo>
                    <a:pt x="16285" y="3054"/>
                  </a:lnTo>
                  <a:lnTo>
                    <a:pt x="16285" y="4604"/>
                  </a:lnTo>
                  <a:lnTo>
                    <a:pt x="14783" y="4604"/>
                  </a:lnTo>
                  <a:lnTo>
                    <a:pt x="14783" y="3054"/>
                  </a:lnTo>
                  <a:lnTo>
                    <a:pt x="14734" y="2860"/>
                  </a:lnTo>
                  <a:lnTo>
                    <a:pt x="14637" y="2714"/>
                  </a:lnTo>
                  <a:lnTo>
                    <a:pt x="14492" y="2569"/>
                  </a:lnTo>
                  <a:lnTo>
                    <a:pt x="12747" y="2569"/>
                  </a:lnTo>
                  <a:lnTo>
                    <a:pt x="12747" y="1018"/>
                  </a:lnTo>
                  <a:lnTo>
                    <a:pt x="14298" y="1018"/>
                  </a:lnTo>
                  <a:lnTo>
                    <a:pt x="14492" y="970"/>
                  </a:lnTo>
                  <a:lnTo>
                    <a:pt x="14637" y="873"/>
                  </a:lnTo>
                  <a:lnTo>
                    <a:pt x="14734" y="727"/>
                  </a:lnTo>
                  <a:lnTo>
                    <a:pt x="14783" y="533"/>
                  </a:lnTo>
                  <a:lnTo>
                    <a:pt x="14734" y="340"/>
                  </a:lnTo>
                  <a:lnTo>
                    <a:pt x="14637" y="146"/>
                  </a:lnTo>
                  <a:lnTo>
                    <a:pt x="14492" y="49"/>
                  </a:lnTo>
                  <a:lnTo>
                    <a:pt x="14298" y="0"/>
                  </a:lnTo>
                  <a:lnTo>
                    <a:pt x="12263" y="0"/>
                  </a:lnTo>
                  <a:lnTo>
                    <a:pt x="12069" y="49"/>
                  </a:lnTo>
                  <a:lnTo>
                    <a:pt x="11875" y="146"/>
                  </a:lnTo>
                  <a:lnTo>
                    <a:pt x="11778" y="340"/>
                  </a:lnTo>
                  <a:lnTo>
                    <a:pt x="11729" y="533"/>
                  </a:lnTo>
                  <a:lnTo>
                    <a:pt x="11729" y="2569"/>
                  </a:lnTo>
                  <a:lnTo>
                    <a:pt x="10372" y="2569"/>
                  </a:lnTo>
                  <a:lnTo>
                    <a:pt x="10372" y="533"/>
                  </a:lnTo>
                  <a:lnTo>
                    <a:pt x="10324" y="340"/>
                  </a:lnTo>
                  <a:lnTo>
                    <a:pt x="10227" y="146"/>
                  </a:lnTo>
                  <a:lnTo>
                    <a:pt x="10033" y="49"/>
                  </a:lnTo>
                  <a:lnTo>
                    <a:pt x="9839" y="0"/>
                  </a:lnTo>
                  <a:lnTo>
                    <a:pt x="9645" y="49"/>
                  </a:lnTo>
                  <a:lnTo>
                    <a:pt x="9500" y="146"/>
                  </a:lnTo>
                  <a:lnTo>
                    <a:pt x="9403" y="340"/>
                  </a:lnTo>
                  <a:lnTo>
                    <a:pt x="9355" y="533"/>
                  </a:lnTo>
                  <a:lnTo>
                    <a:pt x="9355" y="2569"/>
                  </a:lnTo>
                  <a:lnTo>
                    <a:pt x="7949" y="2569"/>
                  </a:lnTo>
                  <a:lnTo>
                    <a:pt x="7949" y="533"/>
                  </a:lnTo>
                  <a:lnTo>
                    <a:pt x="7949" y="340"/>
                  </a:lnTo>
                  <a:lnTo>
                    <a:pt x="7804" y="146"/>
                  </a:lnTo>
                  <a:lnTo>
                    <a:pt x="7658" y="49"/>
                  </a:lnTo>
                  <a:lnTo>
                    <a:pt x="7465" y="0"/>
                  </a:lnTo>
                  <a:lnTo>
                    <a:pt x="7271" y="49"/>
                  </a:lnTo>
                  <a:lnTo>
                    <a:pt x="7077" y="146"/>
                  </a:lnTo>
                  <a:lnTo>
                    <a:pt x="6980" y="340"/>
                  </a:lnTo>
                  <a:lnTo>
                    <a:pt x="6931" y="533"/>
                  </a:lnTo>
                  <a:lnTo>
                    <a:pt x="6931" y="2569"/>
                  </a:lnTo>
                  <a:lnTo>
                    <a:pt x="5574" y="2569"/>
                  </a:lnTo>
                  <a:lnTo>
                    <a:pt x="5574" y="533"/>
                  </a:lnTo>
                  <a:lnTo>
                    <a:pt x="5526" y="340"/>
                  </a:lnTo>
                  <a:lnTo>
                    <a:pt x="5429" y="146"/>
                  </a:lnTo>
                  <a:lnTo>
                    <a:pt x="5284" y="49"/>
                  </a:lnTo>
                  <a:lnTo>
                    <a:pt x="5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37"/>
            <p:cNvSpPr/>
            <p:nvPr/>
          </p:nvSpPr>
          <p:spPr>
            <a:xfrm>
              <a:off x="3391240" y="3419362"/>
              <a:ext cx="23029" cy="23029"/>
            </a:xfrm>
            <a:custGeom>
              <a:rect b="b" l="l" r="r" t="t"/>
              <a:pathLst>
                <a:path extrusionOk="0" h="1019" w="1019">
                  <a:moveTo>
                    <a:pt x="291" y="0"/>
                  </a:moveTo>
                  <a:lnTo>
                    <a:pt x="146" y="146"/>
                  </a:lnTo>
                  <a:lnTo>
                    <a:pt x="49" y="291"/>
                  </a:lnTo>
                  <a:lnTo>
                    <a:pt x="1" y="485"/>
                  </a:lnTo>
                  <a:lnTo>
                    <a:pt x="49" y="679"/>
                  </a:lnTo>
                  <a:lnTo>
                    <a:pt x="146" y="824"/>
                  </a:lnTo>
                  <a:lnTo>
                    <a:pt x="291" y="970"/>
                  </a:lnTo>
                  <a:lnTo>
                    <a:pt x="485" y="1018"/>
                  </a:lnTo>
                  <a:lnTo>
                    <a:pt x="728" y="970"/>
                  </a:lnTo>
                  <a:lnTo>
                    <a:pt x="873" y="824"/>
                  </a:lnTo>
                  <a:lnTo>
                    <a:pt x="970" y="679"/>
                  </a:lnTo>
                  <a:lnTo>
                    <a:pt x="1018" y="485"/>
                  </a:lnTo>
                  <a:lnTo>
                    <a:pt x="970" y="291"/>
                  </a:lnTo>
                  <a:lnTo>
                    <a:pt x="873" y="146"/>
                  </a:lnTo>
                  <a:lnTo>
                    <a:pt x="72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7"/>
            <p:cNvSpPr/>
            <p:nvPr/>
          </p:nvSpPr>
          <p:spPr>
            <a:xfrm>
              <a:off x="3553350" y="3419362"/>
              <a:ext cx="23029" cy="23029"/>
            </a:xfrm>
            <a:custGeom>
              <a:rect b="b" l="l" r="r" t="t"/>
              <a:pathLst>
                <a:path extrusionOk="0" h="1019" w="1019">
                  <a:moveTo>
                    <a:pt x="340" y="0"/>
                  </a:moveTo>
                  <a:lnTo>
                    <a:pt x="146" y="146"/>
                  </a:lnTo>
                  <a:lnTo>
                    <a:pt x="49" y="291"/>
                  </a:lnTo>
                  <a:lnTo>
                    <a:pt x="0" y="485"/>
                  </a:lnTo>
                  <a:lnTo>
                    <a:pt x="49" y="679"/>
                  </a:lnTo>
                  <a:lnTo>
                    <a:pt x="146" y="824"/>
                  </a:lnTo>
                  <a:lnTo>
                    <a:pt x="340" y="970"/>
                  </a:lnTo>
                  <a:lnTo>
                    <a:pt x="534" y="1018"/>
                  </a:lnTo>
                  <a:lnTo>
                    <a:pt x="727" y="970"/>
                  </a:lnTo>
                  <a:lnTo>
                    <a:pt x="873" y="824"/>
                  </a:lnTo>
                  <a:lnTo>
                    <a:pt x="970" y="679"/>
                  </a:lnTo>
                  <a:lnTo>
                    <a:pt x="1018" y="485"/>
                  </a:lnTo>
                  <a:lnTo>
                    <a:pt x="970" y="291"/>
                  </a:lnTo>
                  <a:lnTo>
                    <a:pt x="873" y="146"/>
                  </a:lnTo>
                  <a:lnTo>
                    <a:pt x="72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7"/>
            <p:cNvSpPr/>
            <p:nvPr/>
          </p:nvSpPr>
          <p:spPr>
            <a:xfrm>
              <a:off x="3391240" y="3581472"/>
              <a:ext cx="23029" cy="23007"/>
            </a:xfrm>
            <a:custGeom>
              <a:rect b="b" l="l" r="r" t="t"/>
              <a:pathLst>
                <a:path extrusionOk="0" h="1018" w="1019">
                  <a:moveTo>
                    <a:pt x="485" y="0"/>
                  </a:moveTo>
                  <a:lnTo>
                    <a:pt x="291" y="49"/>
                  </a:lnTo>
                  <a:lnTo>
                    <a:pt x="146" y="146"/>
                  </a:lnTo>
                  <a:lnTo>
                    <a:pt x="49" y="291"/>
                  </a:lnTo>
                  <a:lnTo>
                    <a:pt x="1" y="485"/>
                  </a:lnTo>
                  <a:lnTo>
                    <a:pt x="49" y="679"/>
                  </a:lnTo>
                  <a:lnTo>
                    <a:pt x="146" y="873"/>
                  </a:lnTo>
                  <a:lnTo>
                    <a:pt x="291" y="970"/>
                  </a:lnTo>
                  <a:lnTo>
                    <a:pt x="485" y="1018"/>
                  </a:lnTo>
                  <a:lnTo>
                    <a:pt x="728" y="970"/>
                  </a:lnTo>
                  <a:lnTo>
                    <a:pt x="873" y="873"/>
                  </a:lnTo>
                  <a:lnTo>
                    <a:pt x="970" y="679"/>
                  </a:lnTo>
                  <a:lnTo>
                    <a:pt x="1018" y="485"/>
                  </a:lnTo>
                  <a:lnTo>
                    <a:pt x="970" y="291"/>
                  </a:lnTo>
                  <a:lnTo>
                    <a:pt x="873" y="146"/>
                  </a:lnTo>
                  <a:lnTo>
                    <a:pt x="728" y="49"/>
                  </a:lnTo>
                  <a:lnTo>
                    <a:pt x="48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37"/>
            <p:cNvSpPr/>
            <p:nvPr/>
          </p:nvSpPr>
          <p:spPr>
            <a:xfrm>
              <a:off x="3553350" y="3581472"/>
              <a:ext cx="23029" cy="23007"/>
            </a:xfrm>
            <a:custGeom>
              <a:rect b="b" l="l" r="r" t="t"/>
              <a:pathLst>
                <a:path extrusionOk="0" h="1018" w="1019">
                  <a:moveTo>
                    <a:pt x="534" y="0"/>
                  </a:moveTo>
                  <a:lnTo>
                    <a:pt x="340" y="49"/>
                  </a:lnTo>
                  <a:lnTo>
                    <a:pt x="146" y="146"/>
                  </a:lnTo>
                  <a:lnTo>
                    <a:pt x="49" y="291"/>
                  </a:lnTo>
                  <a:lnTo>
                    <a:pt x="0" y="485"/>
                  </a:lnTo>
                  <a:lnTo>
                    <a:pt x="49" y="679"/>
                  </a:lnTo>
                  <a:lnTo>
                    <a:pt x="146" y="873"/>
                  </a:lnTo>
                  <a:lnTo>
                    <a:pt x="340" y="970"/>
                  </a:lnTo>
                  <a:lnTo>
                    <a:pt x="534" y="1018"/>
                  </a:lnTo>
                  <a:lnTo>
                    <a:pt x="727" y="970"/>
                  </a:lnTo>
                  <a:lnTo>
                    <a:pt x="873" y="873"/>
                  </a:lnTo>
                  <a:lnTo>
                    <a:pt x="970" y="679"/>
                  </a:lnTo>
                  <a:lnTo>
                    <a:pt x="1018" y="485"/>
                  </a:lnTo>
                  <a:lnTo>
                    <a:pt x="970" y="291"/>
                  </a:lnTo>
                  <a:lnTo>
                    <a:pt x="873" y="146"/>
                  </a:lnTo>
                  <a:lnTo>
                    <a:pt x="727" y="49"/>
                  </a:lnTo>
                  <a:lnTo>
                    <a:pt x="53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81" name="Google Shape;481;p37"/>
          <p:cNvCxnSpPr>
            <a:stCxn id="440" idx="6"/>
            <a:endCxn id="449" idx="2"/>
          </p:cNvCxnSpPr>
          <p:nvPr/>
        </p:nvCxnSpPr>
        <p:spPr>
          <a:xfrm>
            <a:off x="4190950" y="1880113"/>
            <a:ext cx="751200" cy="0"/>
          </a:xfrm>
          <a:prstGeom prst="straightConnector1">
            <a:avLst/>
          </a:prstGeom>
          <a:noFill/>
          <a:ln cap="flat" cmpd="sng" w="9525">
            <a:solidFill>
              <a:schemeClr val="dk1"/>
            </a:solidFill>
            <a:prstDash val="solid"/>
            <a:round/>
            <a:headEnd len="med" w="med" type="none"/>
            <a:tailEnd len="med" w="med" type="none"/>
          </a:ln>
        </p:spPr>
      </p:cxnSp>
      <p:cxnSp>
        <p:nvCxnSpPr>
          <p:cNvPr id="482" name="Google Shape;482;p37"/>
          <p:cNvCxnSpPr>
            <a:stCxn id="449" idx="4"/>
            <a:endCxn id="450" idx="0"/>
          </p:cNvCxnSpPr>
          <p:nvPr/>
        </p:nvCxnSpPr>
        <p:spPr>
          <a:xfrm>
            <a:off x="5324225" y="2262163"/>
            <a:ext cx="0" cy="750300"/>
          </a:xfrm>
          <a:prstGeom prst="straightConnector1">
            <a:avLst/>
          </a:prstGeom>
          <a:noFill/>
          <a:ln cap="flat" cmpd="sng" w="9525">
            <a:solidFill>
              <a:schemeClr val="dk1"/>
            </a:solidFill>
            <a:prstDash val="solid"/>
            <a:round/>
            <a:headEnd len="med" w="med" type="none"/>
            <a:tailEnd len="med" w="med" type="none"/>
          </a:ln>
        </p:spPr>
      </p:cxnSp>
      <p:cxnSp>
        <p:nvCxnSpPr>
          <p:cNvPr id="483" name="Google Shape;483;p37"/>
          <p:cNvCxnSpPr>
            <a:stCxn id="450" idx="2"/>
            <a:endCxn id="451" idx="6"/>
          </p:cNvCxnSpPr>
          <p:nvPr/>
        </p:nvCxnSpPr>
        <p:spPr>
          <a:xfrm rot="10800000">
            <a:off x="4190950" y="3394588"/>
            <a:ext cx="751200" cy="0"/>
          </a:xfrm>
          <a:prstGeom prst="straightConnector1">
            <a:avLst/>
          </a:prstGeom>
          <a:noFill/>
          <a:ln cap="flat" cmpd="sng" w="9525">
            <a:solidFill>
              <a:schemeClr val="dk1"/>
            </a:solidFill>
            <a:prstDash val="solid"/>
            <a:round/>
            <a:headEnd len="med" w="med" type="none"/>
            <a:tailEnd len="med" w="med" type="none"/>
          </a:ln>
        </p:spPr>
      </p:cxnSp>
      <p:cxnSp>
        <p:nvCxnSpPr>
          <p:cNvPr id="484" name="Google Shape;484;p37"/>
          <p:cNvCxnSpPr>
            <a:stCxn id="440" idx="4"/>
            <a:endCxn id="451" idx="0"/>
          </p:cNvCxnSpPr>
          <p:nvPr/>
        </p:nvCxnSpPr>
        <p:spPr>
          <a:xfrm>
            <a:off x="3808900" y="2262163"/>
            <a:ext cx="0" cy="750300"/>
          </a:xfrm>
          <a:prstGeom prst="straightConnector1">
            <a:avLst/>
          </a:prstGeom>
          <a:noFill/>
          <a:ln cap="flat" cmpd="sng" w="9525">
            <a:solidFill>
              <a:schemeClr val="dk1"/>
            </a:solidFill>
            <a:prstDash val="solid"/>
            <a:round/>
            <a:headEnd len="med" w="med" type="none"/>
            <a:tailEnd len="med" w="med" type="none"/>
          </a:ln>
        </p:spPr>
      </p:cxnSp>
      <p:cxnSp>
        <p:nvCxnSpPr>
          <p:cNvPr id="485" name="Google Shape;485;p37"/>
          <p:cNvCxnSpPr>
            <a:stCxn id="440" idx="2"/>
            <a:endCxn id="445" idx="3"/>
          </p:cNvCxnSpPr>
          <p:nvPr/>
        </p:nvCxnSpPr>
        <p:spPr>
          <a:xfrm rot="10800000">
            <a:off x="2735350" y="1629313"/>
            <a:ext cx="691500" cy="250800"/>
          </a:xfrm>
          <a:prstGeom prst="bentConnector3">
            <a:avLst>
              <a:gd fmla="val 49991" name="adj1"/>
            </a:avLst>
          </a:prstGeom>
          <a:noFill/>
          <a:ln cap="flat" cmpd="sng" w="9525">
            <a:solidFill>
              <a:schemeClr val="dk1"/>
            </a:solidFill>
            <a:prstDash val="solid"/>
            <a:round/>
            <a:headEnd len="med" w="med" type="none"/>
            <a:tailEnd len="med" w="med" type="triangle"/>
          </a:ln>
        </p:spPr>
      </p:cxnSp>
      <p:cxnSp>
        <p:nvCxnSpPr>
          <p:cNvPr id="486" name="Google Shape;486;p37"/>
          <p:cNvCxnSpPr>
            <a:stCxn id="449" idx="6"/>
            <a:endCxn id="448" idx="1"/>
          </p:cNvCxnSpPr>
          <p:nvPr/>
        </p:nvCxnSpPr>
        <p:spPr>
          <a:xfrm flipH="1" rot="10800000">
            <a:off x="5706275" y="1629313"/>
            <a:ext cx="702300" cy="250800"/>
          </a:xfrm>
          <a:prstGeom prst="bentConnector3">
            <a:avLst>
              <a:gd fmla="val 50003" name="adj1"/>
            </a:avLst>
          </a:prstGeom>
          <a:noFill/>
          <a:ln cap="flat" cmpd="sng" w="9525">
            <a:solidFill>
              <a:schemeClr val="dk1"/>
            </a:solidFill>
            <a:prstDash val="solid"/>
            <a:round/>
            <a:headEnd len="med" w="med" type="none"/>
            <a:tailEnd len="med" w="med" type="triangle"/>
          </a:ln>
        </p:spPr>
      </p:cxnSp>
      <p:cxnSp>
        <p:nvCxnSpPr>
          <p:cNvPr id="487" name="Google Shape;487;p37"/>
          <p:cNvCxnSpPr>
            <a:stCxn id="451" idx="2"/>
            <a:endCxn id="447" idx="3"/>
          </p:cNvCxnSpPr>
          <p:nvPr/>
        </p:nvCxnSpPr>
        <p:spPr>
          <a:xfrm flipH="1">
            <a:off x="2735350" y="3394588"/>
            <a:ext cx="691500" cy="255000"/>
          </a:xfrm>
          <a:prstGeom prst="bentConnector3">
            <a:avLst>
              <a:gd fmla="val 49990" name="adj1"/>
            </a:avLst>
          </a:prstGeom>
          <a:noFill/>
          <a:ln cap="flat" cmpd="sng" w="9525">
            <a:solidFill>
              <a:schemeClr val="dk1"/>
            </a:solidFill>
            <a:prstDash val="solid"/>
            <a:round/>
            <a:headEnd len="med" w="med" type="none"/>
            <a:tailEnd len="med" w="med" type="triangle"/>
          </a:ln>
        </p:spPr>
      </p:cxnSp>
      <p:cxnSp>
        <p:nvCxnSpPr>
          <p:cNvPr id="488" name="Google Shape;488;p37"/>
          <p:cNvCxnSpPr>
            <a:stCxn id="450" idx="6"/>
            <a:endCxn id="446" idx="1"/>
          </p:cNvCxnSpPr>
          <p:nvPr/>
        </p:nvCxnSpPr>
        <p:spPr>
          <a:xfrm>
            <a:off x="5706250" y="3394588"/>
            <a:ext cx="702300" cy="255000"/>
          </a:xfrm>
          <a:prstGeom prst="bentConnector3">
            <a:avLst>
              <a:gd fmla="val 50004" name="adj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3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Steps for Data Cleaning</a:t>
            </a:r>
            <a:endParaRPr/>
          </a:p>
        </p:txBody>
      </p:sp>
      <p:sp>
        <p:nvSpPr>
          <p:cNvPr id="494" name="Google Shape;494;p38"/>
          <p:cNvSpPr txBox="1"/>
          <p:nvPr/>
        </p:nvSpPr>
        <p:spPr>
          <a:xfrm>
            <a:off x="1244450" y="1207100"/>
            <a:ext cx="7138500" cy="4025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100">
                <a:latin typeface="DM Sans Medium"/>
                <a:ea typeface="DM Sans Medium"/>
                <a:cs typeface="DM Sans Medium"/>
                <a:sym typeface="DM Sans Medium"/>
              </a:rPr>
              <a:t>1. Removed unnecessary columns: Unnamed: 0, 'id' columns are not necessary for analysis.</a:t>
            </a:r>
            <a:endParaRPr sz="1100">
              <a:latin typeface="DM Sans Medium"/>
              <a:ea typeface="DM Sans Medium"/>
              <a:cs typeface="DM Sans Medium"/>
              <a:sym typeface="DM Sans Medium"/>
            </a:endParaRPr>
          </a:p>
          <a:p>
            <a:pPr indent="0" lvl="0" marL="0" rtl="0" algn="l">
              <a:lnSpc>
                <a:spcPct val="100000"/>
              </a:lnSpc>
              <a:spcBef>
                <a:spcPts val="1200"/>
              </a:spcBef>
              <a:spcAft>
                <a:spcPts val="0"/>
              </a:spcAft>
              <a:buNone/>
            </a:pPr>
            <a:r>
              <a:rPr lang="en" sz="1100">
                <a:latin typeface="DM Sans Medium"/>
                <a:ea typeface="DM Sans Medium"/>
                <a:cs typeface="DM Sans Medium"/>
                <a:sym typeface="DM Sans Medium"/>
              </a:rPr>
              <a:t>2. Formatting column names </a:t>
            </a:r>
            <a:endParaRPr sz="1100">
              <a:latin typeface="DM Sans Medium"/>
              <a:ea typeface="DM Sans Medium"/>
              <a:cs typeface="DM Sans Medium"/>
              <a:sym typeface="DM Sans Medium"/>
            </a:endParaRPr>
          </a:p>
          <a:p>
            <a:pPr indent="0" lvl="0" marL="0" rtl="0" algn="l">
              <a:lnSpc>
                <a:spcPct val="100000"/>
              </a:lnSpc>
              <a:spcBef>
                <a:spcPts val="1200"/>
              </a:spcBef>
              <a:spcAft>
                <a:spcPts val="0"/>
              </a:spcAft>
              <a:buNone/>
            </a:pPr>
            <a:r>
              <a:rPr lang="en" sz="1100">
                <a:latin typeface="DM Sans Medium"/>
                <a:ea typeface="DM Sans Medium"/>
                <a:cs typeface="DM Sans Medium"/>
                <a:sym typeface="DM Sans Medium"/>
              </a:rPr>
              <a:t>3. Formatting row value names</a:t>
            </a:r>
            <a:endParaRPr sz="1100">
              <a:latin typeface="DM Sans Medium"/>
              <a:ea typeface="DM Sans Medium"/>
              <a:cs typeface="DM Sans Medium"/>
              <a:sym typeface="DM Sans Medium"/>
            </a:endParaRPr>
          </a:p>
          <a:p>
            <a:pPr indent="0" lvl="0" marL="0" rtl="0" algn="l">
              <a:lnSpc>
                <a:spcPct val="115000"/>
              </a:lnSpc>
              <a:spcBef>
                <a:spcPts val="1200"/>
              </a:spcBef>
              <a:spcAft>
                <a:spcPts val="0"/>
              </a:spcAft>
              <a:buNone/>
            </a:pPr>
            <a:r>
              <a:rPr lang="en" sz="1100">
                <a:latin typeface="DM Sans Medium"/>
                <a:ea typeface="DM Sans Medium"/>
                <a:cs typeface="DM Sans Medium"/>
                <a:sym typeface="DM Sans Medium"/>
              </a:rPr>
              <a:t>4. Adjusting the 0-5 ambiguit</a:t>
            </a:r>
            <a:r>
              <a:rPr lang="en" sz="1100">
                <a:latin typeface="DM Sans Medium"/>
                <a:ea typeface="DM Sans Medium"/>
                <a:cs typeface="DM Sans Medium"/>
                <a:sym typeface="DM Sans Medium"/>
              </a:rPr>
              <a:t>y </a:t>
            </a:r>
            <a:r>
              <a:rPr lang="en" sz="1100">
                <a:latin typeface="DM Sans Medium"/>
                <a:ea typeface="DM Sans Medium"/>
                <a:cs typeface="DM Sans Medium"/>
                <a:sym typeface="DM Sans Medium"/>
              </a:rPr>
              <a:t>(0: Not Applicable, 1-5: Rating)</a:t>
            </a:r>
            <a:endParaRPr sz="1100">
              <a:latin typeface="DM Sans Medium"/>
              <a:ea typeface="DM Sans Medium"/>
              <a:cs typeface="DM Sans Medium"/>
              <a:sym typeface="DM Sans Medium"/>
            </a:endParaRPr>
          </a:p>
          <a:p>
            <a:pPr indent="0" lvl="0" marL="0" rtl="0" algn="l">
              <a:lnSpc>
                <a:spcPct val="115000"/>
              </a:lnSpc>
              <a:spcBef>
                <a:spcPts val="1200"/>
              </a:spcBef>
              <a:spcAft>
                <a:spcPts val="0"/>
              </a:spcAft>
              <a:buNone/>
            </a:pPr>
            <a:r>
              <a:rPr lang="en" sz="1100">
                <a:latin typeface="DM Sans Medium"/>
                <a:ea typeface="DM Sans Medium"/>
                <a:cs typeface="DM Sans Medium"/>
                <a:sym typeface="DM Sans Medium"/>
              </a:rPr>
              <a:t>5. Converting </a:t>
            </a:r>
            <a:r>
              <a:rPr lang="en" sz="1100">
                <a:latin typeface="DM Sans Medium"/>
                <a:ea typeface="DM Sans Medium"/>
                <a:cs typeface="DM Sans Medium"/>
                <a:sym typeface="DM Sans Medium"/>
              </a:rPr>
              <a:t>specific</a:t>
            </a:r>
            <a:r>
              <a:rPr lang="en" sz="1100">
                <a:latin typeface="DM Sans Medium"/>
                <a:ea typeface="DM Sans Medium"/>
                <a:cs typeface="DM Sans Medium"/>
                <a:sym typeface="DM Sans Medium"/>
              </a:rPr>
              <a:t> columns to suitable data types: category type and integer type</a:t>
            </a:r>
            <a:endParaRPr sz="1100">
              <a:latin typeface="DM Sans Medium"/>
              <a:ea typeface="DM Sans Medium"/>
              <a:cs typeface="DM Sans Medium"/>
              <a:sym typeface="DM Sans Medium"/>
            </a:endParaRPr>
          </a:p>
          <a:p>
            <a:pPr indent="0" lvl="0" marL="0" rtl="0" algn="l">
              <a:lnSpc>
                <a:spcPct val="115000"/>
              </a:lnSpc>
              <a:spcBef>
                <a:spcPts val="1200"/>
              </a:spcBef>
              <a:spcAft>
                <a:spcPts val="0"/>
              </a:spcAft>
              <a:buNone/>
            </a:pPr>
            <a:r>
              <a:rPr lang="en" sz="1100">
                <a:latin typeface="DM Sans Medium"/>
                <a:ea typeface="DM Sans Medium"/>
                <a:cs typeface="DM Sans Medium"/>
                <a:sym typeface="DM Sans Medium"/>
              </a:rPr>
              <a:t>6. Checking for column significance:</a:t>
            </a:r>
            <a:endParaRPr sz="1100">
              <a:latin typeface="DM Sans Medium"/>
              <a:ea typeface="DM Sans Medium"/>
              <a:cs typeface="DM Sans Medium"/>
              <a:sym typeface="DM Sans Medium"/>
            </a:endParaRPr>
          </a:p>
          <a:p>
            <a:pPr indent="0" lvl="0" marL="457200" rtl="0" algn="l">
              <a:lnSpc>
                <a:spcPct val="115000"/>
              </a:lnSpc>
              <a:spcBef>
                <a:spcPts val="1200"/>
              </a:spcBef>
              <a:spcAft>
                <a:spcPts val="0"/>
              </a:spcAft>
              <a:buNone/>
            </a:pPr>
            <a:r>
              <a:rPr lang="en" sz="1100">
                <a:latin typeface="DM Sans Medium"/>
                <a:ea typeface="DM Sans Medium"/>
                <a:cs typeface="DM Sans Medium"/>
                <a:sym typeface="DM Sans Medium"/>
              </a:rPr>
              <a:t>1. We’ve checked for insignificant columns where a binary column for satisfaction is created, mapping "Satisfied" to 1 and "Neutral or Dissatisfied" to 0.</a:t>
            </a:r>
            <a:endParaRPr sz="1100">
              <a:latin typeface="DM Sans Medium"/>
              <a:ea typeface="DM Sans Medium"/>
              <a:cs typeface="DM Sans Medium"/>
              <a:sym typeface="DM Sans Medium"/>
            </a:endParaRPr>
          </a:p>
          <a:p>
            <a:pPr indent="0" lvl="0" marL="457200" rtl="0" algn="l">
              <a:lnSpc>
                <a:spcPct val="115000"/>
              </a:lnSpc>
              <a:spcBef>
                <a:spcPts val="1200"/>
              </a:spcBef>
              <a:spcAft>
                <a:spcPts val="0"/>
              </a:spcAft>
              <a:buNone/>
            </a:pPr>
            <a:r>
              <a:rPr lang="en" sz="1100">
                <a:latin typeface="DM Sans Medium"/>
                <a:ea typeface="DM Sans Medium"/>
                <a:cs typeface="DM Sans Medium"/>
                <a:sym typeface="DM Sans Medium"/>
              </a:rPr>
              <a:t>2. We assessed insignificant columns by checking categorical columns for low unique values and dominant categories.</a:t>
            </a:r>
            <a:endParaRPr sz="1100">
              <a:latin typeface="DM Sans Medium"/>
              <a:ea typeface="DM Sans Medium"/>
              <a:cs typeface="DM Sans Medium"/>
              <a:sym typeface="DM Sans Medium"/>
            </a:endParaRPr>
          </a:p>
          <a:p>
            <a:pPr indent="0" lvl="0" marL="457200" rtl="0" algn="l">
              <a:lnSpc>
                <a:spcPct val="115000"/>
              </a:lnSpc>
              <a:spcBef>
                <a:spcPts val="1200"/>
              </a:spcBef>
              <a:spcAft>
                <a:spcPts val="0"/>
              </a:spcAft>
              <a:buNone/>
            </a:pPr>
            <a:r>
              <a:rPr lang="en" sz="1100">
                <a:latin typeface="DM Sans Medium"/>
                <a:ea typeface="DM Sans Medium"/>
                <a:cs typeface="DM Sans Medium"/>
                <a:sym typeface="DM Sans Medium"/>
              </a:rPr>
              <a:t>3. Coming to numerical columns, we've checked for low variance and performed correlation analysis to find columns with low correlation to the binary satisfaction target.</a:t>
            </a:r>
            <a:endParaRPr sz="1100">
              <a:latin typeface="DM Sans Medium"/>
              <a:ea typeface="DM Sans Medium"/>
              <a:cs typeface="DM Sans Medium"/>
              <a:sym typeface="DM Sans Medium"/>
            </a:endParaRPr>
          </a:p>
          <a:p>
            <a:pPr indent="0" lvl="0" marL="0" rtl="0" algn="l">
              <a:lnSpc>
                <a:spcPct val="115000"/>
              </a:lnSpc>
              <a:spcBef>
                <a:spcPts val="1200"/>
              </a:spcBef>
              <a:spcAft>
                <a:spcPts val="1200"/>
              </a:spcAft>
              <a:buNone/>
            </a:pPr>
            <a:r>
              <a:t/>
            </a:r>
            <a:endParaRPr sz="1100">
              <a:solidFill>
                <a:schemeClr val="dk1"/>
              </a:solidFill>
              <a:latin typeface="DM Sans"/>
              <a:ea typeface="DM Sans"/>
              <a:cs typeface="DM Sans"/>
              <a:sym typeface="DM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39"/>
          <p:cNvSpPr txBox="1"/>
          <p:nvPr>
            <p:ph type="title"/>
          </p:nvPr>
        </p:nvSpPr>
        <p:spPr>
          <a:xfrm>
            <a:off x="713225" y="1557775"/>
            <a:ext cx="4344300" cy="91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EDA Insights</a:t>
            </a:r>
            <a:endParaRPr/>
          </a:p>
        </p:txBody>
      </p:sp>
      <p:grpSp>
        <p:nvGrpSpPr>
          <p:cNvPr id="500" name="Google Shape;500;p39"/>
          <p:cNvGrpSpPr/>
          <p:nvPr/>
        </p:nvGrpSpPr>
        <p:grpSpPr>
          <a:xfrm>
            <a:off x="5104880" y="-153372"/>
            <a:ext cx="4218588" cy="6000577"/>
            <a:chOff x="5104880" y="-153372"/>
            <a:chExt cx="4218588" cy="6000577"/>
          </a:xfrm>
        </p:grpSpPr>
        <p:sp>
          <p:nvSpPr>
            <p:cNvPr id="501" name="Google Shape;501;p39"/>
            <p:cNvSpPr/>
            <p:nvPr/>
          </p:nvSpPr>
          <p:spPr>
            <a:xfrm>
              <a:off x="7074911" y="254737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39"/>
            <p:cNvSpPr/>
            <p:nvPr/>
          </p:nvSpPr>
          <p:spPr>
            <a:xfrm>
              <a:off x="7026089" y="-1533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39"/>
            <p:cNvSpPr/>
            <p:nvPr/>
          </p:nvSpPr>
          <p:spPr>
            <a:xfrm>
              <a:off x="6606684" y="31846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39"/>
            <p:cNvSpPr/>
            <p:nvPr/>
          </p:nvSpPr>
          <p:spPr>
            <a:xfrm>
              <a:off x="6138958" y="13708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39"/>
            <p:cNvSpPr/>
            <p:nvPr/>
          </p:nvSpPr>
          <p:spPr>
            <a:xfrm>
              <a:off x="5732458" y="87452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39"/>
            <p:cNvSpPr/>
            <p:nvPr/>
          </p:nvSpPr>
          <p:spPr>
            <a:xfrm>
              <a:off x="7480889" y="98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39"/>
            <p:cNvSpPr/>
            <p:nvPr/>
          </p:nvSpPr>
          <p:spPr>
            <a:xfrm>
              <a:off x="7074904" y="207505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39"/>
            <p:cNvSpPr/>
            <p:nvPr/>
          </p:nvSpPr>
          <p:spPr>
            <a:xfrm>
              <a:off x="7962441" y="140407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39"/>
            <p:cNvSpPr/>
            <p:nvPr/>
          </p:nvSpPr>
          <p:spPr>
            <a:xfrm flipH="1" rot="10800000">
              <a:off x="6036087" y="312497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39"/>
            <p:cNvSpPr/>
            <p:nvPr/>
          </p:nvSpPr>
          <p:spPr>
            <a:xfrm flipH="1" rot="10800000">
              <a:off x="6355205" y="41020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39"/>
            <p:cNvSpPr/>
            <p:nvPr/>
          </p:nvSpPr>
          <p:spPr>
            <a:xfrm flipH="1" rot="10800000">
              <a:off x="5732459" y="48790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39"/>
            <p:cNvSpPr/>
            <p:nvPr/>
          </p:nvSpPr>
          <p:spPr>
            <a:xfrm flipH="1" rot="10800000">
              <a:off x="6683197" y="351549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39"/>
            <p:cNvSpPr/>
            <p:nvPr/>
          </p:nvSpPr>
          <p:spPr>
            <a:xfrm flipH="1" rot="10800000">
              <a:off x="5104880" y="443452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39"/>
            <p:cNvSpPr/>
            <p:nvPr/>
          </p:nvSpPr>
          <p:spPr>
            <a:xfrm>
              <a:off x="8484758" y="243811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39"/>
            <p:cNvSpPr/>
            <p:nvPr/>
          </p:nvSpPr>
          <p:spPr>
            <a:xfrm>
              <a:off x="8038260" y="29212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39"/>
            <p:cNvSpPr/>
            <p:nvPr/>
          </p:nvSpPr>
          <p:spPr>
            <a:xfrm flipH="1" rot="10800000">
              <a:off x="7853362" y="396220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39"/>
            <p:cNvSpPr/>
            <p:nvPr/>
          </p:nvSpPr>
          <p:spPr>
            <a:xfrm flipH="1" rot="10800000">
              <a:off x="8261505" y="443452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518" name="Google Shape;518;p39"/>
          <p:cNvCxnSpPr/>
          <p:nvPr/>
        </p:nvCxnSpPr>
        <p:spPr>
          <a:xfrm>
            <a:off x="841250" y="1385850"/>
            <a:ext cx="373500" cy="0"/>
          </a:xfrm>
          <a:prstGeom prst="straightConnector1">
            <a:avLst/>
          </a:prstGeom>
          <a:noFill/>
          <a:ln cap="flat" cmpd="sng" w="19050">
            <a:solidFill>
              <a:schemeClr val="dk1"/>
            </a:solidFill>
            <a:prstDash val="solid"/>
            <a:round/>
            <a:headEnd len="med" w="med" type="none"/>
            <a:tailEnd len="med" w="med" type="none"/>
          </a:ln>
        </p:spPr>
      </p:cxnSp>
      <p:sp>
        <p:nvSpPr>
          <p:cNvPr id="519" name="Google Shape;519;p39"/>
          <p:cNvSpPr txBox="1"/>
          <p:nvPr/>
        </p:nvSpPr>
        <p:spPr>
          <a:xfrm>
            <a:off x="713225" y="690075"/>
            <a:ext cx="1212600" cy="6099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n" sz="5000">
                <a:solidFill>
                  <a:schemeClr val="dk1"/>
                </a:solidFill>
                <a:latin typeface="Outfit"/>
                <a:ea typeface="Outfit"/>
                <a:cs typeface="Outfit"/>
                <a:sym typeface="Outfit"/>
              </a:rPr>
              <a:t>02</a:t>
            </a:r>
            <a:endParaRPr>
              <a:solidFill>
                <a:schemeClr val="dk1"/>
              </a:solidFill>
              <a:latin typeface="DM Sans"/>
              <a:ea typeface="DM Sans"/>
              <a:cs typeface="DM Sans"/>
              <a:sym typeface="DM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40"/>
          <p:cNvSpPr txBox="1"/>
          <p:nvPr>
            <p:ph type="title"/>
          </p:nvPr>
        </p:nvSpPr>
        <p:spPr>
          <a:xfrm>
            <a:off x="1064400" y="402750"/>
            <a:ext cx="6222000" cy="1688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Visualizing the data</a:t>
            </a:r>
            <a:endParaRPr/>
          </a:p>
        </p:txBody>
      </p:sp>
      <p:sp>
        <p:nvSpPr>
          <p:cNvPr id="525" name="Google Shape;525;p40"/>
          <p:cNvSpPr txBox="1"/>
          <p:nvPr>
            <p:ph idx="1" type="subTitle"/>
          </p:nvPr>
        </p:nvSpPr>
        <p:spPr>
          <a:xfrm>
            <a:off x="862725" y="2249925"/>
            <a:ext cx="6540000" cy="25560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sz="1400">
                <a:solidFill>
                  <a:srgbClr val="000000"/>
                </a:solidFill>
              </a:rPr>
              <a:t>Visualizations help us to  uncover interesting patterns and trends in the data, such as:</a:t>
            </a:r>
            <a:endParaRPr sz="1400">
              <a:solidFill>
                <a:srgbClr val="000000"/>
              </a:solidFill>
            </a:endParaRPr>
          </a:p>
          <a:p>
            <a:pPr indent="-317500" lvl="0" marL="457200" rtl="0" algn="l">
              <a:spcBef>
                <a:spcPts val="1200"/>
              </a:spcBef>
              <a:spcAft>
                <a:spcPts val="0"/>
              </a:spcAft>
              <a:buClr>
                <a:srgbClr val="000000"/>
              </a:buClr>
              <a:buSzPts val="1400"/>
              <a:buFont typeface="DM Sans"/>
              <a:buChar char="●"/>
            </a:pPr>
            <a:r>
              <a:rPr lang="en" sz="1400">
                <a:solidFill>
                  <a:srgbClr val="000000"/>
                </a:solidFill>
              </a:rPr>
              <a:t>The impact of flight delays on passenger satisfaction</a:t>
            </a:r>
            <a:endParaRPr sz="1400">
              <a:solidFill>
                <a:srgbClr val="000000"/>
              </a:solidFill>
            </a:endParaRPr>
          </a:p>
          <a:p>
            <a:pPr indent="-317500" lvl="0" marL="457200" rtl="0" algn="l">
              <a:spcBef>
                <a:spcPts val="0"/>
              </a:spcBef>
              <a:spcAft>
                <a:spcPts val="0"/>
              </a:spcAft>
              <a:buClr>
                <a:srgbClr val="000000"/>
              </a:buClr>
              <a:buSzPts val="1400"/>
              <a:buFont typeface="DM Sans"/>
              <a:buChar char="●"/>
            </a:pPr>
            <a:r>
              <a:rPr lang="en" sz="1400">
                <a:solidFill>
                  <a:srgbClr val="000000"/>
                </a:solidFill>
              </a:rPr>
              <a:t>The relationship between class of travel and satisfaction levels</a:t>
            </a:r>
            <a:endParaRPr sz="1400">
              <a:solidFill>
                <a:srgbClr val="000000"/>
              </a:solidFill>
            </a:endParaRPr>
          </a:p>
          <a:p>
            <a:pPr indent="-317500" lvl="0" marL="457200" rtl="0" algn="l">
              <a:spcBef>
                <a:spcPts val="0"/>
              </a:spcBef>
              <a:spcAft>
                <a:spcPts val="0"/>
              </a:spcAft>
              <a:buClr>
                <a:srgbClr val="000000"/>
              </a:buClr>
              <a:buSzPts val="1400"/>
              <a:buFont typeface="DM Sans"/>
              <a:buChar char="●"/>
            </a:pPr>
            <a:r>
              <a:rPr lang="en" sz="1400">
                <a:solidFill>
                  <a:srgbClr val="000000"/>
                </a:solidFill>
              </a:rPr>
              <a:t>The influence of in-flight services on overall satisfaction</a:t>
            </a:r>
            <a:endParaRPr sz="1400">
              <a:solidFill>
                <a:srgbClr val="000000"/>
              </a:solidFill>
            </a:endParaRPr>
          </a:p>
          <a:p>
            <a:pPr indent="0" lvl="0" marL="0" rtl="0" algn="l">
              <a:spcBef>
                <a:spcPts val="1200"/>
              </a:spcBef>
              <a:spcAft>
                <a:spcPts val="0"/>
              </a:spcAft>
              <a:buNone/>
            </a:pPr>
            <a:r>
              <a:t/>
            </a:r>
            <a:endParaRPr sz="1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41"/>
          <p:cNvSpPr txBox="1"/>
          <p:nvPr>
            <p:ph type="title"/>
          </p:nvPr>
        </p:nvSpPr>
        <p:spPr>
          <a:xfrm>
            <a:off x="720000" y="2798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Satisfaction by Age</a:t>
            </a:r>
            <a:endParaRPr/>
          </a:p>
        </p:txBody>
      </p:sp>
      <p:sp>
        <p:nvSpPr>
          <p:cNvPr id="531" name="Google Shape;531;p41"/>
          <p:cNvSpPr txBox="1"/>
          <p:nvPr/>
        </p:nvSpPr>
        <p:spPr>
          <a:xfrm>
            <a:off x="981900" y="4296500"/>
            <a:ext cx="7180200" cy="30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1000" u="sng">
              <a:solidFill>
                <a:schemeClr val="dk1"/>
              </a:solidFill>
              <a:latin typeface="DM Sans"/>
              <a:ea typeface="DM Sans"/>
              <a:cs typeface="DM Sans"/>
              <a:sym typeface="DM Sans"/>
            </a:endParaRPr>
          </a:p>
        </p:txBody>
      </p:sp>
      <p:pic>
        <p:nvPicPr>
          <p:cNvPr id="532" name="Google Shape;532;p41"/>
          <p:cNvPicPr preferRelativeResize="0"/>
          <p:nvPr/>
        </p:nvPicPr>
        <p:blipFill>
          <a:blip r:embed="rId3">
            <a:alphaModFix/>
          </a:blip>
          <a:stretch>
            <a:fillRect/>
          </a:stretch>
        </p:blipFill>
        <p:spPr>
          <a:xfrm>
            <a:off x="0" y="1081400"/>
            <a:ext cx="5756077" cy="3684925"/>
          </a:xfrm>
          <a:prstGeom prst="rect">
            <a:avLst/>
          </a:prstGeom>
          <a:noFill/>
          <a:ln>
            <a:noFill/>
          </a:ln>
        </p:spPr>
      </p:pic>
      <p:sp>
        <p:nvSpPr>
          <p:cNvPr id="533" name="Google Shape;533;p41"/>
          <p:cNvSpPr txBox="1"/>
          <p:nvPr/>
        </p:nvSpPr>
        <p:spPr>
          <a:xfrm>
            <a:off x="5756075" y="1252525"/>
            <a:ext cx="2576400" cy="36327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Font typeface="DM Sans"/>
              <a:buChar char="●"/>
            </a:pPr>
            <a:r>
              <a:rPr lang="en">
                <a:solidFill>
                  <a:schemeClr val="dk1"/>
                </a:solidFill>
                <a:latin typeface="DM Sans"/>
                <a:ea typeface="DM Sans"/>
                <a:cs typeface="DM Sans"/>
                <a:sym typeface="DM Sans"/>
              </a:rPr>
              <a:t>Shows the distribution of passenger satisfaction across different age groups.</a:t>
            </a:r>
            <a:endParaRPr>
              <a:solidFill>
                <a:schemeClr val="dk1"/>
              </a:solidFill>
              <a:latin typeface="DM Sans"/>
              <a:ea typeface="DM Sans"/>
              <a:cs typeface="DM Sans"/>
              <a:sym typeface="DM Sans"/>
            </a:endParaRPr>
          </a:p>
          <a:p>
            <a:pPr indent="-317500" lvl="0" marL="457200" rtl="0" algn="l">
              <a:spcBef>
                <a:spcPts val="0"/>
              </a:spcBef>
              <a:spcAft>
                <a:spcPts val="0"/>
              </a:spcAft>
              <a:buClr>
                <a:schemeClr val="dk1"/>
              </a:buClr>
              <a:buSzPts val="1400"/>
              <a:buFont typeface="DM Sans"/>
              <a:buChar char="●"/>
            </a:pPr>
            <a:r>
              <a:rPr lang="en">
                <a:solidFill>
                  <a:schemeClr val="dk1"/>
                </a:solidFill>
                <a:latin typeface="DM Sans"/>
                <a:ea typeface="DM Sans"/>
                <a:cs typeface="DM Sans"/>
                <a:sym typeface="DM Sans"/>
              </a:rPr>
              <a:t>Younger passengers display a broader range of satisfaction levels, while older passengers tend to have more consistent satisfaction ratings.</a:t>
            </a:r>
            <a:endParaRPr>
              <a:solidFill>
                <a:schemeClr val="dk1"/>
              </a:solidFill>
              <a:latin typeface="DM Sans"/>
              <a:ea typeface="DM Sans"/>
              <a:cs typeface="DM Sans"/>
              <a:sym typeface="DM Sans"/>
            </a:endParaRPr>
          </a:p>
          <a:p>
            <a:pPr indent="-317500" lvl="0" marL="457200" rtl="0" algn="l">
              <a:spcBef>
                <a:spcPts val="0"/>
              </a:spcBef>
              <a:spcAft>
                <a:spcPts val="0"/>
              </a:spcAft>
              <a:buClr>
                <a:schemeClr val="dk1"/>
              </a:buClr>
              <a:buSzPts val="1400"/>
              <a:buFont typeface="DM Sans"/>
              <a:buChar char="●"/>
            </a:pPr>
            <a:r>
              <a:rPr lang="en">
                <a:solidFill>
                  <a:schemeClr val="dk1"/>
                </a:solidFill>
                <a:latin typeface="DM Sans"/>
                <a:ea typeface="DM Sans"/>
                <a:cs typeface="DM Sans"/>
                <a:sym typeface="DM Sans"/>
              </a:rPr>
              <a:t>This pattern suggests that age may play a role in how passengers perceive their flight experience</a:t>
            </a:r>
            <a:endParaRPr>
              <a:solidFill>
                <a:schemeClr val="dk1"/>
              </a:solidFill>
              <a:latin typeface="DM Sans"/>
              <a:ea typeface="DM Sans"/>
              <a:cs typeface="DM Sans"/>
              <a:sym typeface="DM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4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Distribution of Flight Distance</a:t>
            </a:r>
            <a:endParaRPr/>
          </a:p>
        </p:txBody>
      </p:sp>
      <p:sp>
        <p:nvSpPr>
          <p:cNvPr id="539" name="Google Shape;539;p42"/>
          <p:cNvSpPr txBox="1"/>
          <p:nvPr/>
        </p:nvSpPr>
        <p:spPr>
          <a:xfrm>
            <a:off x="651625" y="3642650"/>
            <a:ext cx="7491000" cy="16263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300">
                <a:solidFill>
                  <a:srgbClr val="569CD6"/>
                </a:solidFill>
                <a:latin typeface="DM Sans Medium"/>
                <a:ea typeface="DM Sans Medium"/>
                <a:cs typeface="DM Sans Medium"/>
                <a:sym typeface="DM Sans Medium"/>
              </a:rPr>
              <a:t>Histogram: Distribution of Flight Distance by Class and Satisfaction (Bi-variate Analysis)</a:t>
            </a:r>
            <a:endParaRPr sz="1300">
              <a:solidFill>
                <a:srgbClr val="569CD6"/>
              </a:solidFill>
              <a:latin typeface="DM Sans Medium"/>
              <a:ea typeface="DM Sans Medium"/>
              <a:cs typeface="DM Sans Medium"/>
              <a:sym typeface="DM Sans Medium"/>
            </a:endParaRPr>
          </a:p>
          <a:p>
            <a:pPr indent="0" lvl="0" marL="0" rtl="0" algn="l">
              <a:lnSpc>
                <a:spcPct val="135714"/>
              </a:lnSpc>
              <a:spcBef>
                <a:spcPts val="0"/>
              </a:spcBef>
              <a:spcAft>
                <a:spcPts val="0"/>
              </a:spcAft>
              <a:buNone/>
            </a:pPr>
            <a:r>
              <a:rPr lang="en" sz="1300">
                <a:solidFill>
                  <a:srgbClr val="6796E6"/>
                </a:solidFill>
                <a:latin typeface="DM Sans Medium"/>
                <a:ea typeface="DM Sans Medium"/>
                <a:cs typeface="DM Sans Medium"/>
                <a:sym typeface="DM Sans Medium"/>
              </a:rPr>
              <a:t>-</a:t>
            </a:r>
            <a:r>
              <a:rPr lang="en" sz="1300">
                <a:solidFill>
                  <a:schemeClr val="dk1"/>
                </a:solidFill>
                <a:latin typeface="DM Sans Medium"/>
                <a:ea typeface="DM Sans Medium"/>
                <a:cs typeface="DM Sans Medium"/>
                <a:sym typeface="DM Sans Medium"/>
              </a:rPr>
              <a:t> Flight distance varies by class and affects satisfaction.</a:t>
            </a:r>
            <a:endParaRPr sz="1300">
              <a:solidFill>
                <a:schemeClr val="dk1"/>
              </a:solidFill>
              <a:latin typeface="DM Sans Medium"/>
              <a:ea typeface="DM Sans Medium"/>
              <a:cs typeface="DM Sans Medium"/>
              <a:sym typeface="DM Sans Medium"/>
            </a:endParaRPr>
          </a:p>
          <a:p>
            <a:pPr indent="0" lvl="0" marL="0" rtl="0" algn="l">
              <a:lnSpc>
                <a:spcPct val="135714"/>
              </a:lnSpc>
              <a:spcBef>
                <a:spcPts val="0"/>
              </a:spcBef>
              <a:spcAft>
                <a:spcPts val="0"/>
              </a:spcAft>
              <a:buNone/>
            </a:pPr>
            <a:r>
              <a:rPr lang="en" sz="1300">
                <a:solidFill>
                  <a:schemeClr val="dk1"/>
                </a:solidFill>
                <a:latin typeface="DM Sans Medium"/>
                <a:ea typeface="DM Sans Medium"/>
                <a:cs typeface="DM Sans Medium"/>
                <a:sym typeface="DM Sans Medium"/>
              </a:rPr>
              <a:t>- Business class: Shorter flights, higher satisfaction.</a:t>
            </a:r>
            <a:endParaRPr sz="1300">
              <a:solidFill>
                <a:schemeClr val="dk1"/>
              </a:solidFill>
              <a:latin typeface="DM Sans Medium"/>
              <a:ea typeface="DM Sans Medium"/>
              <a:cs typeface="DM Sans Medium"/>
              <a:sym typeface="DM Sans Medium"/>
            </a:endParaRPr>
          </a:p>
          <a:p>
            <a:pPr indent="0" lvl="0" marL="0" rtl="0" algn="l">
              <a:lnSpc>
                <a:spcPct val="135714"/>
              </a:lnSpc>
              <a:spcBef>
                <a:spcPts val="0"/>
              </a:spcBef>
              <a:spcAft>
                <a:spcPts val="0"/>
              </a:spcAft>
              <a:buNone/>
            </a:pPr>
            <a:r>
              <a:rPr lang="en" sz="1300">
                <a:solidFill>
                  <a:schemeClr val="dk1"/>
                </a:solidFill>
                <a:latin typeface="DM Sans Medium"/>
                <a:ea typeface="DM Sans Medium"/>
                <a:cs typeface="DM Sans Medium"/>
                <a:sym typeface="DM Sans Medium"/>
              </a:rPr>
              <a:t>- Eco class: Longer flights, satisfaction linked to distance.</a:t>
            </a:r>
            <a:endParaRPr sz="1300">
              <a:solidFill>
                <a:schemeClr val="dk1"/>
              </a:solidFill>
              <a:latin typeface="DM Sans Medium"/>
              <a:ea typeface="DM Sans Medium"/>
              <a:cs typeface="DM Sans Medium"/>
              <a:sym typeface="DM Sans Medium"/>
            </a:endParaRPr>
          </a:p>
          <a:p>
            <a:pPr indent="0" lvl="0" marL="0" rtl="0" algn="l">
              <a:lnSpc>
                <a:spcPct val="135714"/>
              </a:lnSpc>
              <a:spcBef>
                <a:spcPts val="0"/>
              </a:spcBef>
              <a:spcAft>
                <a:spcPts val="0"/>
              </a:spcAft>
              <a:buNone/>
            </a:pPr>
            <a:r>
              <a:rPr lang="en" sz="1300">
                <a:solidFill>
                  <a:schemeClr val="dk1"/>
                </a:solidFill>
                <a:latin typeface="DM Sans Medium"/>
                <a:ea typeface="DM Sans Medium"/>
                <a:cs typeface="DM Sans Medium"/>
                <a:sym typeface="DM Sans Medium"/>
              </a:rPr>
              <a:t>- Eco Plus class: Medium flights, satisfaction moderately linked to distance.</a:t>
            </a:r>
            <a:endParaRPr sz="1300">
              <a:solidFill>
                <a:schemeClr val="dk1"/>
              </a:solidFill>
              <a:latin typeface="DM Sans Medium"/>
              <a:ea typeface="DM Sans Medium"/>
              <a:cs typeface="DM Sans Medium"/>
              <a:sym typeface="DM Sans Medium"/>
            </a:endParaRPr>
          </a:p>
          <a:p>
            <a:pPr indent="0" lvl="0" marL="0" rtl="0" algn="ctr">
              <a:spcBef>
                <a:spcPts val="0"/>
              </a:spcBef>
              <a:spcAft>
                <a:spcPts val="0"/>
              </a:spcAft>
              <a:buNone/>
            </a:pPr>
            <a:r>
              <a:t/>
            </a:r>
            <a:endParaRPr sz="1000">
              <a:solidFill>
                <a:schemeClr val="dk1"/>
              </a:solidFill>
              <a:latin typeface="DM Sans"/>
              <a:ea typeface="DM Sans"/>
              <a:cs typeface="DM Sans"/>
              <a:sym typeface="DM Sans"/>
            </a:endParaRPr>
          </a:p>
        </p:txBody>
      </p:sp>
      <p:pic>
        <p:nvPicPr>
          <p:cNvPr id="540" name="Google Shape;540;p42"/>
          <p:cNvPicPr preferRelativeResize="0"/>
          <p:nvPr/>
        </p:nvPicPr>
        <p:blipFill>
          <a:blip r:embed="rId3">
            <a:alphaModFix/>
          </a:blip>
          <a:stretch>
            <a:fillRect/>
          </a:stretch>
        </p:blipFill>
        <p:spPr>
          <a:xfrm>
            <a:off x="152400" y="1170125"/>
            <a:ext cx="7795502" cy="23523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4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Satisfaction by Flight Distance</a:t>
            </a:r>
            <a:endParaRPr/>
          </a:p>
        </p:txBody>
      </p:sp>
      <p:sp>
        <p:nvSpPr>
          <p:cNvPr id="546" name="Google Shape;546;p43"/>
          <p:cNvSpPr txBox="1"/>
          <p:nvPr/>
        </p:nvSpPr>
        <p:spPr>
          <a:xfrm>
            <a:off x="888000" y="1745625"/>
            <a:ext cx="2175300" cy="757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solidFill>
                  <a:schemeClr val="dk1"/>
                </a:solidFill>
                <a:latin typeface="DM Sans"/>
                <a:ea typeface="DM Sans"/>
                <a:cs typeface="DM Sans"/>
                <a:sym typeface="DM Sans"/>
              </a:rPr>
              <a:t>Negative correlation between flight distance and satisfaction.</a:t>
            </a:r>
            <a:endParaRPr>
              <a:solidFill>
                <a:schemeClr val="dk1"/>
              </a:solidFill>
              <a:latin typeface="DM Sans"/>
              <a:ea typeface="DM Sans"/>
              <a:cs typeface="DM Sans"/>
              <a:sym typeface="DM Sans"/>
            </a:endParaRPr>
          </a:p>
        </p:txBody>
      </p:sp>
      <p:sp>
        <p:nvSpPr>
          <p:cNvPr id="547" name="Google Shape;547;p43"/>
          <p:cNvSpPr txBox="1"/>
          <p:nvPr/>
        </p:nvSpPr>
        <p:spPr>
          <a:xfrm>
            <a:off x="888000" y="3197775"/>
            <a:ext cx="2175300" cy="757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solidFill>
                  <a:schemeClr val="dk1"/>
                </a:solidFill>
                <a:latin typeface="DM Sans"/>
                <a:ea typeface="DM Sans"/>
                <a:cs typeface="DM Sans"/>
                <a:sym typeface="DM Sans"/>
              </a:rPr>
              <a:t>Customers are less satisfied with longer flights.</a:t>
            </a:r>
            <a:endParaRPr>
              <a:solidFill>
                <a:schemeClr val="dk1"/>
              </a:solidFill>
              <a:latin typeface="DM Sans"/>
              <a:ea typeface="DM Sans"/>
              <a:cs typeface="DM Sans"/>
              <a:sym typeface="DM Sans"/>
            </a:endParaRPr>
          </a:p>
        </p:txBody>
      </p:sp>
      <p:sp>
        <p:nvSpPr>
          <p:cNvPr id="548" name="Google Shape;548;p43"/>
          <p:cNvSpPr txBox="1"/>
          <p:nvPr/>
        </p:nvSpPr>
        <p:spPr>
          <a:xfrm>
            <a:off x="888000" y="1387197"/>
            <a:ext cx="2175300" cy="4980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2400">
                <a:solidFill>
                  <a:schemeClr val="dk1"/>
                </a:solidFill>
                <a:latin typeface="Outfit"/>
                <a:ea typeface="Outfit"/>
                <a:cs typeface="Outfit"/>
                <a:sym typeface="Outfit"/>
              </a:rPr>
              <a:t>Trend</a:t>
            </a:r>
            <a:endParaRPr b="1" sz="2400">
              <a:solidFill>
                <a:schemeClr val="dk1"/>
              </a:solidFill>
              <a:latin typeface="Outfit"/>
              <a:ea typeface="Outfit"/>
              <a:cs typeface="Outfit"/>
              <a:sym typeface="Outfit"/>
            </a:endParaRPr>
          </a:p>
        </p:txBody>
      </p:sp>
      <p:sp>
        <p:nvSpPr>
          <p:cNvPr id="549" name="Google Shape;549;p43"/>
          <p:cNvSpPr txBox="1"/>
          <p:nvPr/>
        </p:nvSpPr>
        <p:spPr>
          <a:xfrm>
            <a:off x="888000" y="2839347"/>
            <a:ext cx="2175300" cy="4980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2400">
                <a:solidFill>
                  <a:schemeClr val="dk1"/>
                </a:solidFill>
                <a:latin typeface="Outfit"/>
                <a:ea typeface="Outfit"/>
                <a:cs typeface="Outfit"/>
                <a:sym typeface="Outfit"/>
              </a:rPr>
              <a:t>Observation</a:t>
            </a:r>
            <a:endParaRPr b="1" sz="2400">
              <a:solidFill>
                <a:schemeClr val="dk1"/>
              </a:solidFill>
              <a:latin typeface="Outfit"/>
              <a:ea typeface="Outfit"/>
              <a:cs typeface="Outfit"/>
              <a:sym typeface="Outfit"/>
            </a:endParaRPr>
          </a:p>
        </p:txBody>
      </p:sp>
      <p:sp>
        <p:nvSpPr>
          <p:cNvPr id="550" name="Google Shape;550;p43"/>
          <p:cNvSpPr/>
          <p:nvPr/>
        </p:nvSpPr>
        <p:spPr>
          <a:xfrm>
            <a:off x="720000" y="1475450"/>
            <a:ext cx="168000" cy="1680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551" name="Google Shape;551;p43"/>
          <p:cNvSpPr/>
          <p:nvPr/>
        </p:nvSpPr>
        <p:spPr>
          <a:xfrm>
            <a:off x="720000" y="2932225"/>
            <a:ext cx="168000" cy="16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pic>
        <p:nvPicPr>
          <p:cNvPr id="552" name="Google Shape;552;p43"/>
          <p:cNvPicPr preferRelativeResize="0"/>
          <p:nvPr/>
        </p:nvPicPr>
        <p:blipFill>
          <a:blip r:embed="rId3">
            <a:alphaModFix/>
          </a:blip>
          <a:stretch>
            <a:fillRect/>
          </a:stretch>
        </p:blipFill>
        <p:spPr>
          <a:xfrm>
            <a:off x="3215700" y="1170125"/>
            <a:ext cx="5512999" cy="29739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44"/>
          <p:cNvSpPr txBox="1"/>
          <p:nvPr>
            <p:ph type="title"/>
          </p:nvPr>
        </p:nvSpPr>
        <p:spPr>
          <a:xfrm>
            <a:off x="720000" y="279825"/>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a:t>Satisfaction by Gender</a:t>
            </a:r>
            <a:endParaRPr/>
          </a:p>
        </p:txBody>
      </p:sp>
      <p:sp>
        <p:nvSpPr>
          <p:cNvPr id="558" name="Google Shape;558;p44"/>
          <p:cNvSpPr txBox="1"/>
          <p:nvPr/>
        </p:nvSpPr>
        <p:spPr>
          <a:xfrm>
            <a:off x="981900" y="4296500"/>
            <a:ext cx="7180200" cy="307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t/>
            </a:r>
            <a:endParaRPr b="1" i="0" sz="1000" u="sng" cap="none" strike="noStrike">
              <a:solidFill>
                <a:schemeClr val="dk1"/>
              </a:solidFill>
              <a:latin typeface="DM Sans"/>
              <a:ea typeface="DM Sans"/>
              <a:cs typeface="DM Sans"/>
              <a:sym typeface="DM Sans"/>
            </a:endParaRPr>
          </a:p>
        </p:txBody>
      </p:sp>
      <p:sp>
        <p:nvSpPr>
          <p:cNvPr id="559" name="Google Shape;559;p44"/>
          <p:cNvSpPr txBox="1"/>
          <p:nvPr/>
        </p:nvSpPr>
        <p:spPr>
          <a:xfrm>
            <a:off x="5756075" y="1252525"/>
            <a:ext cx="2576400" cy="36327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chemeClr val="dk1"/>
              </a:buClr>
              <a:buSzPts val="1400"/>
              <a:buFont typeface="DM Sans"/>
              <a:buChar char="●"/>
            </a:pPr>
            <a:r>
              <a:rPr b="0" i="0" lang="en" sz="1400" u="none" cap="none" strike="noStrike">
                <a:solidFill>
                  <a:schemeClr val="dk1"/>
                </a:solidFill>
                <a:latin typeface="DM Sans"/>
                <a:ea typeface="DM Sans"/>
                <a:cs typeface="DM Sans"/>
                <a:sym typeface="DM Sans"/>
              </a:rPr>
              <a:t>Shows the distribution of passenger satisfaction across </a:t>
            </a:r>
            <a:r>
              <a:rPr lang="en">
                <a:solidFill>
                  <a:schemeClr val="dk1"/>
                </a:solidFill>
                <a:latin typeface="DM Sans"/>
                <a:ea typeface="DM Sans"/>
                <a:cs typeface="DM Sans"/>
                <a:sym typeface="DM Sans"/>
              </a:rPr>
              <a:t>the two genders</a:t>
            </a:r>
            <a:r>
              <a:rPr b="0" i="0" lang="en" sz="1400" u="none" cap="none" strike="noStrike">
                <a:solidFill>
                  <a:schemeClr val="dk1"/>
                </a:solidFill>
                <a:latin typeface="DM Sans"/>
                <a:ea typeface="DM Sans"/>
                <a:cs typeface="DM Sans"/>
                <a:sym typeface="DM Sans"/>
              </a:rPr>
              <a:t>.</a:t>
            </a:r>
            <a:endParaRPr b="0" i="0" sz="1400" u="none" cap="none" strike="noStrike">
              <a:solidFill>
                <a:schemeClr val="dk1"/>
              </a:solidFill>
              <a:latin typeface="DM Sans"/>
              <a:ea typeface="DM Sans"/>
              <a:cs typeface="DM Sans"/>
              <a:sym typeface="DM Sans"/>
            </a:endParaRPr>
          </a:p>
          <a:p>
            <a:pPr indent="-317500" lvl="0" marL="457200" marR="0" rtl="0" algn="l">
              <a:lnSpc>
                <a:spcPct val="100000"/>
              </a:lnSpc>
              <a:spcBef>
                <a:spcPts val="0"/>
              </a:spcBef>
              <a:spcAft>
                <a:spcPts val="0"/>
              </a:spcAft>
              <a:buClr>
                <a:schemeClr val="dk1"/>
              </a:buClr>
              <a:buSzPts val="1400"/>
              <a:buFont typeface="DM Sans"/>
              <a:buChar char="●"/>
            </a:pPr>
            <a:r>
              <a:rPr lang="en">
                <a:solidFill>
                  <a:schemeClr val="dk1"/>
                </a:solidFill>
                <a:latin typeface="DM Sans"/>
                <a:ea typeface="DM Sans"/>
                <a:cs typeface="DM Sans"/>
                <a:sym typeface="DM Sans"/>
              </a:rPr>
              <a:t>Both males and females have a similar distribution of satisfaction</a:t>
            </a:r>
            <a:endParaRPr>
              <a:solidFill>
                <a:schemeClr val="dk1"/>
              </a:solidFill>
              <a:latin typeface="DM Sans"/>
              <a:ea typeface="DM Sans"/>
              <a:cs typeface="DM Sans"/>
              <a:sym typeface="DM Sans"/>
            </a:endParaRPr>
          </a:p>
          <a:p>
            <a:pPr indent="-317500" lvl="0" marL="457200" marR="0" rtl="0" algn="l">
              <a:lnSpc>
                <a:spcPct val="100000"/>
              </a:lnSpc>
              <a:spcBef>
                <a:spcPts val="0"/>
              </a:spcBef>
              <a:spcAft>
                <a:spcPts val="0"/>
              </a:spcAft>
              <a:buClr>
                <a:schemeClr val="dk1"/>
              </a:buClr>
              <a:buSzPts val="1400"/>
              <a:buFont typeface="DM Sans"/>
              <a:buChar char="●"/>
            </a:pPr>
            <a:r>
              <a:rPr lang="en">
                <a:solidFill>
                  <a:schemeClr val="dk1"/>
                </a:solidFill>
                <a:latin typeface="DM Sans"/>
                <a:ea typeface="DM Sans"/>
                <a:cs typeface="DM Sans"/>
                <a:sym typeface="DM Sans"/>
              </a:rPr>
              <a:t>Larger proportion of customers falling into the "Neutral or Dissatisfied" </a:t>
            </a:r>
            <a:endParaRPr b="0" i="0" sz="1400" u="none" cap="none" strike="noStrike">
              <a:solidFill>
                <a:schemeClr val="dk1"/>
              </a:solidFill>
              <a:latin typeface="DM Sans"/>
              <a:ea typeface="DM Sans"/>
              <a:cs typeface="DM Sans"/>
              <a:sym typeface="DM Sans"/>
            </a:endParaRPr>
          </a:p>
          <a:p>
            <a:pPr indent="-317500" lvl="0" marL="457200" marR="0" rtl="0" algn="l">
              <a:lnSpc>
                <a:spcPct val="100000"/>
              </a:lnSpc>
              <a:spcBef>
                <a:spcPts val="0"/>
              </a:spcBef>
              <a:spcAft>
                <a:spcPts val="0"/>
              </a:spcAft>
              <a:buClr>
                <a:schemeClr val="dk1"/>
              </a:buClr>
              <a:buSzPts val="1400"/>
              <a:buFont typeface="DM Sans"/>
              <a:buChar char="●"/>
            </a:pPr>
            <a:r>
              <a:rPr lang="en">
                <a:solidFill>
                  <a:schemeClr val="dk1"/>
                </a:solidFill>
                <a:latin typeface="DM Sans"/>
                <a:ea typeface="DM Sans"/>
                <a:cs typeface="DM Sans"/>
                <a:sym typeface="DM Sans"/>
              </a:rPr>
              <a:t>Gender does not seem to have a significant impact on satisfaction levels</a:t>
            </a:r>
            <a:endParaRPr b="0" i="0" sz="1400" u="none" cap="none" strike="noStrike">
              <a:solidFill>
                <a:schemeClr val="dk1"/>
              </a:solidFill>
              <a:latin typeface="DM Sans"/>
              <a:ea typeface="DM Sans"/>
              <a:cs typeface="DM Sans"/>
              <a:sym typeface="DM Sans"/>
            </a:endParaRPr>
          </a:p>
        </p:txBody>
      </p:sp>
      <p:pic>
        <p:nvPicPr>
          <p:cNvPr id="560" name="Google Shape;560;p44"/>
          <p:cNvPicPr preferRelativeResize="0"/>
          <p:nvPr/>
        </p:nvPicPr>
        <p:blipFill>
          <a:blip r:embed="rId3">
            <a:alphaModFix/>
          </a:blip>
          <a:stretch>
            <a:fillRect/>
          </a:stretch>
        </p:blipFill>
        <p:spPr>
          <a:xfrm>
            <a:off x="792675" y="1113400"/>
            <a:ext cx="4541051" cy="37130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45"/>
          <p:cNvSpPr txBox="1"/>
          <p:nvPr>
            <p:ph type="title"/>
          </p:nvPr>
        </p:nvSpPr>
        <p:spPr>
          <a:xfrm>
            <a:off x="720000" y="279825"/>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a:t> Flight distance vs Arrival delay</a:t>
            </a:r>
            <a:endParaRPr/>
          </a:p>
        </p:txBody>
      </p:sp>
      <p:sp>
        <p:nvSpPr>
          <p:cNvPr id="566" name="Google Shape;566;p45"/>
          <p:cNvSpPr txBox="1"/>
          <p:nvPr/>
        </p:nvSpPr>
        <p:spPr>
          <a:xfrm>
            <a:off x="981900" y="4296500"/>
            <a:ext cx="7180200" cy="307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t/>
            </a:r>
            <a:endParaRPr b="1" i="0" sz="1000" u="sng" cap="none" strike="noStrike">
              <a:solidFill>
                <a:schemeClr val="dk1"/>
              </a:solidFill>
              <a:latin typeface="DM Sans"/>
              <a:ea typeface="DM Sans"/>
              <a:cs typeface="DM Sans"/>
              <a:sym typeface="DM Sans"/>
            </a:endParaRPr>
          </a:p>
        </p:txBody>
      </p:sp>
      <p:sp>
        <p:nvSpPr>
          <p:cNvPr id="567" name="Google Shape;567;p45"/>
          <p:cNvSpPr txBox="1"/>
          <p:nvPr/>
        </p:nvSpPr>
        <p:spPr>
          <a:xfrm>
            <a:off x="5756075" y="1033400"/>
            <a:ext cx="2576400" cy="41868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chemeClr val="dk1"/>
              </a:buClr>
              <a:buSzPts val="1300"/>
              <a:buFont typeface="DM Sans"/>
              <a:buChar char="●"/>
            </a:pPr>
            <a:r>
              <a:rPr lang="en" sz="1300">
                <a:solidFill>
                  <a:schemeClr val="dk1"/>
                </a:solidFill>
                <a:latin typeface="DM Sans"/>
                <a:ea typeface="DM Sans"/>
                <a:cs typeface="DM Sans"/>
                <a:sym typeface="DM Sans"/>
              </a:rPr>
              <a:t>No strong correlation found between flight distance, arrival delay, and satisfaction</a:t>
            </a:r>
            <a:endParaRPr sz="1300">
              <a:solidFill>
                <a:schemeClr val="dk1"/>
              </a:solidFill>
              <a:latin typeface="DM Sans"/>
              <a:ea typeface="DM Sans"/>
              <a:cs typeface="DM Sans"/>
              <a:sym typeface="DM Sans"/>
            </a:endParaRPr>
          </a:p>
          <a:p>
            <a:pPr indent="-311150" lvl="0" marL="457200" rtl="0" algn="l">
              <a:spcBef>
                <a:spcPts val="0"/>
              </a:spcBef>
              <a:spcAft>
                <a:spcPts val="0"/>
              </a:spcAft>
              <a:buClr>
                <a:schemeClr val="dk1"/>
              </a:buClr>
              <a:buSzPts val="1300"/>
              <a:buFont typeface="DM Sans"/>
              <a:buChar char="●"/>
            </a:pPr>
            <a:r>
              <a:rPr lang="en" sz="1300">
                <a:solidFill>
                  <a:schemeClr val="dk1"/>
                </a:solidFill>
                <a:latin typeface="DM Sans"/>
                <a:ea typeface="DM Sans"/>
                <a:cs typeface="DM Sans"/>
                <a:sym typeface="DM Sans"/>
              </a:rPr>
              <a:t>Longer flights and greater delays generally decrease satisfaction, but with many exceptions</a:t>
            </a:r>
            <a:endParaRPr sz="1300">
              <a:solidFill>
                <a:schemeClr val="dk1"/>
              </a:solidFill>
              <a:latin typeface="DM Sans"/>
              <a:ea typeface="DM Sans"/>
              <a:cs typeface="DM Sans"/>
              <a:sym typeface="DM Sans"/>
            </a:endParaRPr>
          </a:p>
          <a:p>
            <a:pPr indent="-311150" lvl="0" marL="457200" rtl="0" algn="l">
              <a:spcBef>
                <a:spcPts val="0"/>
              </a:spcBef>
              <a:spcAft>
                <a:spcPts val="0"/>
              </a:spcAft>
              <a:buClr>
                <a:schemeClr val="dk1"/>
              </a:buClr>
              <a:buSzPts val="1300"/>
              <a:buFont typeface="DM Sans"/>
              <a:buChar char="●"/>
            </a:pPr>
            <a:r>
              <a:rPr lang="en" sz="1300">
                <a:solidFill>
                  <a:schemeClr val="dk1"/>
                </a:solidFill>
                <a:latin typeface="DM Sans"/>
                <a:ea typeface="DM Sans"/>
                <a:cs typeface="DM Sans"/>
                <a:sym typeface="DM Sans"/>
              </a:rPr>
              <a:t>Age has minimal impact; younger passengers are slightly more tolerant of delays on shorter flights</a:t>
            </a:r>
            <a:endParaRPr sz="1300">
              <a:solidFill>
                <a:schemeClr val="dk1"/>
              </a:solidFill>
              <a:latin typeface="DM Sans"/>
              <a:ea typeface="DM Sans"/>
              <a:cs typeface="DM Sans"/>
              <a:sym typeface="DM Sans"/>
            </a:endParaRPr>
          </a:p>
          <a:p>
            <a:pPr indent="-311150" lvl="0" marL="457200" rtl="0" algn="l">
              <a:spcBef>
                <a:spcPts val="0"/>
              </a:spcBef>
              <a:spcAft>
                <a:spcPts val="0"/>
              </a:spcAft>
              <a:buClr>
                <a:schemeClr val="dk1"/>
              </a:buClr>
              <a:buSzPts val="1300"/>
              <a:buFont typeface="DM Sans"/>
              <a:buChar char="●"/>
            </a:pPr>
            <a:r>
              <a:rPr lang="en" sz="1300">
                <a:solidFill>
                  <a:schemeClr val="dk1"/>
                </a:solidFill>
                <a:latin typeface="DM Sans"/>
                <a:ea typeface="DM Sans"/>
                <a:cs typeface="DM Sans"/>
                <a:sym typeface="DM Sans"/>
              </a:rPr>
              <a:t>Some of the longest, delayed flights still have satisfied customers, hinting service quality may play a larger role in satisfaction</a:t>
            </a:r>
            <a:endParaRPr sz="1300">
              <a:solidFill>
                <a:schemeClr val="dk1"/>
              </a:solidFill>
              <a:latin typeface="DM Sans"/>
              <a:ea typeface="DM Sans"/>
              <a:cs typeface="DM Sans"/>
              <a:sym typeface="DM Sans"/>
            </a:endParaRPr>
          </a:p>
          <a:p>
            <a:pPr indent="0" lvl="0" marL="457200" marR="0" rtl="0" algn="l">
              <a:lnSpc>
                <a:spcPct val="100000"/>
              </a:lnSpc>
              <a:spcBef>
                <a:spcPts val="0"/>
              </a:spcBef>
              <a:spcAft>
                <a:spcPts val="0"/>
              </a:spcAft>
              <a:buNone/>
            </a:pPr>
            <a:r>
              <a:t/>
            </a:r>
            <a:endParaRPr sz="1300">
              <a:solidFill>
                <a:schemeClr val="dk1"/>
              </a:solidFill>
              <a:latin typeface="DM Sans"/>
              <a:ea typeface="DM Sans"/>
              <a:cs typeface="DM Sans"/>
              <a:sym typeface="DM Sans"/>
            </a:endParaRPr>
          </a:p>
        </p:txBody>
      </p:sp>
      <p:pic>
        <p:nvPicPr>
          <p:cNvPr id="568" name="Google Shape;568;p45"/>
          <p:cNvPicPr preferRelativeResize="0"/>
          <p:nvPr/>
        </p:nvPicPr>
        <p:blipFill>
          <a:blip r:embed="rId3">
            <a:alphaModFix/>
          </a:blip>
          <a:stretch>
            <a:fillRect/>
          </a:stretch>
        </p:blipFill>
        <p:spPr>
          <a:xfrm>
            <a:off x="369150" y="1143775"/>
            <a:ext cx="5433866" cy="34602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46"/>
          <p:cNvSpPr txBox="1"/>
          <p:nvPr>
            <p:ph type="title"/>
          </p:nvPr>
        </p:nvSpPr>
        <p:spPr>
          <a:xfrm>
            <a:off x="713225" y="1556700"/>
            <a:ext cx="4344300" cy="174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 Selection</a:t>
            </a:r>
            <a:endParaRPr/>
          </a:p>
        </p:txBody>
      </p:sp>
      <p:grpSp>
        <p:nvGrpSpPr>
          <p:cNvPr id="574" name="Google Shape;574;p46"/>
          <p:cNvGrpSpPr/>
          <p:nvPr/>
        </p:nvGrpSpPr>
        <p:grpSpPr>
          <a:xfrm>
            <a:off x="5104880" y="-153372"/>
            <a:ext cx="4218588" cy="6000577"/>
            <a:chOff x="5104880" y="-153372"/>
            <a:chExt cx="4218588" cy="6000577"/>
          </a:xfrm>
        </p:grpSpPr>
        <p:sp>
          <p:nvSpPr>
            <p:cNvPr id="575" name="Google Shape;575;p46"/>
            <p:cNvSpPr/>
            <p:nvPr/>
          </p:nvSpPr>
          <p:spPr>
            <a:xfrm>
              <a:off x="7074911" y="254737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46"/>
            <p:cNvSpPr/>
            <p:nvPr/>
          </p:nvSpPr>
          <p:spPr>
            <a:xfrm>
              <a:off x="7026089" y="-1533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46"/>
            <p:cNvSpPr/>
            <p:nvPr/>
          </p:nvSpPr>
          <p:spPr>
            <a:xfrm>
              <a:off x="6606684" y="31846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46"/>
            <p:cNvSpPr/>
            <p:nvPr/>
          </p:nvSpPr>
          <p:spPr>
            <a:xfrm>
              <a:off x="6138958" y="13708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46"/>
            <p:cNvSpPr/>
            <p:nvPr/>
          </p:nvSpPr>
          <p:spPr>
            <a:xfrm>
              <a:off x="5732458" y="87452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46"/>
            <p:cNvSpPr/>
            <p:nvPr/>
          </p:nvSpPr>
          <p:spPr>
            <a:xfrm>
              <a:off x="7480889" y="98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46"/>
            <p:cNvSpPr/>
            <p:nvPr/>
          </p:nvSpPr>
          <p:spPr>
            <a:xfrm>
              <a:off x="7074904" y="207505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46"/>
            <p:cNvSpPr/>
            <p:nvPr/>
          </p:nvSpPr>
          <p:spPr>
            <a:xfrm>
              <a:off x="7962441" y="140407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46"/>
            <p:cNvSpPr/>
            <p:nvPr/>
          </p:nvSpPr>
          <p:spPr>
            <a:xfrm flipH="1" rot="10800000">
              <a:off x="6036087" y="312497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46"/>
            <p:cNvSpPr/>
            <p:nvPr/>
          </p:nvSpPr>
          <p:spPr>
            <a:xfrm flipH="1" rot="10800000">
              <a:off x="6355205" y="41020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46"/>
            <p:cNvSpPr/>
            <p:nvPr/>
          </p:nvSpPr>
          <p:spPr>
            <a:xfrm flipH="1" rot="10800000">
              <a:off x="5732459" y="48790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46"/>
            <p:cNvSpPr/>
            <p:nvPr/>
          </p:nvSpPr>
          <p:spPr>
            <a:xfrm flipH="1" rot="10800000">
              <a:off x="6683197" y="351549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46"/>
            <p:cNvSpPr/>
            <p:nvPr/>
          </p:nvSpPr>
          <p:spPr>
            <a:xfrm flipH="1" rot="10800000">
              <a:off x="5104880" y="443452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46"/>
            <p:cNvSpPr/>
            <p:nvPr/>
          </p:nvSpPr>
          <p:spPr>
            <a:xfrm>
              <a:off x="8484758" y="243811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46"/>
            <p:cNvSpPr/>
            <p:nvPr/>
          </p:nvSpPr>
          <p:spPr>
            <a:xfrm>
              <a:off x="8038260" y="29212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46"/>
            <p:cNvSpPr/>
            <p:nvPr/>
          </p:nvSpPr>
          <p:spPr>
            <a:xfrm flipH="1" rot="10800000">
              <a:off x="7853362" y="396220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46"/>
            <p:cNvSpPr/>
            <p:nvPr/>
          </p:nvSpPr>
          <p:spPr>
            <a:xfrm flipH="1" rot="10800000">
              <a:off x="8261505" y="443452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592" name="Google Shape;592;p46"/>
          <p:cNvCxnSpPr/>
          <p:nvPr/>
        </p:nvCxnSpPr>
        <p:spPr>
          <a:xfrm>
            <a:off x="841250" y="1385850"/>
            <a:ext cx="373500" cy="0"/>
          </a:xfrm>
          <a:prstGeom prst="straightConnector1">
            <a:avLst/>
          </a:prstGeom>
          <a:noFill/>
          <a:ln cap="flat" cmpd="sng" w="19050">
            <a:solidFill>
              <a:schemeClr val="dk1"/>
            </a:solidFill>
            <a:prstDash val="solid"/>
            <a:round/>
            <a:headEnd len="med" w="med" type="none"/>
            <a:tailEnd len="med" w="med" type="none"/>
          </a:ln>
        </p:spPr>
      </p:cxnSp>
      <p:sp>
        <p:nvSpPr>
          <p:cNvPr id="593" name="Google Shape;593;p46"/>
          <p:cNvSpPr txBox="1"/>
          <p:nvPr/>
        </p:nvSpPr>
        <p:spPr>
          <a:xfrm>
            <a:off x="713225" y="690075"/>
            <a:ext cx="1260600" cy="6099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n" sz="5000">
                <a:solidFill>
                  <a:schemeClr val="dk1"/>
                </a:solidFill>
                <a:latin typeface="Outfit"/>
                <a:ea typeface="Outfit"/>
                <a:cs typeface="Outfit"/>
                <a:sym typeface="Outfit"/>
              </a:rPr>
              <a:t>03</a:t>
            </a:r>
            <a:endParaRPr>
              <a:solidFill>
                <a:schemeClr val="dk1"/>
              </a:solidFill>
              <a:latin typeface="DM Sans"/>
              <a:ea typeface="DM Sans"/>
              <a:cs typeface="DM Sans"/>
              <a:sym typeface="DM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47"/>
          <p:cNvSpPr txBox="1"/>
          <p:nvPr>
            <p:ph type="title"/>
          </p:nvPr>
        </p:nvSpPr>
        <p:spPr>
          <a:xfrm>
            <a:off x="720000" y="445025"/>
            <a:ext cx="5549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 Selection</a:t>
            </a:r>
            <a:endParaRPr/>
          </a:p>
        </p:txBody>
      </p:sp>
      <p:sp>
        <p:nvSpPr>
          <p:cNvPr id="599" name="Google Shape;599;p47"/>
          <p:cNvSpPr txBox="1"/>
          <p:nvPr>
            <p:ph idx="1" type="subTitle"/>
          </p:nvPr>
        </p:nvSpPr>
        <p:spPr>
          <a:xfrm>
            <a:off x="143750" y="1116975"/>
            <a:ext cx="5782500" cy="37647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Font typeface="DM Sans Light"/>
              <a:buChar char="●"/>
            </a:pPr>
            <a:r>
              <a:rPr lang="en" sz="1200"/>
              <a:t>Criteria for Model Selection:</a:t>
            </a:r>
            <a:endParaRPr sz="1200"/>
          </a:p>
          <a:p>
            <a:pPr indent="-304800" lvl="1" marL="914400" rtl="0" algn="just">
              <a:spcBef>
                <a:spcPts val="0"/>
              </a:spcBef>
              <a:spcAft>
                <a:spcPts val="0"/>
              </a:spcAft>
              <a:buSzPts val="1200"/>
              <a:buChar char="○"/>
            </a:pPr>
            <a:r>
              <a:rPr b="1" lang="en" sz="1200">
                <a:solidFill>
                  <a:srgbClr val="000000"/>
                </a:solidFill>
              </a:rPr>
              <a:t>Accuracy:</a:t>
            </a:r>
            <a:r>
              <a:rPr lang="en" sz="1200">
                <a:solidFill>
                  <a:srgbClr val="000000"/>
                </a:solidFill>
              </a:rPr>
              <a:t> The model should accurately predict passenger satisfaction.</a:t>
            </a:r>
            <a:endParaRPr sz="1200">
              <a:solidFill>
                <a:srgbClr val="000000"/>
              </a:solidFill>
            </a:endParaRPr>
          </a:p>
          <a:p>
            <a:pPr indent="-304800" lvl="1" marL="914400" rtl="0" algn="just">
              <a:spcBef>
                <a:spcPts val="0"/>
              </a:spcBef>
              <a:spcAft>
                <a:spcPts val="0"/>
              </a:spcAft>
              <a:buSzPts val="1200"/>
              <a:buChar char="○"/>
            </a:pPr>
            <a:r>
              <a:rPr b="1" lang="en" sz="1200">
                <a:solidFill>
                  <a:srgbClr val="000000"/>
                </a:solidFill>
              </a:rPr>
              <a:t>Precision:</a:t>
            </a:r>
            <a:r>
              <a:rPr lang="en" sz="1200">
                <a:solidFill>
                  <a:srgbClr val="000000"/>
                </a:solidFill>
              </a:rPr>
              <a:t> The model should minimize false positive predictions (incorrectly predicting a satisfied passenger as dissatisfied).</a:t>
            </a:r>
            <a:endParaRPr sz="1200">
              <a:solidFill>
                <a:srgbClr val="000000"/>
              </a:solidFill>
            </a:endParaRPr>
          </a:p>
          <a:p>
            <a:pPr indent="-304800" lvl="1" marL="914400" rtl="0" algn="just">
              <a:spcBef>
                <a:spcPts val="0"/>
              </a:spcBef>
              <a:spcAft>
                <a:spcPts val="0"/>
              </a:spcAft>
              <a:buSzPts val="1200"/>
              <a:buChar char="○"/>
            </a:pPr>
            <a:r>
              <a:rPr b="1" lang="en" sz="1200">
                <a:solidFill>
                  <a:srgbClr val="000000"/>
                </a:solidFill>
              </a:rPr>
              <a:t>Recall:</a:t>
            </a:r>
            <a:r>
              <a:rPr lang="en" sz="1200">
                <a:solidFill>
                  <a:srgbClr val="000000"/>
                </a:solidFill>
              </a:rPr>
              <a:t> The model should minimize false negative predictions (incorrectly predicting a dissatisfied passenger as satisfied).</a:t>
            </a:r>
            <a:endParaRPr sz="1200">
              <a:solidFill>
                <a:srgbClr val="000000"/>
              </a:solidFill>
            </a:endParaRPr>
          </a:p>
          <a:p>
            <a:pPr indent="-304800" lvl="1" marL="914400" rtl="0" algn="just">
              <a:spcBef>
                <a:spcPts val="0"/>
              </a:spcBef>
              <a:spcAft>
                <a:spcPts val="0"/>
              </a:spcAft>
              <a:buSzPts val="1200"/>
              <a:buChar char="○"/>
            </a:pPr>
            <a:r>
              <a:rPr b="1" lang="en" sz="1200">
                <a:solidFill>
                  <a:srgbClr val="000000"/>
                </a:solidFill>
              </a:rPr>
              <a:t>F1-Score:</a:t>
            </a:r>
            <a:r>
              <a:rPr lang="en" sz="1200">
                <a:solidFill>
                  <a:srgbClr val="000000"/>
                </a:solidFill>
              </a:rPr>
              <a:t> A balanced metric that considers both precision and recall.</a:t>
            </a:r>
            <a:endParaRPr sz="1200">
              <a:solidFill>
                <a:srgbClr val="000000"/>
              </a:solidFill>
            </a:endParaRPr>
          </a:p>
          <a:p>
            <a:pPr indent="-304800" lvl="1" marL="914400" rtl="0" algn="just">
              <a:spcBef>
                <a:spcPts val="0"/>
              </a:spcBef>
              <a:spcAft>
                <a:spcPts val="0"/>
              </a:spcAft>
              <a:buSzPts val="1200"/>
              <a:buChar char="○"/>
            </a:pPr>
            <a:r>
              <a:rPr b="1" lang="en" sz="1200">
                <a:solidFill>
                  <a:srgbClr val="000000"/>
                </a:solidFill>
              </a:rPr>
              <a:t>ROC Curve:</a:t>
            </a:r>
            <a:r>
              <a:rPr lang="en" sz="1200">
                <a:solidFill>
                  <a:srgbClr val="000000"/>
                </a:solidFill>
              </a:rPr>
              <a:t> A visual representation of the model's performance at various classification thresholds.</a:t>
            </a:r>
            <a:endParaRPr sz="1200">
              <a:solidFill>
                <a:srgbClr val="000000"/>
              </a:solidFill>
            </a:endParaRPr>
          </a:p>
          <a:p>
            <a:pPr indent="-304800" lvl="1" marL="914400" rtl="0" algn="just">
              <a:spcBef>
                <a:spcPts val="0"/>
              </a:spcBef>
              <a:spcAft>
                <a:spcPts val="0"/>
              </a:spcAft>
              <a:buSzPts val="1200"/>
              <a:buChar char="○"/>
            </a:pPr>
            <a:r>
              <a:rPr b="1" lang="en" sz="1200">
                <a:solidFill>
                  <a:srgbClr val="000000"/>
                </a:solidFill>
              </a:rPr>
              <a:t>Confusion Matrix:</a:t>
            </a:r>
            <a:r>
              <a:rPr lang="en" sz="1200">
                <a:solidFill>
                  <a:srgbClr val="000000"/>
                </a:solidFill>
              </a:rPr>
              <a:t> A detailed breakdown of correct and incorrect predictions.</a:t>
            </a:r>
            <a:endParaRPr sz="1200">
              <a:solidFill>
                <a:srgbClr val="000000"/>
              </a:solidFill>
            </a:endParaRPr>
          </a:p>
          <a:p>
            <a:pPr indent="-304800" lvl="1" marL="914400" rtl="0" algn="just">
              <a:spcBef>
                <a:spcPts val="0"/>
              </a:spcBef>
              <a:spcAft>
                <a:spcPts val="0"/>
              </a:spcAft>
              <a:buSzPts val="1200"/>
              <a:buChar char="○"/>
            </a:pPr>
            <a:r>
              <a:rPr b="1" lang="en" sz="1200">
                <a:solidFill>
                  <a:srgbClr val="000000"/>
                </a:solidFill>
              </a:rPr>
              <a:t>Computational Cost:</a:t>
            </a:r>
            <a:r>
              <a:rPr lang="en" sz="1200">
                <a:solidFill>
                  <a:srgbClr val="000000"/>
                </a:solidFill>
              </a:rPr>
              <a:t> The model should be computationally efficient, especially for real-time applications.</a:t>
            </a:r>
            <a:endParaRPr sz="1200">
              <a:solidFill>
                <a:srgbClr val="000000"/>
              </a:solidFill>
            </a:endParaRPr>
          </a:p>
          <a:p>
            <a:pPr indent="-304800" lvl="1" marL="914400" rtl="0" algn="just">
              <a:spcBef>
                <a:spcPts val="0"/>
              </a:spcBef>
              <a:spcAft>
                <a:spcPts val="0"/>
              </a:spcAft>
              <a:buSzPts val="1200"/>
              <a:buChar char="○"/>
            </a:pPr>
            <a:r>
              <a:rPr b="1" lang="en" sz="1200">
                <a:solidFill>
                  <a:srgbClr val="000000"/>
                </a:solidFill>
              </a:rPr>
              <a:t>Interpretability:</a:t>
            </a:r>
            <a:r>
              <a:rPr lang="en" sz="1200">
                <a:solidFill>
                  <a:srgbClr val="000000"/>
                </a:solidFill>
              </a:rPr>
              <a:t> The model's decisions should be understandable and explainable.</a:t>
            </a:r>
            <a:endParaRPr sz="1200"/>
          </a:p>
        </p:txBody>
      </p:sp>
      <p:grpSp>
        <p:nvGrpSpPr>
          <p:cNvPr id="600" name="Google Shape;600;p47"/>
          <p:cNvGrpSpPr/>
          <p:nvPr/>
        </p:nvGrpSpPr>
        <p:grpSpPr>
          <a:xfrm>
            <a:off x="5430930" y="-445784"/>
            <a:ext cx="4086563" cy="6064817"/>
            <a:chOff x="5430930" y="-445784"/>
            <a:chExt cx="4086563" cy="6064817"/>
          </a:xfrm>
        </p:grpSpPr>
        <p:sp>
          <p:nvSpPr>
            <p:cNvPr id="601" name="Google Shape;601;p47"/>
            <p:cNvSpPr/>
            <p:nvPr/>
          </p:nvSpPr>
          <p:spPr>
            <a:xfrm>
              <a:off x="7368520" y="98876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47"/>
            <p:cNvSpPr/>
            <p:nvPr/>
          </p:nvSpPr>
          <p:spPr>
            <a:xfrm flipH="1" rot="10800000">
              <a:off x="6036409" y="19621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47"/>
            <p:cNvSpPr/>
            <p:nvPr/>
          </p:nvSpPr>
          <p:spPr>
            <a:xfrm>
              <a:off x="7309474" y="21661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47"/>
            <p:cNvSpPr/>
            <p:nvPr/>
          </p:nvSpPr>
          <p:spPr>
            <a:xfrm>
              <a:off x="6269702" y="-44578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47"/>
            <p:cNvSpPr/>
            <p:nvPr/>
          </p:nvSpPr>
          <p:spPr>
            <a:xfrm>
              <a:off x="5830483" y="421588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47"/>
            <p:cNvSpPr/>
            <p:nvPr/>
          </p:nvSpPr>
          <p:spPr>
            <a:xfrm>
              <a:off x="6269683" y="1332541"/>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47"/>
            <p:cNvSpPr/>
            <p:nvPr/>
          </p:nvSpPr>
          <p:spPr>
            <a:xfrm>
              <a:off x="8430764" y="23422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47"/>
            <p:cNvSpPr/>
            <p:nvPr/>
          </p:nvSpPr>
          <p:spPr>
            <a:xfrm>
              <a:off x="7309467" y="261820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47"/>
            <p:cNvSpPr/>
            <p:nvPr/>
          </p:nvSpPr>
          <p:spPr>
            <a:xfrm>
              <a:off x="7962441" y="13180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47"/>
            <p:cNvSpPr/>
            <p:nvPr/>
          </p:nvSpPr>
          <p:spPr>
            <a:xfrm flipH="1" rot="10800000">
              <a:off x="6351880" y="311086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47"/>
            <p:cNvSpPr/>
            <p:nvPr/>
          </p:nvSpPr>
          <p:spPr>
            <a:xfrm flipH="1" rot="10800000">
              <a:off x="6790284" y="354856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47"/>
            <p:cNvSpPr/>
            <p:nvPr/>
          </p:nvSpPr>
          <p:spPr>
            <a:xfrm flipH="1" rot="10800000">
              <a:off x="5430930" y="465091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47"/>
            <p:cNvSpPr/>
            <p:nvPr/>
          </p:nvSpPr>
          <p:spPr>
            <a:xfrm>
              <a:off x="8678783" y="266882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47"/>
            <p:cNvSpPr/>
            <p:nvPr/>
          </p:nvSpPr>
          <p:spPr>
            <a:xfrm>
              <a:off x="8430773" y="22359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47"/>
            <p:cNvSpPr/>
            <p:nvPr/>
          </p:nvSpPr>
          <p:spPr>
            <a:xfrm flipH="1" rot="10800000">
              <a:off x="8119787" y="363695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47"/>
            <p:cNvSpPr/>
            <p:nvPr/>
          </p:nvSpPr>
          <p:spPr>
            <a:xfrm flipH="1" rot="10800000">
              <a:off x="7697255" y="411247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47"/>
            <p:cNvSpPr/>
            <p:nvPr/>
          </p:nvSpPr>
          <p:spPr>
            <a:xfrm>
              <a:off x="6628072" y="112491"/>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47"/>
            <p:cNvSpPr/>
            <p:nvPr/>
          </p:nvSpPr>
          <p:spPr>
            <a:xfrm flipH="1" rot="10800000">
              <a:off x="7825159" y="-2514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48"/>
          <p:cNvSpPr txBox="1"/>
          <p:nvPr>
            <p:ph type="title"/>
          </p:nvPr>
        </p:nvSpPr>
        <p:spPr>
          <a:xfrm>
            <a:off x="720000" y="445025"/>
            <a:ext cx="5549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Models</a:t>
            </a:r>
            <a:endParaRPr/>
          </a:p>
        </p:txBody>
      </p:sp>
      <p:sp>
        <p:nvSpPr>
          <p:cNvPr id="624" name="Google Shape;624;p48"/>
          <p:cNvSpPr txBox="1"/>
          <p:nvPr>
            <p:ph idx="1" type="subTitle"/>
          </p:nvPr>
        </p:nvSpPr>
        <p:spPr>
          <a:xfrm>
            <a:off x="720000" y="1652075"/>
            <a:ext cx="5419500" cy="30162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a:solidFill>
                  <a:srgbClr val="0B5394"/>
                </a:solidFill>
                <a:latin typeface="DM Sans SemiBold"/>
                <a:ea typeface="DM Sans SemiBold"/>
                <a:cs typeface="DM Sans SemiBold"/>
                <a:sym typeface="DM Sans SemiBold"/>
              </a:rPr>
              <a:t>The models we have selected for training are as follows:</a:t>
            </a:r>
            <a:endParaRPr>
              <a:solidFill>
                <a:srgbClr val="0B5394"/>
              </a:solidFill>
              <a:latin typeface="DM Sans SemiBold"/>
              <a:ea typeface="DM Sans SemiBold"/>
              <a:cs typeface="DM Sans SemiBold"/>
              <a:sym typeface="DM Sans SemiBold"/>
            </a:endParaRPr>
          </a:p>
          <a:p>
            <a:pPr indent="0" lvl="0" marL="0" rtl="0" algn="l">
              <a:lnSpc>
                <a:spcPct val="135714"/>
              </a:lnSpc>
              <a:spcBef>
                <a:spcPts val="0"/>
              </a:spcBef>
              <a:spcAft>
                <a:spcPts val="0"/>
              </a:spcAft>
              <a:buNone/>
            </a:pPr>
            <a:r>
              <a:t/>
            </a:r>
            <a:endParaRPr>
              <a:solidFill>
                <a:srgbClr val="0B5394"/>
              </a:solidFill>
              <a:latin typeface="DM Sans SemiBold"/>
              <a:ea typeface="DM Sans SemiBold"/>
              <a:cs typeface="DM Sans SemiBold"/>
              <a:sym typeface="DM Sans SemiBold"/>
            </a:endParaRPr>
          </a:p>
          <a:p>
            <a:pPr indent="-317500" lvl="0" marL="457200" rtl="0" algn="l">
              <a:lnSpc>
                <a:spcPct val="135714"/>
              </a:lnSpc>
              <a:spcBef>
                <a:spcPts val="0"/>
              </a:spcBef>
              <a:spcAft>
                <a:spcPts val="0"/>
              </a:spcAft>
              <a:buClr>
                <a:srgbClr val="0B5394"/>
              </a:buClr>
              <a:buSzPts val="1400"/>
              <a:buFont typeface="DM Sans SemiBold"/>
              <a:buAutoNum type="arabicPeriod"/>
            </a:pPr>
            <a:r>
              <a:rPr lang="en">
                <a:solidFill>
                  <a:srgbClr val="0B5394"/>
                </a:solidFill>
                <a:latin typeface="DM Sans SemiBold"/>
                <a:ea typeface="DM Sans SemiBold"/>
                <a:cs typeface="DM Sans SemiBold"/>
                <a:sym typeface="DM Sans SemiBold"/>
              </a:rPr>
              <a:t> Logistic Regression</a:t>
            </a:r>
            <a:endParaRPr>
              <a:solidFill>
                <a:srgbClr val="0B5394"/>
              </a:solidFill>
              <a:latin typeface="DM Sans SemiBold"/>
              <a:ea typeface="DM Sans SemiBold"/>
              <a:cs typeface="DM Sans SemiBold"/>
              <a:sym typeface="DM Sans SemiBold"/>
            </a:endParaRPr>
          </a:p>
          <a:p>
            <a:pPr indent="-317500" lvl="0" marL="457200" rtl="0" algn="l">
              <a:lnSpc>
                <a:spcPct val="135714"/>
              </a:lnSpc>
              <a:spcBef>
                <a:spcPts val="0"/>
              </a:spcBef>
              <a:spcAft>
                <a:spcPts val="0"/>
              </a:spcAft>
              <a:buClr>
                <a:srgbClr val="0B5394"/>
              </a:buClr>
              <a:buSzPts val="1400"/>
              <a:buFont typeface="DM Sans SemiBold"/>
              <a:buAutoNum type="arabicPeriod"/>
            </a:pPr>
            <a:r>
              <a:rPr lang="en">
                <a:solidFill>
                  <a:srgbClr val="0B5394"/>
                </a:solidFill>
                <a:latin typeface="DM Sans SemiBold"/>
                <a:ea typeface="DM Sans SemiBold"/>
                <a:cs typeface="DM Sans SemiBold"/>
                <a:sym typeface="DM Sans SemiBold"/>
              </a:rPr>
              <a:t> Gradient Boosting</a:t>
            </a:r>
            <a:endParaRPr>
              <a:solidFill>
                <a:srgbClr val="0B5394"/>
              </a:solidFill>
              <a:latin typeface="DM Sans SemiBold"/>
              <a:ea typeface="DM Sans SemiBold"/>
              <a:cs typeface="DM Sans SemiBold"/>
              <a:sym typeface="DM Sans SemiBold"/>
            </a:endParaRPr>
          </a:p>
          <a:p>
            <a:pPr indent="-317500" lvl="0" marL="457200" rtl="0" algn="l">
              <a:lnSpc>
                <a:spcPct val="135714"/>
              </a:lnSpc>
              <a:spcBef>
                <a:spcPts val="0"/>
              </a:spcBef>
              <a:spcAft>
                <a:spcPts val="0"/>
              </a:spcAft>
              <a:buClr>
                <a:srgbClr val="0B5394"/>
              </a:buClr>
              <a:buSzPts val="1400"/>
              <a:buFont typeface="DM Sans SemiBold"/>
              <a:buAutoNum type="arabicPeriod"/>
            </a:pPr>
            <a:r>
              <a:rPr lang="en">
                <a:solidFill>
                  <a:srgbClr val="0B5394"/>
                </a:solidFill>
                <a:latin typeface="DM Sans SemiBold"/>
                <a:ea typeface="DM Sans SemiBold"/>
                <a:cs typeface="DM Sans SemiBold"/>
                <a:sym typeface="DM Sans SemiBold"/>
              </a:rPr>
              <a:t> XGBoost</a:t>
            </a:r>
            <a:endParaRPr>
              <a:solidFill>
                <a:srgbClr val="0B5394"/>
              </a:solidFill>
              <a:latin typeface="DM Sans SemiBold"/>
              <a:ea typeface="DM Sans SemiBold"/>
              <a:cs typeface="DM Sans SemiBold"/>
              <a:sym typeface="DM Sans SemiBold"/>
            </a:endParaRPr>
          </a:p>
          <a:p>
            <a:pPr indent="-317500" lvl="0" marL="457200" rtl="0" algn="l">
              <a:lnSpc>
                <a:spcPct val="135714"/>
              </a:lnSpc>
              <a:spcBef>
                <a:spcPts val="0"/>
              </a:spcBef>
              <a:spcAft>
                <a:spcPts val="0"/>
              </a:spcAft>
              <a:buClr>
                <a:srgbClr val="0B5394"/>
              </a:buClr>
              <a:buSzPts val="1400"/>
              <a:buFont typeface="DM Sans SemiBold"/>
              <a:buAutoNum type="arabicPeriod"/>
            </a:pPr>
            <a:r>
              <a:rPr lang="en">
                <a:solidFill>
                  <a:srgbClr val="0B5394"/>
                </a:solidFill>
                <a:latin typeface="DM Sans SemiBold"/>
                <a:ea typeface="DM Sans SemiBold"/>
                <a:cs typeface="DM Sans SemiBold"/>
                <a:sym typeface="DM Sans SemiBold"/>
              </a:rPr>
              <a:t> SVC</a:t>
            </a:r>
            <a:endParaRPr>
              <a:solidFill>
                <a:srgbClr val="0B5394"/>
              </a:solidFill>
              <a:latin typeface="DM Sans SemiBold"/>
              <a:ea typeface="DM Sans SemiBold"/>
              <a:cs typeface="DM Sans SemiBold"/>
              <a:sym typeface="DM Sans SemiBold"/>
            </a:endParaRPr>
          </a:p>
          <a:p>
            <a:pPr indent="-317500" lvl="0" marL="457200" rtl="0" algn="l">
              <a:lnSpc>
                <a:spcPct val="135714"/>
              </a:lnSpc>
              <a:spcBef>
                <a:spcPts val="0"/>
              </a:spcBef>
              <a:spcAft>
                <a:spcPts val="0"/>
              </a:spcAft>
              <a:buClr>
                <a:srgbClr val="0B5394"/>
              </a:buClr>
              <a:buSzPts val="1400"/>
              <a:buFont typeface="DM Sans SemiBold"/>
              <a:buAutoNum type="arabicPeriod"/>
            </a:pPr>
            <a:r>
              <a:rPr lang="en">
                <a:solidFill>
                  <a:srgbClr val="0B5394"/>
                </a:solidFill>
                <a:latin typeface="DM Sans SemiBold"/>
                <a:ea typeface="DM Sans SemiBold"/>
                <a:cs typeface="DM Sans SemiBold"/>
                <a:sym typeface="DM Sans SemiBold"/>
              </a:rPr>
              <a:t> Random Forest Classifier</a:t>
            </a:r>
            <a:endParaRPr>
              <a:solidFill>
                <a:srgbClr val="0B5394"/>
              </a:solidFill>
              <a:latin typeface="DM Sans SemiBold"/>
              <a:ea typeface="DM Sans SemiBold"/>
              <a:cs typeface="DM Sans SemiBold"/>
              <a:sym typeface="DM Sans SemiBold"/>
            </a:endParaRPr>
          </a:p>
          <a:p>
            <a:pPr indent="-317500" lvl="0" marL="457200" rtl="0" algn="l">
              <a:lnSpc>
                <a:spcPct val="135714"/>
              </a:lnSpc>
              <a:spcBef>
                <a:spcPts val="0"/>
              </a:spcBef>
              <a:spcAft>
                <a:spcPts val="0"/>
              </a:spcAft>
              <a:buClr>
                <a:srgbClr val="0B5394"/>
              </a:buClr>
              <a:buSzPts val="1400"/>
              <a:buFont typeface="DM Sans SemiBold"/>
              <a:buAutoNum type="arabicPeriod"/>
            </a:pPr>
            <a:r>
              <a:rPr lang="en">
                <a:solidFill>
                  <a:srgbClr val="0B5394"/>
                </a:solidFill>
                <a:latin typeface="DM Sans SemiBold"/>
                <a:ea typeface="DM Sans SemiBold"/>
                <a:cs typeface="DM Sans SemiBold"/>
                <a:sym typeface="DM Sans SemiBold"/>
              </a:rPr>
              <a:t> AdaBoost</a:t>
            </a:r>
            <a:endParaRPr>
              <a:solidFill>
                <a:srgbClr val="0B5394"/>
              </a:solidFill>
              <a:latin typeface="DM Sans SemiBold"/>
              <a:ea typeface="DM Sans SemiBold"/>
              <a:cs typeface="DM Sans SemiBold"/>
              <a:sym typeface="DM Sans SemiBold"/>
            </a:endParaRPr>
          </a:p>
          <a:p>
            <a:pPr indent="0" lvl="0" marL="0" rtl="0" algn="l">
              <a:spcBef>
                <a:spcPts val="0"/>
              </a:spcBef>
              <a:spcAft>
                <a:spcPts val="0"/>
              </a:spcAft>
              <a:buNone/>
            </a:pPr>
            <a:r>
              <a:t/>
            </a:r>
            <a:endParaRPr/>
          </a:p>
        </p:txBody>
      </p:sp>
      <p:pic>
        <p:nvPicPr>
          <p:cNvPr id="625" name="Google Shape;625;p48"/>
          <p:cNvPicPr preferRelativeResize="0"/>
          <p:nvPr/>
        </p:nvPicPr>
        <p:blipFill>
          <a:blip r:embed="rId3">
            <a:alphaModFix/>
          </a:blip>
          <a:stretch>
            <a:fillRect/>
          </a:stretch>
        </p:blipFill>
        <p:spPr>
          <a:xfrm>
            <a:off x="4680475" y="2320743"/>
            <a:ext cx="3772474" cy="228622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49"/>
          <p:cNvSpPr txBox="1"/>
          <p:nvPr>
            <p:ph type="title"/>
          </p:nvPr>
        </p:nvSpPr>
        <p:spPr>
          <a:xfrm>
            <a:off x="713225" y="1556700"/>
            <a:ext cx="4893600" cy="251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 Training &amp; Evaluation</a:t>
            </a:r>
            <a:endParaRPr/>
          </a:p>
        </p:txBody>
      </p:sp>
      <p:grpSp>
        <p:nvGrpSpPr>
          <p:cNvPr id="631" name="Google Shape;631;p49"/>
          <p:cNvGrpSpPr/>
          <p:nvPr/>
        </p:nvGrpSpPr>
        <p:grpSpPr>
          <a:xfrm>
            <a:off x="5104880" y="-153372"/>
            <a:ext cx="4218588" cy="6000577"/>
            <a:chOff x="5104880" y="-153372"/>
            <a:chExt cx="4218588" cy="6000577"/>
          </a:xfrm>
        </p:grpSpPr>
        <p:sp>
          <p:nvSpPr>
            <p:cNvPr id="632" name="Google Shape;632;p49"/>
            <p:cNvSpPr/>
            <p:nvPr/>
          </p:nvSpPr>
          <p:spPr>
            <a:xfrm>
              <a:off x="7074911" y="254737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49"/>
            <p:cNvSpPr/>
            <p:nvPr/>
          </p:nvSpPr>
          <p:spPr>
            <a:xfrm>
              <a:off x="7026089" y="-1533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49"/>
            <p:cNvSpPr/>
            <p:nvPr/>
          </p:nvSpPr>
          <p:spPr>
            <a:xfrm>
              <a:off x="6606684" y="31846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49"/>
            <p:cNvSpPr/>
            <p:nvPr/>
          </p:nvSpPr>
          <p:spPr>
            <a:xfrm>
              <a:off x="6138958" y="13708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49"/>
            <p:cNvSpPr/>
            <p:nvPr/>
          </p:nvSpPr>
          <p:spPr>
            <a:xfrm>
              <a:off x="5732458" y="87452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49"/>
            <p:cNvSpPr/>
            <p:nvPr/>
          </p:nvSpPr>
          <p:spPr>
            <a:xfrm>
              <a:off x="7480889" y="98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49"/>
            <p:cNvSpPr/>
            <p:nvPr/>
          </p:nvSpPr>
          <p:spPr>
            <a:xfrm>
              <a:off x="7074904" y="207505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49"/>
            <p:cNvSpPr/>
            <p:nvPr/>
          </p:nvSpPr>
          <p:spPr>
            <a:xfrm>
              <a:off x="7962441" y="140407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49"/>
            <p:cNvSpPr/>
            <p:nvPr/>
          </p:nvSpPr>
          <p:spPr>
            <a:xfrm flipH="1" rot="10800000">
              <a:off x="6036087" y="312497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49"/>
            <p:cNvSpPr/>
            <p:nvPr/>
          </p:nvSpPr>
          <p:spPr>
            <a:xfrm flipH="1" rot="10800000">
              <a:off x="6355205" y="41020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49"/>
            <p:cNvSpPr/>
            <p:nvPr/>
          </p:nvSpPr>
          <p:spPr>
            <a:xfrm flipH="1" rot="10800000">
              <a:off x="5732459" y="48790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49"/>
            <p:cNvSpPr/>
            <p:nvPr/>
          </p:nvSpPr>
          <p:spPr>
            <a:xfrm flipH="1" rot="10800000">
              <a:off x="6683197" y="351549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49"/>
            <p:cNvSpPr/>
            <p:nvPr/>
          </p:nvSpPr>
          <p:spPr>
            <a:xfrm flipH="1" rot="10800000">
              <a:off x="5104880" y="443452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49"/>
            <p:cNvSpPr/>
            <p:nvPr/>
          </p:nvSpPr>
          <p:spPr>
            <a:xfrm>
              <a:off x="8484758" y="243811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49"/>
            <p:cNvSpPr/>
            <p:nvPr/>
          </p:nvSpPr>
          <p:spPr>
            <a:xfrm>
              <a:off x="8038260" y="29212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49"/>
            <p:cNvSpPr/>
            <p:nvPr/>
          </p:nvSpPr>
          <p:spPr>
            <a:xfrm flipH="1" rot="10800000">
              <a:off x="7853362" y="396220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49"/>
            <p:cNvSpPr/>
            <p:nvPr/>
          </p:nvSpPr>
          <p:spPr>
            <a:xfrm flipH="1" rot="10800000">
              <a:off x="8261505" y="443452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649" name="Google Shape;649;p49"/>
          <p:cNvCxnSpPr/>
          <p:nvPr/>
        </p:nvCxnSpPr>
        <p:spPr>
          <a:xfrm>
            <a:off x="841250" y="1385850"/>
            <a:ext cx="373500" cy="0"/>
          </a:xfrm>
          <a:prstGeom prst="straightConnector1">
            <a:avLst/>
          </a:prstGeom>
          <a:noFill/>
          <a:ln cap="flat" cmpd="sng" w="19050">
            <a:solidFill>
              <a:schemeClr val="dk1"/>
            </a:solidFill>
            <a:prstDash val="solid"/>
            <a:round/>
            <a:headEnd len="med" w="med" type="none"/>
            <a:tailEnd len="med" w="med" type="none"/>
          </a:ln>
        </p:spPr>
      </p:cxnSp>
      <p:sp>
        <p:nvSpPr>
          <p:cNvPr id="650" name="Google Shape;650;p49"/>
          <p:cNvSpPr txBox="1"/>
          <p:nvPr/>
        </p:nvSpPr>
        <p:spPr>
          <a:xfrm>
            <a:off x="713225" y="690075"/>
            <a:ext cx="1260600" cy="6099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n" sz="5000">
                <a:solidFill>
                  <a:schemeClr val="dk1"/>
                </a:solidFill>
                <a:latin typeface="Outfit"/>
                <a:ea typeface="Outfit"/>
                <a:cs typeface="Outfit"/>
                <a:sym typeface="Outfit"/>
              </a:rPr>
              <a:t>04</a:t>
            </a:r>
            <a:endParaRPr>
              <a:solidFill>
                <a:schemeClr val="dk1"/>
              </a:solidFill>
              <a:latin typeface="DM Sans"/>
              <a:ea typeface="DM Sans"/>
              <a:cs typeface="DM Sans"/>
              <a:sym typeface="DM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5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Logistic Regression</a:t>
            </a:r>
            <a:endParaRPr/>
          </a:p>
        </p:txBody>
      </p:sp>
      <p:sp>
        <p:nvSpPr>
          <p:cNvPr id="656" name="Google Shape;656;p50"/>
          <p:cNvSpPr txBox="1"/>
          <p:nvPr/>
        </p:nvSpPr>
        <p:spPr>
          <a:xfrm>
            <a:off x="981900" y="4296500"/>
            <a:ext cx="7180200" cy="30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1000" u="sng">
              <a:solidFill>
                <a:schemeClr val="dk1"/>
              </a:solidFill>
              <a:latin typeface="DM Sans"/>
              <a:ea typeface="DM Sans"/>
              <a:cs typeface="DM Sans"/>
              <a:sym typeface="DM Sans"/>
            </a:endParaRPr>
          </a:p>
        </p:txBody>
      </p:sp>
      <p:sp>
        <p:nvSpPr>
          <p:cNvPr id="657" name="Google Shape;657;p50"/>
          <p:cNvSpPr txBox="1"/>
          <p:nvPr>
            <p:ph idx="1" type="body"/>
          </p:nvPr>
        </p:nvSpPr>
        <p:spPr>
          <a:xfrm>
            <a:off x="344650" y="1215750"/>
            <a:ext cx="3919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100">
                <a:solidFill>
                  <a:srgbClr val="000000"/>
                </a:solidFill>
                <a:latin typeface="Outfit"/>
                <a:ea typeface="Outfit"/>
                <a:cs typeface="Outfit"/>
                <a:sym typeface="Outfit"/>
              </a:rPr>
              <a:t>Base Model</a:t>
            </a:r>
            <a:endParaRPr>
              <a:latin typeface="Outfit"/>
              <a:ea typeface="Outfit"/>
              <a:cs typeface="Outfit"/>
              <a:sym typeface="Outfit"/>
            </a:endParaRPr>
          </a:p>
        </p:txBody>
      </p:sp>
      <p:sp>
        <p:nvSpPr>
          <p:cNvPr id="658" name="Google Shape;658;p50"/>
          <p:cNvSpPr txBox="1"/>
          <p:nvPr/>
        </p:nvSpPr>
        <p:spPr>
          <a:xfrm>
            <a:off x="5162100" y="1215750"/>
            <a:ext cx="30000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1100">
                <a:latin typeface="Outfit"/>
                <a:ea typeface="Outfit"/>
                <a:cs typeface="Outfit"/>
                <a:sym typeface="Outfit"/>
              </a:rPr>
              <a:t>Fine-Tuned (Grid Search CV)</a:t>
            </a:r>
            <a:endParaRPr b="1">
              <a:solidFill>
                <a:schemeClr val="dk1"/>
              </a:solidFill>
              <a:latin typeface="Outfit"/>
              <a:ea typeface="Outfit"/>
              <a:cs typeface="Outfit"/>
              <a:sym typeface="Outfit"/>
            </a:endParaRPr>
          </a:p>
        </p:txBody>
      </p:sp>
      <p:sp>
        <p:nvSpPr>
          <p:cNvPr id="659" name="Google Shape;659;p50"/>
          <p:cNvSpPr txBox="1"/>
          <p:nvPr/>
        </p:nvSpPr>
        <p:spPr>
          <a:xfrm>
            <a:off x="344650" y="2993650"/>
            <a:ext cx="3639300" cy="13836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SzPts val="1100"/>
              <a:buFont typeface="Outfit"/>
              <a:buChar char="●"/>
            </a:pPr>
            <a:r>
              <a:rPr b="1" lang="en" sz="1100">
                <a:latin typeface="Outfit"/>
                <a:ea typeface="Outfit"/>
                <a:cs typeface="Outfit"/>
                <a:sym typeface="Outfit"/>
              </a:rPr>
              <a:t>Data Transformation: </a:t>
            </a:r>
            <a:r>
              <a:rPr lang="en" sz="1100">
                <a:latin typeface="Outfit"/>
                <a:ea typeface="Outfit"/>
                <a:cs typeface="Outfit"/>
                <a:sym typeface="Outfit"/>
              </a:rPr>
              <a:t>Quantile</a:t>
            </a:r>
            <a:endParaRPr sz="1100">
              <a:latin typeface="Outfit"/>
              <a:ea typeface="Outfit"/>
              <a:cs typeface="Outfit"/>
              <a:sym typeface="Outfit"/>
            </a:endParaRPr>
          </a:p>
          <a:p>
            <a:pPr indent="-298450" lvl="0" marL="457200" rtl="0" algn="l">
              <a:spcBef>
                <a:spcPts val="0"/>
              </a:spcBef>
              <a:spcAft>
                <a:spcPts val="0"/>
              </a:spcAft>
              <a:buSzPts val="1100"/>
              <a:buFont typeface="Outfit"/>
              <a:buChar char="●"/>
            </a:pPr>
            <a:r>
              <a:rPr b="1" lang="en" sz="1100">
                <a:latin typeface="Outfit"/>
                <a:ea typeface="Outfit"/>
                <a:cs typeface="Outfit"/>
                <a:sym typeface="Outfit"/>
              </a:rPr>
              <a:t>Parameters:</a:t>
            </a:r>
            <a:r>
              <a:rPr lang="en" sz="1100">
                <a:latin typeface="Outfit"/>
                <a:ea typeface="Outfit"/>
                <a:cs typeface="Outfit"/>
                <a:sym typeface="Outfit"/>
              </a:rPr>
              <a:t> C=0.1, max_iter=1000, random_state=42 </a:t>
            </a:r>
            <a:endParaRPr sz="1100">
              <a:latin typeface="Outfit"/>
              <a:ea typeface="Outfit"/>
              <a:cs typeface="Outfit"/>
              <a:sym typeface="Outfit"/>
            </a:endParaRPr>
          </a:p>
          <a:p>
            <a:pPr indent="-298450" lvl="0" marL="457200" rtl="0" algn="l">
              <a:spcBef>
                <a:spcPts val="0"/>
              </a:spcBef>
              <a:spcAft>
                <a:spcPts val="0"/>
              </a:spcAft>
              <a:buSzPts val="1100"/>
              <a:buFont typeface="Outfit"/>
              <a:buChar char="●"/>
            </a:pPr>
            <a:r>
              <a:rPr b="1" lang="en" sz="1100">
                <a:latin typeface="Outfit"/>
                <a:ea typeface="Outfit"/>
                <a:cs typeface="Outfit"/>
                <a:sym typeface="Outfit"/>
              </a:rPr>
              <a:t>Accuracy</a:t>
            </a:r>
            <a:r>
              <a:rPr lang="en" sz="1100">
                <a:latin typeface="Outfit"/>
                <a:ea typeface="Outfit"/>
                <a:cs typeface="Outfit"/>
                <a:sym typeface="Outfit"/>
              </a:rPr>
              <a:t>: 88.3% – moderate performance.</a:t>
            </a:r>
            <a:endParaRPr sz="1100">
              <a:latin typeface="Outfit"/>
              <a:ea typeface="Outfit"/>
              <a:cs typeface="Outfit"/>
              <a:sym typeface="Outfit"/>
            </a:endParaRPr>
          </a:p>
          <a:p>
            <a:pPr indent="-298450" lvl="0" marL="457200" rtl="0" algn="l">
              <a:spcBef>
                <a:spcPts val="0"/>
              </a:spcBef>
              <a:spcAft>
                <a:spcPts val="0"/>
              </a:spcAft>
              <a:buSzPts val="1100"/>
              <a:buFont typeface="Outfit"/>
              <a:buChar char="●"/>
            </a:pPr>
            <a:r>
              <a:rPr b="1" lang="en" sz="1100">
                <a:latin typeface="Outfit"/>
                <a:ea typeface="Outfit"/>
                <a:cs typeface="Outfit"/>
                <a:sym typeface="Outfit"/>
              </a:rPr>
              <a:t>Observation: </a:t>
            </a:r>
            <a:r>
              <a:rPr lang="en" sz="1100">
                <a:latin typeface="Outfit"/>
                <a:ea typeface="Outfit"/>
                <a:cs typeface="Outfit"/>
                <a:sym typeface="Outfit"/>
              </a:rPr>
              <a:t>Model has better precision for satisfied class and worse recall for satisfied class, indicating a lower false-positive rate for the satisfied class at the expense of a higher false negative rate.</a:t>
            </a:r>
            <a:endParaRPr>
              <a:solidFill>
                <a:schemeClr val="dk1"/>
              </a:solidFill>
              <a:latin typeface="Outfit"/>
              <a:ea typeface="Outfit"/>
              <a:cs typeface="Outfit"/>
              <a:sym typeface="Outfit"/>
            </a:endParaRPr>
          </a:p>
        </p:txBody>
      </p:sp>
      <p:sp>
        <p:nvSpPr>
          <p:cNvPr id="660" name="Google Shape;660;p50"/>
          <p:cNvSpPr txBox="1"/>
          <p:nvPr/>
        </p:nvSpPr>
        <p:spPr>
          <a:xfrm>
            <a:off x="4615200" y="2993650"/>
            <a:ext cx="3700800" cy="1877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SzPts val="1100"/>
              <a:buFont typeface="Outfit"/>
              <a:buChar char="●"/>
            </a:pPr>
            <a:r>
              <a:rPr b="1" lang="en" sz="1100">
                <a:latin typeface="Outfit"/>
                <a:ea typeface="Outfit"/>
                <a:cs typeface="Outfit"/>
                <a:sym typeface="Outfit"/>
              </a:rPr>
              <a:t>Data Transformation: </a:t>
            </a:r>
            <a:r>
              <a:rPr lang="en" sz="1100">
                <a:latin typeface="Outfit"/>
                <a:ea typeface="Outfit"/>
                <a:cs typeface="Outfit"/>
                <a:sym typeface="Outfit"/>
              </a:rPr>
              <a:t>Quantile</a:t>
            </a:r>
            <a:endParaRPr sz="1100">
              <a:latin typeface="Outfit"/>
              <a:ea typeface="Outfit"/>
              <a:cs typeface="Outfit"/>
              <a:sym typeface="Outfit"/>
            </a:endParaRPr>
          </a:p>
          <a:p>
            <a:pPr indent="-298450" lvl="0" marL="457200" rtl="0" algn="l">
              <a:spcBef>
                <a:spcPts val="0"/>
              </a:spcBef>
              <a:spcAft>
                <a:spcPts val="0"/>
              </a:spcAft>
              <a:buSzPts val="1100"/>
              <a:buFont typeface="Outfit"/>
              <a:buChar char="●"/>
            </a:pPr>
            <a:r>
              <a:rPr b="1" lang="en" sz="1100">
                <a:latin typeface="Outfit"/>
                <a:ea typeface="Outfit"/>
                <a:cs typeface="Outfit"/>
                <a:sym typeface="Outfit"/>
              </a:rPr>
              <a:t>Parameters:</a:t>
            </a:r>
            <a:r>
              <a:rPr lang="en" sz="1100">
                <a:latin typeface="Outfit"/>
                <a:ea typeface="Outfit"/>
                <a:cs typeface="Outfit"/>
                <a:sym typeface="Outfit"/>
              </a:rPr>
              <a:t> C=0.1, l1_ratio=0.1, max_iter=50, penalty='l1', random_state=42, solver='saga'</a:t>
            </a:r>
            <a:endParaRPr sz="1100">
              <a:latin typeface="Outfit"/>
              <a:ea typeface="Outfit"/>
              <a:cs typeface="Outfit"/>
              <a:sym typeface="Outfit"/>
            </a:endParaRPr>
          </a:p>
          <a:p>
            <a:pPr indent="-298450" lvl="0" marL="457200" rtl="0" algn="l">
              <a:spcBef>
                <a:spcPts val="0"/>
              </a:spcBef>
              <a:spcAft>
                <a:spcPts val="0"/>
              </a:spcAft>
              <a:buSzPts val="1100"/>
              <a:buFont typeface="Outfit"/>
              <a:buChar char="●"/>
            </a:pPr>
            <a:r>
              <a:rPr b="1" lang="en" sz="1100">
                <a:latin typeface="Outfit"/>
                <a:ea typeface="Outfit"/>
                <a:cs typeface="Outfit"/>
                <a:sym typeface="Outfit"/>
              </a:rPr>
              <a:t>Accuracy</a:t>
            </a:r>
            <a:r>
              <a:rPr lang="en" sz="1100">
                <a:latin typeface="Outfit"/>
                <a:ea typeface="Outfit"/>
                <a:cs typeface="Outfit"/>
                <a:sym typeface="Outfit"/>
              </a:rPr>
              <a:t>: 88.2% – slightly lower than base model.</a:t>
            </a:r>
            <a:endParaRPr sz="1100">
              <a:latin typeface="Outfit"/>
              <a:ea typeface="Outfit"/>
              <a:cs typeface="Outfit"/>
              <a:sym typeface="Outfit"/>
            </a:endParaRPr>
          </a:p>
          <a:p>
            <a:pPr indent="-298450" lvl="0" marL="457200" rtl="0" algn="l">
              <a:spcBef>
                <a:spcPts val="0"/>
              </a:spcBef>
              <a:spcAft>
                <a:spcPts val="0"/>
              </a:spcAft>
              <a:buSzPts val="1100"/>
              <a:buFont typeface="Outfit"/>
              <a:buChar char="●"/>
            </a:pPr>
            <a:r>
              <a:rPr b="1" lang="en" sz="1100">
                <a:latin typeface="Outfit"/>
                <a:ea typeface="Outfit"/>
                <a:cs typeface="Outfit"/>
                <a:sym typeface="Outfit"/>
              </a:rPr>
              <a:t>Observation:</a:t>
            </a:r>
            <a:r>
              <a:rPr lang="en" sz="1100">
                <a:latin typeface="Outfit"/>
                <a:ea typeface="Outfit"/>
                <a:cs typeface="Outfit"/>
                <a:sym typeface="Outfit"/>
              </a:rPr>
              <a:t> Similar performance metrics to base model. Cause for slight decrease in model accuracy is likely due to a non-linear separability issue along with incompatibility of solvers other than saga with Elastic Net regularization.</a:t>
            </a:r>
            <a:endParaRPr sz="1100">
              <a:latin typeface="Outfit"/>
              <a:ea typeface="Outfit"/>
              <a:cs typeface="Outfit"/>
              <a:sym typeface="Outfit"/>
            </a:endParaRPr>
          </a:p>
        </p:txBody>
      </p:sp>
      <p:pic>
        <p:nvPicPr>
          <p:cNvPr id="661" name="Google Shape;661;p50"/>
          <p:cNvPicPr preferRelativeResize="0"/>
          <p:nvPr/>
        </p:nvPicPr>
        <p:blipFill>
          <a:blip r:embed="rId3">
            <a:alphaModFix/>
          </a:blip>
          <a:stretch>
            <a:fillRect/>
          </a:stretch>
        </p:blipFill>
        <p:spPr>
          <a:xfrm>
            <a:off x="686213" y="1543043"/>
            <a:ext cx="3236374" cy="1396625"/>
          </a:xfrm>
          <a:prstGeom prst="rect">
            <a:avLst/>
          </a:prstGeom>
          <a:noFill/>
          <a:ln>
            <a:noFill/>
          </a:ln>
        </p:spPr>
      </p:pic>
      <p:pic>
        <p:nvPicPr>
          <p:cNvPr id="662" name="Google Shape;662;p50"/>
          <p:cNvPicPr preferRelativeResize="0"/>
          <p:nvPr/>
        </p:nvPicPr>
        <p:blipFill>
          <a:blip r:embed="rId4">
            <a:alphaModFix/>
          </a:blip>
          <a:stretch>
            <a:fillRect/>
          </a:stretch>
        </p:blipFill>
        <p:spPr>
          <a:xfrm>
            <a:off x="4706457" y="1549516"/>
            <a:ext cx="4437543" cy="13836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51"/>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Logistic Regression Performance Metrics</a:t>
            </a:r>
            <a:endParaRPr/>
          </a:p>
        </p:txBody>
      </p:sp>
      <p:sp>
        <p:nvSpPr>
          <p:cNvPr id="668" name="Google Shape;668;p51"/>
          <p:cNvSpPr txBox="1"/>
          <p:nvPr/>
        </p:nvSpPr>
        <p:spPr>
          <a:xfrm>
            <a:off x="472000" y="3411875"/>
            <a:ext cx="2448000" cy="1423500"/>
          </a:xfrm>
          <a:prstGeom prst="rect">
            <a:avLst/>
          </a:prstGeom>
          <a:noFill/>
          <a:ln>
            <a:noFill/>
          </a:ln>
        </p:spPr>
        <p:txBody>
          <a:bodyPr anchorCtr="0" anchor="t" bIns="91425" lIns="91425" spcFirstLastPara="1" rIns="91425" wrap="square" tIns="91425">
            <a:noAutofit/>
          </a:bodyPr>
          <a:lstStyle/>
          <a:p>
            <a:pPr indent="-285750" lvl="0" marL="457200" rtl="0" algn="l">
              <a:spcBef>
                <a:spcPts val="0"/>
              </a:spcBef>
              <a:spcAft>
                <a:spcPts val="0"/>
              </a:spcAft>
              <a:buClr>
                <a:schemeClr val="dk1"/>
              </a:buClr>
              <a:buSzPts val="900"/>
              <a:buFont typeface="Outfit"/>
              <a:buChar char="●"/>
            </a:pPr>
            <a:r>
              <a:rPr lang="en" sz="900">
                <a:solidFill>
                  <a:schemeClr val="dk1"/>
                </a:solidFill>
                <a:latin typeface="Outfit"/>
                <a:ea typeface="Outfit"/>
                <a:cs typeface="Outfit"/>
                <a:sym typeface="Outfit"/>
              </a:rPr>
              <a:t>Higher precision vs. recall</a:t>
            </a:r>
            <a:endParaRPr sz="900">
              <a:solidFill>
                <a:schemeClr val="dk1"/>
              </a:solidFill>
              <a:latin typeface="Outfit"/>
              <a:ea typeface="Outfit"/>
              <a:cs typeface="Outfit"/>
              <a:sym typeface="Outfit"/>
            </a:endParaRPr>
          </a:p>
          <a:p>
            <a:pPr indent="-285750" lvl="0" marL="457200" rtl="0" algn="l">
              <a:spcBef>
                <a:spcPts val="0"/>
              </a:spcBef>
              <a:spcAft>
                <a:spcPts val="0"/>
              </a:spcAft>
              <a:buClr>
                <a:schemeClr val="dk1"/>
              </a:buClr>
              <a:buSzPts val="900"/>
              <a:buFont typeface="Outfit"/>
              <a:buChar char="●"/>
            </a:pPr>
            <a:r>
              <a:rPr lang="en" sz="900">
                <a:latin typeface="Outfit"/>
                <a:ea typeface="Outfit"/>
                <a:cs typeface="Outfit"/>
                <a:sym typeface="Outfit"/>
              </a:rPr>
              <a:t>True positive rate hindered by precision issues.</a:t>
            </a:r>
            <a:endParaRPr sz="900">
              <a:solidFill>
                <a:schemeClr val="dk1"/>
              </a:solidFill>
              <a:latin typeface="Outfit"/>
              <a:ea typeface="Outfit"/>
              <a:cs typeface="Outfit"/>
              <a:sym typeface="Outfit"/>
            </a:endParaRPr>
          </a:p>
          <a:p>
            <a:pPr indent="-285750" lvl="0" marL="457200" rtl="0" algn="l">
              <a:spcBef>
                <a:spcPts val="0"/>
              </a:spcBef>
              <a:spcAft>
                <a:spcPts val="0"/>
              </a:spcAft>
              <a:buClr>
                <a:schemeClr val="dk1"/>
              </a:buClr>
              <a:buSzPts val="900"/>
              <a:buFont typeface="Outfit"/>
              <a:buChar char="●"/>
            </a:pPr>
            <a:r>
              <a:rPr lang="en" sz="900">
                <a:solidFill>
                  <a:schemeClr val="dk1"/>
                </a:solidFill>
                <a:latin typeface="Outfit"/>
                <a:ea typeface="Outfit"/>
                <a:cs typeface="Outfit"/>
                <a:sym typeface="Outfit"/>
              </a:rPr>
              <a:t>More false negatives than false positives</a:t>
            </a:r>
            <a:endParaRPr sz="900">
              <a:solidFill>
                <a:schemeClr val="dk1"/>
              </a:solidFill>
              <a:latin typeface="Outfit"/>
              <a:ea typeface="Outfit"/>
              <a:cs typeface="Outfit"/>
              <a:sym typeface="Outfit"/>
            </a:endParaRPr>
          </a:p>
          <a:p>
            <a:pPr indent="-285750" lvl="0" marL="457200" rtl="0" algn="l">
              <a:spcBef>
                <a:spcPts val="0"/>
              </a:spcBef>
              <a:spcAft>
                <a:spcPts val="0"/>
              </a:spcAft>
              <a:buClr>
                <a:schemeClr val="dk1"/>
              </a:buClr>
              <a:buSzPts val="900"/>
              <a:buChar char="●"/>
            </a:pPr>
            <a:r>
              <a:rPr lang="en" sz="900">
                <a:solidFill>
                  <a:schemeClr val="dk1"/>
                </a:solidFill>
                <a:latin typeface="Outfit"/>
                <a:ea typeface="Outfit"/>
                <a:cs typeface="Outfit"/>
                <a:sym typeface="Outfit"/>
              </a:rPr>
              <a:t>Outliers are likely causing lower recall (e.g., the model is being “careful” in predicting the positive class).</a:t>
            </a:r>
            <a:endParaRPr sz="900">
              <a:solidFill>
                <a:schemeClr val="dk1"/>
              </a:solidFill>
              <a:latin typeface="Outfit"/>
              <a:ea typeface="Outfit"/>
              <a:cs typeface="Outfit"/>
              <a:sym typeface="Outfit"/>
            </a:endParaRPr>
          </a:p>
        </p:txBody>
      </p:sp>
      <p:sp>
        <p:nvSpPr>
          <p:cNvPr id="669" name="Google Shape;669;p51"/>
          <p:cNvSpPr txBox="1"/>
          <p:nvPr/>
        </p:nvSpPr>
        <p:spPr>
          <a:xfrm>
            <a:off x="3072013" y="3372450"/>
            <a:ext cx="3000000" cy="908100"/>
          </a:xfrm>
          <a:prstGeom prst="rect">
            <a:avLst/>
          </a:prstGeom>
          <a:noFill/>
          <a:ln>
            <a:noFill/>
          </a:ln>
        </p:spPr>
        <p:txBody>
          <a:bodyPr anchorCtr="0" anchor="t" bIns="91425" lIns="91425" spcFirstLastPara="1" rIns="91425" wrap="square" tIns="91425">
            <a:spAutoFit/>
          </a:bodyPr>
          <a:lstStyle/>
          <a:p>
            <a:pPr indent="-285750" lvl="0" marL="457200" rtl="0" algn="l">
              <a:spcBef>
                <a:spcPts val="0"/>
              </a:spcBef>
              <a:spcAft>
                <a:spcPts val="0"/>
              </a:spcAft>
              <a:buSzPts val="900"/>
              <a:buFont typeface="Outfit"/>
              <a:buChar char="●"/>
            </a:pPr>
            <a:r>
              <a:rPr lang="en" sz="900">
                <a:latin typeface="Outfit"/>
                <a:ea typeface="Outfit"/>
                <a:cs typeface="Outfit"/>
                <a:sym typeface="Outfit"/>
              </a:rPr>
              <a:t>Threshold set to 0.5</a:t>
            </a:r>
            <a:endParaRPr sz="900">
              <a:latin typeface="Outfit"/>
              <a:ea typeface="Outfit"/>
              <a:cs typeface="Outfit"/>
              <a:sym typeface="Outfit"/>
            </a:endParaRPr>
          </a:p>
          <a:p>
            <a:pPr indent="-285750" lvl="0" marL="457200" rtl="0" algn="l">
              <a:spcBef>
                <a:spcPts val="0"/>
              </a:spcBef>
              <a:spcAft>
                <a:spcPts val="0"/>
              </a:spcAft>
              <a:buSzPts val="900"/>
              <a:buFont typeface="Outfit"/>
              <a:buChar char="●"/>
            </a:pPr>
            <a:r>
              <a:rPr lang="en" sz="900">
                <a:latin typeface="Outfit"/>
                <a:ea typeface="Outfit"/>
                <a:cs typeface="Outfit"/>
                <a:sym typeface="Outfit"/>
              </a:rPr>
              <a:t>Higher precision vs. recall with different perspective</a:t>
            </a:r>
            <a:endParaRPr sz="900">
              <a:latin typeface="Outfit"/>
              <a:ea typeface="Outfit"/>
              <a:cs typeface="Outfit"/>
              <a:sym typeface="Outfit"/>
            </a:endParaRPr>
          </a:p>
          <a:p>
            <a:pPr indent="-285750" lvl="0" marL="457200" rtl="0" algn="l">
              <a:spcBef>
                <a:spcPts val="0"/>
              </a:spcBef>
              <a:spcAft>
                <a:spcPts val="0"/>
              </a:spcAft>
              <a:buSzPts val="900"/>
              <a:buFont typeface="Outfit"/>
              <a:buChar char="●"/>
            </a:pPr>
            <a:r>
              <a:rPr lang="en" sz="900">
                <a:latin typeface="Outfit"/>
                <a:ea typeface="Outfit"/>
                <a:cs typeface="Outfit"/>
                <a:sym typeface="Outfit"/>
              </a:rPr>
              <a:t>Moderately “good” precision and recall curves.</a:t>
            </a:r>
            <a:endParaRPr sz="900">
              <a:latin typeface="Outfit"/>
              <a:ea typeface="Outfit"/>
              <a:cs typeface="Outfit"/>
              <a:sym typeface="Outfit"/>
            </a:endParaRPr>
          </a:p>
          <a:p>
            <a:pPr indent="0" lvl="0" marL="0" rtl="0" algn="l">
              <a:spcBef>
                <a:spcPts val="0"/>
              </a:spcBef>
              <a:spcAft>
                <a:spcPts val="0"/>
              </a:spcAft>
              <a:buNone/>
            </a:pPr>
            <a:r>
              <a:t/>
            </a:r>
            <a:endParaRPr b="1" sz="1100"/>
          </a:p>
        </p:txBody>
      </p:sp>
      <p:sp>
        <p:nvSpPr>
          <p:cNvPr id="670" name="Google Shape;670;p51"/>
          <p:cNvSpPr txBox="1"/>
          <p:nvPr/>
        </p:nvSpPr>
        <p:spPr>
          <a:xfrm>
            <a:off x="5906575" y="3411875"/>
            <a:ext cx="3000000" cy="1631700"/>
          </a:xfrm>
          <a:prstGeom prst="rect">
            <a:avLst/>
          </a:prstGeom>
          <a:noFill/>
          <a:ln>
            <a:noFill/>
          </a:ln>
        </p:spPr>
        <p:txBody>
          <a:bodyPr anchorCtr="0" anchor="t" bIns="91425" lIns="91425" spcFirstLastPara="1" rIns="91425" wrap="square" tIns="91425">
            <a:spAutoFit/>
          </a:bodyPr>
          <a:lstStyle/>
          <a:p>
            <a:pPr indent="-285750" lvl="0" marL="457200" rtl="0" algn="l">
              <a:spcBef>
                <a:spcPts val="0"/>
              </a:spcBef>
              <a:spcAft>
                <a:spcPts val="0"/>
              </a:spcAft>
              <a:buSzPts val="900"/>
              <a:buFont typeface="Outfit"/>
              <a:buChar char="●"/>
            </a:pPr>
            <a:r>
              <a:rPr lang="en" sz="900">
                <a:latin typeface="Outfit"/>
                <a:ea typeface="Outfit"/>
                <a:cs typeface="Outfit"/>
                <a:sym typeface="Outfit"/>
              </a:rPr>
              <a:t>High AUC score - moderately good performance.</a:t>
            </a:r>
            <a:endParaRPr sz="900">
              <a:latin typeface="Outfit"/>
              <a:ea typeface="Outfit"/>
              <a:cs typeface="Outfit"/>
              <a:sym typeface="Outfit"/>
            </a:endParaRPr>
          </a:p>
          <a:p>
            <a:pPr indent="-285750" lvl="0" marL="457200" rtl="0" algn="l">
              <a:spcBef>
                <a:spcPts val="0"/>
              </a:spcBef>
              <a:spcAft>
                <a:spcPts val="0"/>
              </a:spcAft>
              <a:buSzPts val="900"/>
              <a:buFont typeface="Outfit"/>
              <a:buChar char="●"/>
            </a:pPr>
            <a:r>
              <a:rPr lang="en" sz="900">
                <a:latin typeface="Outfit"/>
                <a:ea typeface="Outfit"/>
                <a:cs typeface="Outfit"/>
                <a:sym typeface="Outfit"/>
              </a:rPr>
              <a:t>Approximately 93.5% </a:t>
            </a:r>
            <a:r>
              <a:rPr lang="en" sz="900">
                <a:latin typeface="Outfit"/>
                <a:ea typeface="Outfit"/>
                <a:cs typeface="Outfit"/>
                <a:sym typeface="Outfit"/>
              </a:rPr>
              <a:t>probability</a:t>
            </a:r>
            <a:r>
              <a:rPr lang="en" sz="900">
                <a:latin typeface="Outfit"/>
                <a:ea typeface="Outfit"/>
                <a:cs typeface="Outfit"/>
                <a:sym typeface="Outfit"/>
              </a:rPr>
              <a:t> that the model will correctly rank a randomly chosen positive example higher than a randomly chosen negative example.</a:t>
            </a:r>
            <a:endParaRPr sz="900">
              <a:latin typeface="Outfit"/>
              <a:ea typeface="Outfit"/>
              <a:cs typeface="Outfit"/>
              <a:sym typeface="Outfit"/>
            </a:endParaRPr>
          </a:p>
          <a:p>
            <a:pPr indent="-285750" lvl="0" marL="457200" rtl="0" algn="l">
              <a:spcBef>
                <a:spcPts val="0"/>
              </a:spcBef>
              <a:spcAft>
                <a:spcPts val="0"/>
              </a:spcAft>
              <a:buSzPts val="900"/>
              <a:buFont typeface="Outfit"/>
              <a:buChar char="●"/>
            </a:pPr>
            <a:r>
              <a:rPr lang="en" sz="900">
                <a:latin typeface="Outfit"/>
                <a:ea typeface="Outfit"/>
                <a:cs typeface="Outfit"/>
                <a:sym typeface="Outfit"/>
              </a:rPr>
              <a:t>Model has an ideal ability to distinguish between positive and negative classes.</a:t>
            </a:r>
            <a:endParaRPr sz="900">
              <a:latin typeface="Outfit"/>
              <a:ea typeface="Outfit"/>
              <a:cs typeface="Outfit"/>
              <a:sym typeface="Outfit"/>
            </a:endParaRPr>
          </a:p>
          <a:p>
            <a:pPr indent="0" lvl="0" marL="0" rtl="0" algn="l">
              <a:spcBef>
                <a:spcPts val="0"/>
              </a:spcBef>
              <a:spcAft>
                <a:spcPts val="0"/>
              </a:spcAft>
              <a:buNone/>
            </a:pPr>
            <a:r>
              <a:t/>
            </a:r>
            <a:endParaRPr b="1" sz="1100"/>
          </a:p>
          <a:p>
            <a:pPr indent="0" lvl="0" marL="0" rtl="0" algn="l">
              <a:spcBef>
                <a:spcPts val="0"/>
              </a:spcBef>
              <a:spcAft>
                <a:spcPts val="0"/>
              </a:spcAft>
              <a:buNone/>
            </a:pPr>
            <a:r>
              <a:t/>
            </a:r>
            <a:endParaRPr b="1" sz="1100"/>
          </a:p>
        </p:txBody>
      </p:sp>
      <p:pic>
        <p:nvPicPr>
          <p:cNvPr id="671" name="Google Shape;671;p51"/>
          <p:cNvPicPr preferRelativeResize="0"/>
          <p:nvPr/>
        </p:nvPicPr>
        <p:blipFill>
          <a:blip r:embed="rId3">
            <a:alphaModFix/>
          </a:blip>
          <a:stretch>
            <a:fillRect/>
          </a:stretch>
        </p:blipFill>
        <p:spPr>
          <a:xfrm>
            <a:off x="195725" y="1288675"/>
            <a:ext cx="3000550" cy="2049925"/>
          </a:xfrm>
          <a:prstGeom prst="rect">
            <a:avLst/>
          </a:prstGeom>
          <a:noFill/>
          <a:ln>
            <a:noFill/>
          </a:ln>
        </p:spPr>
      </p:pic>
      <p:pic>
        <p:nvPicPr>
          <p:cNvPr id="672" name="Google Shape;672;p51"/>
          <p:cNvPicPr preferRelativeResize="0"/>
          <p:nvPr/>
        </p:nvPicPr>
        <p:blipFill>
          <a:blip r:embed="rId4">
            <a:alphaModFix/>
          </a:blip>
          <a:stretch>
            <a:fillRect/>
          </a:stretch>
        </p:blipFill>
        <p:spPr>
          <a:xfrm>
            <a:off x="3348675" y="1288675"/>
            <a:ext cx="2464416" cy="2049925"/>
          </a:xfrm>
          <a:prstGeom prst="rect">
            <a:avLst/>
          </a:prstGeom>
          <a:noFill/>
          <a:ln>
            <a:noFill/>
          </a:ln>
        </p:spPr>
      </p:pic>
      <p:pic>
        <p:nvPicPr>
          <p:cNvPr id="673" name="Google Shape;673;p51"/>
          <p:cNvPicPr preferRelativeResize="0"/>
          <p:nvPr/>
        </p:nvPicPr>
        <p:blipFill>
          <a:blip r:embed="rId5">
            <a:alphaModFix/>
          </a:blip>
          <a:stretch>
            <a:fillRect/>
          </a:stretch>
        </p:blipFill>
        <p:spPr>
          <a:xfrm>
            <a:off x="5965490" y="1288675"/>
            <a:ext cx="2795827" cy="20499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5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SVM (Support Vector Machines)</a:t>
            </a:r>
            <a:endParaRPr/>
          </a:p>
        </p:txBody>
      </p:sp>
      <p:sp>
        <p:nvSpPr>
          <p:cNvPr id="679" name="Google Shape;679;p52"/>
          <p:cNvSpPr txBox="1"/>
          <p:nvPr/>
        </p:nvSpPr>
        <p:spPr>
          <a:xfrm>
            <a:off x="981900" y="4296500"/>
            <a:ext cx="7180200" cy="30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1000" u="sng">
              <a:solidFill>
                <a:schemeClr val="dk1"/>
              </a:solidFill>
              <a:latin typeface="DM Sans"/>
              <a:ea typeface="DM Sans"/>
              <a:cs typeface="DM Sans"/>
              <a:sym typeface="DM Sans"/>
            </a:endParaRPr>
          </a:p>
        </p:txBody>
      </p:sp>
      <p:sp>
        <p:nvSpPr>
          <p:cNvPr id="680" name="Google Shape;680;p52"/>
          <p:cNvSpPr txBox="1"/>
          <p:nvPr>
            <p:ph idx="1" type="body"/>
          </p:nvPr>
        </p:nvSpPr>
        <p:spPr>
          <a:xfrm>
            <a:off x="344650" y="1215750"/>
            <a:ext cx="3919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100">
                <a:solidFill>
                  <a:srgbClr val="000000"/>
                </a:solidFill>
                <a:latin typeface="Outfit"/>
                <a:ea typeface="Outfit"/>
                <a:cs typeface="Outfit"/>
                <a:sym typeface="Outfit"/>
              </a:rPr>
              <a:t>StandardScaler</a:t>
            </a:r>
            <a:r>
              <a:rPr lang="en" sz="1100">
                <a:solidFill>
                  <a:srgbClr val="000000"/>
                </a:solidFill>
                <a:latin typeface="Outfit"/>
                <a:ea typeface="Outfit"/>
                <a:cs typeface="Outfit"/>
                <a:sym typeface="Outfit"/>
              </a:rPr>
              <a:t> </a:t>
            </a:r>
            <a:endParaRPr>
              <a:latin typeface="Outfit"/>
              <a:ea typeface="Outfit"/>
              <a:cs typeface="Outfit"/>
              <a:sym typeface="Outfit"/>
            </a:endParaRPr>
          </a:p>
        </p:txBody>
      </p:sp>
      <p:pic>
        <p:nvPicPr>
          <p:cNvPr id="681" name="Google Shape;681;p52"/>
          <p:cNvPicPr preferRelativeResize="0"/>
          <p:nvPr/>
        </p:nvPicPr>
        <p:blipFill rotWithShape="1">
          <a:blip r:embed="rId3">
            <a:alphaModFix/>
          </a:blip>
          <a:srcRect b="0" l="0" r="22863" t="43962"/>
          <a:stretch/>
        </p:blipFill>
        <p:spPr>
          <a:xfrm>
            <a:off x="720000" y="1569750"/>
            <a:ext cx="3085349" cy="1234675"/>
          </a:xfrm>
          <a:prstGeom prst="rect">
            <a:avLst/>
          </a:prstGeom>
          <a:noFill/>
          <a:ln>
            <a:noFill/>
          </a:ln>
        </p:spPr>
      </p:pic>
      <p:sp>
        <p:nvSpPr>
          <p:cNvPr id="682" name="Google Shape;682;p52"/>
          <p:cNvSpPr txBox="1"/>
          <p:nvPr/>
        </p:nvSpPr>
        <p:spPr>
          <a:xfrm>
            <a:off x="5162100" y="1215750"/>
            <a:ext cx="30000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1100">
                <a:latin typeface="Outfit"/>
                <a:ea typeface="Outfit"/>
                <a:cs typeface="Outfit"/>
                <a:sym typeface="Outfit"/>
              </a:rPr>
              <a:t>MinMaxScaler</a:t>
            </a:r>
            <a:endParaRPr b="1">
              <a:solidFill>
                <a:schemeClr val="dk1"/>
              </a:solidFill>
              <a:latin typeface="Outfit"/>
              <a:ea typeface="Outfit"/>
              <a:cs typeface="Outfit"/>
              <a:sym typeface="Outfit"/>
            </a:endParaRPr>
          </a:p>
        </p:txBody>
      </p:sp>
      <p:pic>
        <p:nvPicPr>
          <p:cNvPr id="683" name="Google Shape;683;p52"/>
          <p:cNvPicPr preferRelativeResize="0"/>
          <p:nvPr/>
        </p:nvPicPr>
        <p:blipFill rotWithShape="1">
          <a:blip r:embed="rId4">
            <a:alphaModFix/>
          </a:blip>
          <a:srcRect b="0" l="0" r="42578" t="57287"/>
          <a:stretch/>
        </p:blipFill>
        <p:spPr>
          <a:xfrm>
            <a:off x="5008275" y="1569750"/>
            <a:ext cx="3307650" cy="1343201"/>
          </a:xfrm>
          <a:prstGeom prst="rect">
            <a:avLst/>
          </a:prstGeom>
          <a:noFill/>
          <a:ln>
            <a:noFill/>
          </a:ln>
        </p:spPr>
      </p:pic>
      <p:sp>
        <p:nvSpPr>
          <p:cNvPr id="684" name="Google Shape;684;p52"/>
          <p:cNvSpPr txBox="1"/>
          <p:nvPr/>
        </p:nvSpPr>
        <p:spPr>
          <a:xfrm>
            <a:off x="344650" y="2993650"/>
            <a:ext cx="3639300" cy="11916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SzPts val="1100"/>
              <a:buFont typeface="Outfit"/>
              <a:buChar char="●"/>
            </a:pPr>
            <a:r>
              <a:rPr b="1" lang="en" sz="1100">
                <a:latin typeface="Outfit"/>
                <a:ea typeface="Outfit"/>
                <a:cs typeface="Outfit"/>
                <a:sym typeface="Outfit"/>
              </a:rPr>
              <a:t>Accuracy</a:t>
            </a:r>
            <a:r>
              <a:rPr lang="en" sz="1100">
                <a:latin typeface="Outfit"/>
                <a:ea typeface="Outfit"/>
                <a:cs typeface="Outfit"/>
                <a:sym typeface="Outfit"/>
              </a:rPr>
              <a:t>: 95.6% – high overall performance.</a:t>
            </a:r>
            <a:endParaRPr sz="1100">
              <a:latin typeface="Outfit"/>
              <a:ea typeface="Outfit"/>
              <a:cs typeface="Outfit"/>
              <a:sym typeface="Outfit"/>
            </a:endParaRPr>
          </a:p>
          <a:p>
            <a:pPr indent="-298450" lvl="0" marL="457200" rtl="0" algn="l">
              <a:spcBef>
                <a:spcPts val="0"/>
              </a:spcBef>
              <a:spcAft>
                <a:spcPts val="0"/>
              </a:spcAft>
              <a:buSzPts val="1100"/>
              <a:buFont typeface="Outfit"/>
              <a:buChar char="●"/>
            </a:pPr>
            <a:r>
              <a:rPr b="1" lang="en" sz="1100">
                <a:latin typeface="Outfit"/>
                <a:ea typeface="Outfit"/>
                <a:cs typeface="Outfit"/>
                <a:sym typeface="Outfit"/>
              </a:rPr>
              <a:t>Precision for Satisfied</a:t>
            </a:r>
            <a:r>
              <a:rPr lang="en" sz="1100">
                <a:latin typeface="Outfit"/>
                <a:ea typeface="Outfit"/>
                <a:cs typeface="Outfit"/>
                <a:sym typeface="Outfit"/>
              </a:rPr>
              <a:t>: 96% – accurate in predicting satisfied passengers.</a:t>
            </a:r>
            <a:endParaRPr sz="1100">
              <a:latin typeface="Outfit"/>
              <a:ea typeface="Outfit"/>
              <a:cs typeface="Outfit"/>
              <a:sym typeface="Outfit"/>
            </a:endParaRPr>
          </a:p>
          <a:p>
            <a:pPr indent="-298450" lvl="0" marL="457200" rtl="0" algn="l">
              <a:spcBef>
                <a:spcPts val="0"/>
              </a:spcBef>
              <a:spcAft>
                <a:spcPts val="0"/>
              </a:spcAft>
              <a:buSzPts val="1100"/>
              <a:buFont typeface="Outfit"/>
              <a:buChar char="●"/>
            </a:pPr>
            <a:r>
              <a:rPr b="1" lang="en" sz="1100">
                <a:latin typeface="Outfit"/>
                <a:ea typeface="Outfit"/>
                <a:cs typeface="Outfit"/>
                <a:sym typeface="Outfit"/>
              </a:rPr>
              <a:t>Recall for Satisfied</a:t>
            </a:r>
            <a:r>
              <a:rPr lang="en" sz="1100">
                <a:latin typeface="Outfit"/>
                <a:ea typeface="Outfit"/>
                <a:cs typeface="Outfit"/>
                <a:sym typeface="Outfit"/>
              </a:rPr>
              <a:t>: 94% – captured most satisfied passengers with few missed cases.</a:t>
            </a:r>
            <a:endParaRPr sz="1100">
              <a:latin typeface="Outfit"/>
              <a:ea typeface="Outfit"/>
              <a:cs typeface="Outfit"/>
              <a:sym typeface="Outfit"/>
            </a:endParaRPr>
          </a:p>
          <a:p>
            <a:pPr indent="-298450" lvl="0" marL="457200" rtl="0" algn="l">
              <a:spcBef>
                <a:spcPts val="0"/>
              </a:spcBef>
              <a:spcAft>
                <a:spcPts val="0"/>
              </a:spcAft>
              <a:buSzPts val="1100"/>
              <a:buFont typeface="Outfit"/>
              <a:buChar char="●"/>
            </a:pPr>
            <a:r>
              <a:rPr b="1" lang="en" sz="1100">
                <a:latin typeface="Outfit"/>
                <a:ea typeface="Outfit"/>
                <a:cs typeface="Outfit"/>
                <a:sym typeface="Outfit"/>
              </a:rPr>
              <a:t>F1-Score</a:t>
            </a:r>
            <a:r>
              <a:rPr lang="en" sz="1100">
                <a:latin typeface="Outfit"/>
                <a:ea typeface="Outfit"/>
                <a:cs typeface="Outfit"/>
                <a:sym typeface="Outfit"/>
              </a:rPr>
              <a:t>: 0.95 – balanced precision and recall.</a:t>
            </a:r>
            <a:endParaRPr>
              <a:solidFill>
                <a:schemeClr val="dk1"/>
              </a:solidFill>
              <a:latin typeface="Outfit"/>
              <a:ea typeface="Outfit"/>
              <a:cs typeface="Outfit"/>
              <a:sym typeface="Outfit"/>
            </a:endParaRPr>
          </a:p>
        </p:txBody>
      </p:sp>
      <p:sp>
        <p:nvSpPr>
          <p:cNvPr id="685" name="Google Shape;685;p52"/>
          <p:cNvSpPr txBox="1"/>
          <p:nvPr/>
        </p:nvSpPr>
        <p:spPr>
          <a:xfrm>
            <a:off x="4615200" y="2993650"/>
            <a:ext cx="3700800" cy="17085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SzPts val="1100"/>
              <a:buFont typeface="Outfit"/>
              <a:buChar char="●"/>
            </a:pPr>
            <a:r>
              <a:rPr b="1" lang="en" sz="1100">
                <a:latin typeface="Outfit"/>
                <a:ea typeface="Outfit"/>
                <a:cs typeface="Outfit"/>
                <a:sym typeface="Outfit"/>
              </a:rPr>
              <a:t>Accuracy</a:t>
            </a:r>
            <a:r>
              <a:rPr lang="en" sz="1100">
                <a:latin typeface="Outfit"/>
                <a:ea typeface="Outfit"/>
                <a:cs typeface="Outfit"/>
                <a:sym typeface="Outfit"/>
              </a:rPr>
              <a:t>: 95.1% – slightly lower than StandardScaler.</a:t>
            </a:r>
            <a:endParaRPr sz="1100">
              <a:latin typeface="Outfit"/>
              <a:ea typeface="Outfit"/>
              <a:cs typeface="Outfit"/>
              <a:sym typeface="Outfit"/>
            </a:endParaRPr>
          </a:p>
          <a:p>
            <a:pPr indent="-298450" lvl="0" marL="457200" rtl="0" algn="l">
              <a:spcBef>
                <a:spcPts val="0"/>
              </a:spcBef>
              <a:spcAft>
                <a:spcPts val="0"/>
              </a:spcAft>
              <a:buSzPts val="1100"/>
              <a:buFont typeface="Outfit"/>
              <a:buChar char="●"/>
            </a:pPr>
            <a:r>
              <a:rPr b="1" lang="en" sz="1100">
                <a:latin typeface="Outfit"/>
                <a:ea typeface="Outfit"/>
                <a:cs typeface="Outfit"/>
                <a:sym typeface="Outfit"/>
              </a:rPr>
              <a:t>Precision for Satisfied</a:t>
            </a:r>
            <a:r>
              <a:rPr lang="en" sz="1100">
                <a:latin typeface="Outfit"/>
                <a:ea typeface="Outfit"/>
                <a:cs typeface="Outfit"/>
                <a:sym typeface="Outfit"/>
              </a:rPr>
              <a:t>: 96% – similar precision as StandardScaler.</a:t>
            </a:r>
            <a:endParaRPr sz="1100">
              <a:latin typeface="Outfit"/>
              <a:ea typeface="Outfit"/>
              <a:cs typeface="Outfit"/>
              <a:sym typeface="Outfit"/>
            </a:endParaRPr>
          </a:p>
          <a:p>
            <a:pPr indent="-298450" lvl="0" marL="457200" rtl="0" algn="l">
              <a:spcBef>
                <a:spcPts val="0"/>
              </a:spcBef>
              <a:spcAft>
                <a:spcPts val="0"/>
              </a:spcAft>
              <a:buSzPts val="1100"/>
              <a:buFont typeface="Outfit"/>
              <a:buChar char="●"/>
            </a:pPr>
            <a:r>
              <a:rPr b="1" lang="en" sz="1100">
                <a:latin typeface="Outfit"/>
                <a:ea typeface="Outfit"/>
                <a:cs typeface="Outfit"/>
                <a:sym typeface="Outfit"/>
              </a:rPr>
              <a:t>Recall for Satisfied</a:t>
            </a:r>
            <a:r>
              <a:rPr lang="en" sz="1100">
                <a:latin typeface="Outfit"/>
                <a:ea typeface="Outfit"/>
                <a:cs typeface="Outfit"/>
                <a:sym typeface="Outfit"/>
              </a:rPr>
              <a:t>: 93% – slightly lower recall, missing a few more satisfied passengers.</a:t>
            </a:r>
            <a:endParaRPr sz="1100">
              <a:latin typeface="Outfit"/>
              <a:ea typeface="Outfit"/>
              <a:cs typeface="Outfit"/>
              <a:sym typeface="Outfit"/>
            </a:endParaRPr>
          </a:p>
          <a:p>
            <a:pPr indent="-298450" lvl="0" marL="457200" rtl="0" algn="l">
              <a:spcBef>
                <a:spcPts val="0"/>
              </a:spcBef>
              <a:spcAft>
                <a:spcPts val="0"/>
              </a:spcAft>
              <a:buSzPts val="1100"/>
              <a:buFont typeface="Outfit"/>
              <a:buChar char="●"/>
            </a:pPr>
            <a:r>
              <a:rPr b="1" lang="en" sz="1100">
                <a:latin typeface="Outfit"/>
                <a:ea typeface="Outfit"/>
                <a:cs typeface="Outfit"/>
                <a:sym typeface="Outfit"/>
              </a:rPr>
              <a:t>F1-Score</a:t>
            </a:r>
            <a:r>
              <a:rPr lang="en" sz="1100">
                <a:latin typeface="Outfit"/>
                <a:ea typeface="Outfit"/>
                <a:cs typeface="Outfit"/>
                <a:sym typeface="Outfit"/>
              </a:rPr>
              <a:t>: 0.94 – balanced but slightly lower than StandardScaler.</a:t>
            </a:r>
            <a:endParaRPr sz="1100">
              <a:latin typeface="Outfit"/>
              <a:ea typeface="Outfit"/>
              <a:cs typeface="Outfit"/>
              <a:sym typeface="Outfit"/>
            </a:endParaRPr>
          </a:p>
          <a:p>
            <a:pPr indent="0" lvl="0" marL="0" rtl="0" algn="l">
              <a:spcBef>
                <a:spcPts val="0"/>
              </a:spcBef>
              <a:spcAft>
                <a:spcPts val="0"/>
              </a:spcAft>
              <a:buNone/>
            </a:pPr>
            <a:r>
              <a:t/>
            </a:r>
            <a:endParaRPr b="1" sz="11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5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Hyperparameter Tuning Results</a:t>
            </a:r>
            <a:endParaRPr/>
          </a:p>
        </p:txBody>
      </p:sp>
      <p:pic>
        <p:nvPicPr>
          <p:cNvPr id="691" name="Google Shape;691;p53"/>
          <p:cNvPicPr preferRelativeResize="0"/>
          <p:nvPr/>
        </p:nvPicPr>
        <p:blipFill rotWithShape="1">
          <a:blip r:embed="rId3">
            <a:alphaModFix/>
          </a:blip>
          <a:srcRect b="0" l="0" r="19865" t="51390"/>
          <a:stretch/>
        </p:blipFill>
        <p:spPr>
          <a:xfrm>
            <a:off x="555825" y="1217975"/>
            <a:ext cx="3611800" cy="1815075"/>
          </a:xfrm>
          <a:prstGeom prst="rect">
            <a:avLst/>
          </a:prstGeom>
          <a:noFill/>
          <a:ln>
            <a:noFill/>
          </a:ln>
        </p:spPr>
      </p:pic>
      <p:pic>
        <p:nvPicPr>
          <p:cNvPr id="692" name="Google Shape;692;p53"/>
          <p:cNvPicPr preferRelativeResize="0"/>
          <p:nvPr/>
        </p:nvPicPr>
        <p:blipFill rotWithShape="1">
          <a:blip r:embed="rId4">
            <a:alphaModFix/>
          </a:blip>
          <a:srcRect b="0" l="0" r="0" t="84662"/>
          <a:stretch/>
        </p:blipFill>
        <p:spPr>
          <a:xfrm>
            <a:off x="4167625" y="1839162"/>
            <a:ext cx="4197948" cy="572701"/>
          </a:xfrm>
          <a:prstGeom prst="rect">
            <a:avLst/>
          </a:prstGeom>
          <a:noFill/>
          <a:ln>
            <a:noFill/>
          </a:ln>
        </p:spPr>
      </p:pic>
      <p:sp>
        <p:nvSpPr>
          <p:cNvPr id="693" name="Google Shape;693;p53"/>
          <p:cNvSpPr txBox="1"/>
          <p:nvPr/>
        </p:nvSpPr>
        <p:spPr>
          <a:xfrm>
            <a:off x="2125050" y="3140325"/>
            <a:ext cx="4893900" cy="15114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SzPts val="1100"/>
              <a:buChar char="●"/>
            </a:pPr>
            <a:r>
              <a:rPr b="1" lang="en" sz="1100">
                <a:latin typeface="Outfit"/>
                <a:ea typeface="Outfit"/>
                <a:cs typeface="Outfit"/>
                <a:sym typeface="Outfit"/>
              </a:rPr>
              <a:t>Best Parameters</a:t>
            </a:r>
            <a:r>
              <a:rPr lang="en" sz="1100">
                <a:latin typeface="Outfit"/>
                <a:ea typeface="Outfit"/>
                <a:cs typeface="Outfit"/>
                <a:sym typeface="Outfit"/>
              </a:rPr>
              <a:t>: </a:t>
            </a:r>
            <a:r>
              <a:rPr lang="en" sz="1100">
                <a:solidFill>
                  <a:srgbClr val="188038"/>
                </a:solidFill>
                <a:latin typeface="Outfit"/>
                <a:ea typeface="Outfit"/>
                <a:cs typeface="Outfit"/>
                <a:sym typeface="Outfit"/>
              </a:rPr>
              <a:t>C=10</a:t>
            </a:r>
            <a:r>
              <a:rPr lang="en" sz="1100">
                <a:latin typeface="Outfit"/>
                <a:ea typeface="Outfit"/>
                <a:cs typeface="Outfit"/>
                <a:sym typeface="Outfit"/>
              </a:rPr>
              <a:t>, </a:t>
            </a:r>
            <a:r>
              <a:rPr lang="en" sz="1100">
                <a:solidFill>
                  <a:srgbClr val="188038"/>
                </a:solidFill>
                <a:latin typeface="Outfit"/>
                <a:ea typeface="Outfit"/>
                <a:cs typeface="Outfit"/>
                <a:sym typeface="Outfit"/>
              </a:rPr>
              <a:t>gamma=auto</a:t>
            </a:r>
            <a:r>
              <a:rPr lang="en" sz="1100">
                <a:latin typeface="Outfit"/>
                <a:ea typeface="Outfit"/>
                <a:cs typeface="Outfit"/>
                <a:sym typeface="Outfit"/>
              </a:rPr>
              <a:t>, </a:t>
            </a:r>
            <a:r>
              <a:rPr lang="en" sz="1100">
                <a:solidFill>
                  <a:srgbClr val="188038"/>
                </a:solidFill>
                <a:latin typeface="Outfit"/>
                <a:ea typeface="Outfit"/>
                <a:cs typeface="Outfit"/>
                <a:sym typeface="Outfit"/>
              </a:rPr>
              <a:t>kernel=rbf</a:t>
            </a:r>
            <a:endParaRPr sz="1100">
              <a:solidFill>
                <a:srgbClr val="188038"/>
              </a:solidFill>
              <a:latin typeface="Outfit"/>
              <a:ea typeface="Outfit"/>
              <a:cs typeface="Outfit"/>
              <a:sym typeface="Outfit"/>
            </a:endParaRPr>
          </a:p>
          <a:p>
            <a:pPr indent="-298450" lvl="0" marL="457200" rtl="0" algn="l">
              <a:lnSpc>
                <a:spcPct val="115000"/>
              </a:lnSpc>
              <a:spcBef>
                <a:spcPts val="0"/>
              </a:spcBef>
              <a:spcAft>
                <a:spcPts val="0"/>
              </a:spcAft>
              <a:buSzPts val="1100"/>
              <a:buChar char="●"/>
            </a:pPr>
            <a:r>
              <a:rPr b="1" lang="en" sz="1100">
                <a:latin typeface="Outfit"/>
                <a:ea typeface="Outfit"/>
                <a:cs typeface="Outfit"/>
                <a:sym typeface="Outfit"/>
              </a:rPr>
              <a:t>Accuracy</a:t>
            </a:r>
            <a:r>
              <a:rPr lang="en" sz="1100">
                <a:latin typeface="Outfit"/>
                <a:ea typeface="Outfit"/>
                <a:cs typeface="Outfit"/>
                <a:sym typeface="Outfit"/>
              </a:rPr>
              <a:t>: Achieved 96% accuracy with the best parameters.</a:t>
            </a:r>
            <a:endParaRPr sz="1100">
              <a:latin typeface="Outfit"/>
              <a:ea typeface="Outfit"/>
              <a:cs typeface="Outfit"/>
              <a:sym typeface="Outfit"/>
            </a:endParaRPr>
          </a:p>
          <a:p>
            <a:pPr indent="-298450" lvl="0" marL="457200" rtl="0" algn="l">
              <a:lnSpc>
                <a:spcPct val="115000"/>
              </a:lnSpc>
              <a:spcBef>
                <a:spcPts val="0"/>
              </a:spcBef>
              <a:spcAft>
                <a:spcPts val="0"/>
              </a:spcAft>
              <a:buSzPts val="1100"/>
              <a:buChar char="●"/>
            </a:pPr>
            <a:r>
              <a:rPr b="1" lang="en" sz="1100">
                <a:latin typeface="Outfit"/>
                <a:ea typeface="Outfit"/>
                <a:cs typeface="Outfit"/>
                <a:sym typeface="Outfit"/>
              </a:rPr>
              <a:t>Higher C Value</a:t>
            </a:r>
            <a:r>
              <a:rPr lang="en" sz="1100">
                <a:latin typeface="Outfit"/>
                <a:ea typeface="Outfit"/>
                <a:cs typeface="Outfit"/>
                <a:sym typeface="Outfit"/>
              </a:rPr>
              <a:t>: Allowed a more complex decision boundary, improving classification accuracy.</a:t>
            </a:r>
            <a:endParaRPr sz="1100">
              <a:latin typeface="Outfit"/>
              <a:ea typeface="Outfit"/>
              <a:cs typeface="Outfit"/>
              <a:sym typeface="Outfit"/>
            </a:endParaRPr>
          </a:p>
          <a:p>
            <a:pPr indent="-298450" lvl="0" marL="457200" rtl="0" algn="l">
              <a:lnSpc>
                <a:spcPct val="115000"/>
              </a:lnSpc>
              <a:spcBef>
                <a:spcPts val="0"/>
              </a:spcBef>
              <a:spcAft>
                <a:spcPts val="0"/>
              </a:spcAft>
              <a:buSzPts val="1100"/>
              <a:buChar char="●"/>
            </a:pPr>
            <a:r>
              <a:rPr b="1" lang="en" sz="1100">
                <a:latin typeface="Outfit"/>
                <a:ea typeface="Outfit"/>
                <a:cs typeface="Outfit"/>
                <a:sym typeface="Outfit"/>
              </a:rPr>
              <a:t>RBF Kernel</a:t>
            </a:r>
            <a:r>
              <a:rPr lang="en" sz="1100">
                <a:latin typeface="Outfit"/>
                <a:ea typeface="Outfit"/>
                <a:cs typeface="Outfit"/>
                <a:sym typeface="Outfit"/>
              </a:rPr>
              <a:t>: Helped capture non-linear patterns in the data for better separation of satisfied and dissatisfied passengers.</a:t>
            </a:r>
            <a:endParaRPr sz="1100">
              <a:latin typeface="Outfit"/>
              <a:ea typeface="Outfit"/>
              <a:cs typeface="Outfit"/>
              <a:sym typeface="Outfit"/>
            </a:endParaRPr>
          </a:p>
          <a:p>
            <a:pPr indent="-298450" lvl="0" marL="457200" rtl="0" algn="l">
              <a:lnSpc>
                <a:spcPct val="115000"/>
              </a:lnSpc>
              <a:spcBef>
                <a:spcPts val="0"/>
              </a:spcBef>
              <a:spcAft>
                <a:spcPts val="0"/>
              </a:spcAft>
              <a:buSzPts val="1100"/>
              <a:buChar char="●"/>
            </a:pPr>
            <a:r>
              <a:rPr b="1" lang="en" sz="1100">
                <a:latin typeface="Outfit"/>
                <a:ea typeface="Outfit"/>
                <a:cs typeface="Outfit"/>
                <a:sym typeface="Outfit"/>
              </a:rPr>
              <a:t>Consistent Across Methods</a:t>
            </a:r>
            <a:r>
              <a:rPr lang="en" sz="1100">
                <a:latin typeface="Outfit"/>
                <a:ea typeface="Outfit"/>
                <a:cs typeface="Outfit"/>
                <a:sym typeface="Outfit"/>
              </a:rPr>
              <a:t>: Both Grid Search and Manual Tuning confirmed these parameters as optimal.</a:t>
            </a:r>
            <a:endParaRPr sz="1100">
              <a:latin typeface="Outfit"/>
              <a:ea typeface="Outfit"/>
              <a:cs typeface="Outfit"/>
              <a:sym typeface="Outfit"/>
            </a:endParaRPr>
          </a:p>
          <a:p>
            <a:pPr indent="0" lvl="0" marL="0" rtl="0" algn="l">
              <a:spcBef>
                <a:spcPts val="1200"/>
              </a:spcBef>
              <a:spcAft>
                <a:spcPts val="0"/>
              </a:spcAft>
              <a:buNone/>
            </a:pPr>
            <a:r>
              <a:t/>
            </a:r>
            <a:endParaRPr>
              <a:solidFill>
                <a:schemeClr val="dk1"/>
              </a:solidFill>
              <a:latin typeface="DM Sans"/>
              <a:ea typeface="DM Sans"/>
              <a:cs typeface="DM Sans"/>
              <a:sym typeface="DM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5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SVM </a:t>
            </a:r>
            <a:r>
              <a:rPr lang="en"/>
              <a:t>Performance Metrics</a:t>
            </a:r>
            <a:endParaRPr/>
          </a:p>
        </p:txBody>
      </p:sp>
      <p:pic>
        <p:nvPicPr>
          <p:cNvPr id="699" name="Google Shape;699;p54"/>
          <p:cNvPicPr preferRelativeResize="0"/>
          <p:nvPr/>
        </p:nvPicPr>
        <p:blipFill rotWithShape="1">
          <a:blip r:embed="rId3">
            <a:alphaModFix/>
          </a:blip>
          <a:srcRect b="0" l="0" r="0" t="26177"/>
          <a:stretch/>
        </p:blipFill>
        <p:spPr>
          <a:xfrm>
            <a:off x="179763" y="1437038"/>
            <a:ext cx="2719525" cy="1935401"/>
          </a:xfrm>
          <a:prstGeom prst="rect">
            <a:avLst/>
          </a:prstGeom>
          <a:noFill/>
          <a:ln>
            <a:noFill/>
          </a:ln>
        </p:spPr>
      </p:pic>
      <p:pic>
        <p:nvPicPr>
          <p:cNvPr id="700" name="Google Shape;700;p54"/>
          <p:cNvPicPr preferRelativeResize="0"/>
          <p:nvPr/>
        </p:nvPicPr>
        <p:blipFill rotWithShape="1">
          <a:blip r:embed="rId4">
            <a:alphaModFix/>
          </a:blip>
          <a:srcRect b="0" l="0" r="28866" t="33128"/>
          <a:stretch/>
        </p:blipFill>
        <p:spPr>
          <a:xfrm>
            <a:off x="3313888" y="1437050"/>
            <a:ext cx="2516226" cy="1753174"/>
          </a:xfrm>
          <a:prstGeom prst="rect">
            <a:avLst/>
          </a:prstGeom>
          <a:noFill/>
          <a:ln>
            <a:noFill/>
          </a:ln>
        </p:spPr>
      </p:pic>
      <p:pic>
        <p:nvPicPr>
          <p:cNvPr id="701" name="Google Shape;701;p54"/>
          <p:cNvPicPr preferRelativeResize="0"/>
          <p:nvPr/>
        </p:nvPicPr>
        <p:blipFill rotWithShape="1">
          <a:blip r:embed="rId5">
            <a:alphaModFix/>
          </a:blip>
          <a:srcRect b="-6017" l="0" r="36273" t="36379"/>
          <a:stretch/>
        </p:blipFill>
        <p:spPr>
          <a:xfrm>
            <a:off x="6077350" y="1417313"/>
            <a:ext cx="2346649" cy="1792650"/>
          </a:xfrm>
          <a:prstGeom prst="rect">
            <a:avLst/>
          </a:prstGeom>
          <a:noFill/>
          <a:ln>
            <a:noFill/>
          </a:ln>
        </p:spPr>
      </p:pic>
      <p:sp>
        <p:nvSpPr>
          <p:cNvPr id="702" name="Google Shape;702;p54"/>
          <p:cNvSpPr txBox="1"/>
          <p:nvPr/>
        </p:nvSpPr>
        <p:spPr>
          <a:xfrm>
            <a:off x="315525" y="3411875"/>
            <a:ext cx="2448000" cy="1423500"/>
          </a:xfrm>
          <a:prstGeom prst="rect">
            <a:avLst/>
          </a:prstGeom>
          <a:noFill/>
          <a:ln>
            <a:noFill/>
          </a:ln>
        </p:spPr>
        <p:txBody>
          <a:bodyPr anchorCtr="0" anchor="t" bIns="91425" lIns="91425" spcFirstLastPara="1" rIns="91425" wrap="square" tIns="91425">
            <a:noAutofit/>
          </a:bodyPr>
          <a:lstStyle/>
          <a:p>
            <a:pPr indent="-285750" lvl="0" marL="457200" rtl="0" algn="l">
              <a:spcBef>
                <a:spcPts val="0"/>
              </a:spcBef>
              <a:spcAft>
                <a:spcPts val="0"/>
              </a:spcAft>
              <a:buClr>
                <a:schemeClr val="dk1"/>
              </a:buClr>
              <a:buSzPts val="900"/>
              <a:buFont typeface="Outfit"/>
              <a:buChar char="●"/>
            </a:pPr>
            <a:r>
              <a:rPr lang="en" sz="900">
                <a:solidFill>
                  <a:schemeClr val="dk1"/>
                </a:solidFill>
                <a:latin typeface="Outfit"/>
                <a:ea typeface="Outfit"/>
                <a:cs typeface="Outfit"/>
                <a:sym typeface="Outfit"/>
              </a:rPr>
              <a:t>High True Positives and True Negatives: Most predictions were correct.</a:t>
            </a:r>
            <a:endParaRPr sz="900">
              <a:solidFill>
                <a:schemeClr val="dk1"/>
              </a:solidFill>
              <a:latin typeface="Outfit"/>
              <a:ea typeface="Outfit"/>
              <a:cs typeface="Outfit"/>
              <a:sym typeface="Outfit"/>
            </a:endParaRPr>
          </a:p>
          <a:p>
            <a:pPr indent="-285750" lvl="0" marL="457200" rtl="0" algn="l">
              <a:spcBef>
                <a:spcPts val="0"/>
              </a:spcBef>
              <a:spcAft>
                <a:spcPts val="0"/>
              </a:spcAft>
              <a:buClr>
                <a:schemeClr val="dk1"/>
              </a:buClr>
              <a:buSzPts val="900"/>
              <a:buFont typeface="Outfit"/>
              <a:buChar char="●"/>
            </a:pPr>
            <a:r>
              <a:rPr lang="en" sz="900">
                <a:solidFill>
                  <a:schemeClr val="dk1"/>
                </a:solidFill>
                <a:latin typeface="Outfit"/>
                <a:ea typeface="Outfit"/>
                <a:cs typeface="Outfit"/>
                <a:sym typeface="Outfit"/>
              </a:rPr>
              <a:t>Low Misclassifications: Few false positives and false negatives.</a:t>
            </a:r>
            <a:endParaRPr sz="900">
              <a:solidFill>
                <a:schemeClr val="dk1"/>
              </a:solidFill>
              <a:latin typeface="Outfit"/>
              <a:ea typeface="Outfit"/>
              <a:cs typeface="Outfit"/>
              <a:sym typeface="Outfit"/>
            </a:endParaRPr>
          </a:p>
          <a:p>
            <a:pPr indent="-285750" lvl="0" marL="457200" rtl="0" algn="l">
              <a:spcBef>
                <a:spcPts val="0"/>
              </a:spcBef>
              <a:spcAft>
                <a:spcPts val="0"/>
              </a:spcAft>
              <a:buClr>
                <a:schemeClr val="dk1"/>
              </a:buClr>
              <a:buSzPts val="900"/>
              <a:buChar char="●"/>
            </a:pPr>
            <a:r>
              <a:rPr lang="en" sz="900">
                <a:solidFill>
                  <a:schemeClr val="dk1"/>
                </a:solidFill>
                <a:latin typeface="Outfit"/>
                <a:ea typeface="Outfit"/>
                <a:cs typeface="Outfit"/>
                <a:sym typeface="Outfit"/>
              </a:rPr>
              <a:t>Result: The model reliably separates satisfied and dissatisfied passengers.</a:t>
            </a:r>
            <a:endParaRPr sz="900">
              <a:solidFill>
                <a:schemeClr val="dk1"/>
              </a:solidFill>
              <a:latin typeface="Outfit"/>
              <a:ea typeface="Outfit"/>
              <a:cs typeface="Outfit"/>
              <a:sym typeface="Outfit"/>
            </a:endParaRPr>
          </a:p>
        </p:txBody>
      </p:sp>
      <p:sp>
        <p:nvSpPr>
          <p:cNvPr id="703" name="Google Shape;703;p54"/>
          <p:cNvSpPr txBox="1"/>
          <p:nvPr/>
        </p:nvSpPr>
        <p:spPr>
          <a:xfrm>
            <a:off x="3072013" y="3372450"/>
            <a:ext cx="3000000" cy="908100"/>
          </a:xfrm>
          <a:prstGeom prst="rect">
            <a:avLst/>
          </a:prstGeom>
          <a:noFill/>
          <a:ln>
            <a:noFill/>
          </a:ln>
        </p:spPr>
        <p:txBody>
          <a:bodyPr anchorCtr="0" anchor="t" bIns="91425" lIns="91425" spcFirstLastPara="1" rIns="91425" wrap="square" tIns="91425">
            <a:spAutoFit/>
          </a:bodyPr>
          <a:lstStyle/>
          <a:p>
            <a:pPr indent="-285750" lvl="0" marL="457200" rtl="0" algn="l">
              <a:spcBef>
                <a:spcPts val="0"/>
              </a:spcBef>
              <a:spcAft>
                <a:spcPts val="0"/>
              </a:spcAft>
              <a:buSzPts val="900"/>
              <a:buFont typeface="Outfit"/>
              <a:buChar char="●"/>
            </a:pPr>
            <a:r>
              <a:rPr lang="en" sz="900">
                <a:latin typeface="Outfit"/>
                <a:ea typeface="Outfit"/>
                <a:cs typeface="Outfit"/>
                <a:sym typeface="Outfit"/>
              </a:rPr>
              <a:t>High AUC: Indicates strong performance in distinguishing between classes.</a:t>
            </a:r>
            <a:endParaRPr sz="900">
              <a:latin typeface="Outfit"/>
              <a:ea typeface="Outfit"/>
              <a:cs typeface="Outfit"/>
              <a:sym typeface="Outfit"/>
            </a:endParaRPr>
          </a:p>
          <a:p>
            <a:pPr indent="-285750" lvl="0" marL="457200" rtl="0" algn="l">
              <a:spcBef>
                <a:spcPts val="0"/>
              </a:spcBef>
              <a:spcAft>
                <a:spcPts val="0"/>
              </a:spcAft>
              <a:buSzPts val="900"/>
              <a:buFont typeface="Outfit"/>
              <a:buChar char="●"/>
            </a:pPr>
            <a:r>
              <a:rPr lang="en" sz="900">
                <a:latin typeface="Outfit"/>
                <a:ea typeface="Outfit"/>
                <a:cs typeface="Outfit"/>
                <a:sym typeface="Outfit"/>
              </a:rPr>
              <a:t>Curve Shape: Close to the top-left corner, showing high accuracy across thresholds.</a:t>
            </a:r>
            <a:endParaRPr sz="900">
              <a:latin typeface="Outfit"/>
              <a:ea typeface="Outfit"/>
              <a:cs typeface="Outfit"/>
              <a:sym typeface="Outfit"/>
            </a:endParaRPr>
          </a:p>
          <a:p>
            <a:pPr indent="0" lvl="0" marL="0" rtl="0" algn="l">
              <a:spcBef>
                <a:spcPts val="0"/>
              </a:spcBef>
              <a:spcAft>
                <a:spcPts val="0"/>
              </a:spcAft>
              <a:buNone/>
            </a:pPr>
            <a:r>
              <a:t/>
            </a:r>
            <a:endParaRPr b="1" sz="1100"/>
          </a:p>
        </p:txBody>
      </p:sp>
      <p:sp>
        <p:nvSpPr>
          <p:cNvPr id="704" name="Google Shape;704;p54"/>
          <p:cNvSpPr txBox="1"/>
          <p:nvPr/>
        </p:nvSpPr>
        <p:spPr>
          <a:xfrm>
            <a:off x="5906575" y="3411875"/>
            <a:ext cx="3000000" cy="1215900"/>
          </a:xfrm>
          <a:prstGeom prst="rect">
            <a:avLst/>
          </a:prstGeom>
          <a:noFill/>
          <a:ln>
            <a:noFill/>
          </a:ln>
        </p:spPr>
        <p:txBody>
          <a:bodyPr anchorCtr="0" anchor="t" bIns="91425" lIns="91425" spcFirstLastPara="1" rIns="91425" wrap="square" tIns="91425">
            <a:spAutoFit/>
          </a:bodyPr>
          <a:lstStyle/>
          <a:p>
            <a:pPr indent="-285750" lvl="0" marL="457200" rtl="0" algn="l">
              <a:spcBef>
                <a:spcPts val="0"/>
              </a:spcBef>
              <a:spcAft>
                <a:spcPts val="0"/>
              </a:spcAft>
              <a:buSzPts val="900"/>
              <a:buFont typeface="Outfit"/>
              <a:buChar char="●"/>
            </a:pPr>
            <a:r>
              <a:rPr lang="en" sz="900">
                <a:latin typeface="Outfit"/>
                <a:ea typeface="Outfit"/>
                <a:cs typeface="Outfit"/>
                <a:sym typeface="Outfit"/>
              </a:rPr>
              <a:t>Good Balance: Maintains high precision and recall for satisfied predictions.</a:t>
            </a:r>
            <a:endParaRPr sz="900">
              <a:latin typeface="Outfit"/>
              <a:ea typeface="Outfit"/>
              <a:cs typeface="Outfit"/>
              <a:sym typeface="Outfit"/>
            </a:endParaRPr>
          </a:p>
          <a:p>
            <a:pPr indent="-285750" lvl="0" marL="457200" rtl="0" algn="l">
              <a:spcBef>
                <a:spcPts val="0"/>
              </a:spcBef>
              <a:spcAft>
                <a:spcPts val="0"/>
              </a:spcAft>
              <a:buSzPts val="900"/>
              <a:buFont typeface="Outfit"/>
              <a:buChar char="●"/>
            </a:pPr>
            <a:r>
              <a:rPr lang="en" sz="900">
                <a:latin typeface="Outfit"/>
                <a:ea typeface="Outfit"/>
                <a:cs typeface="Outfit"/>
                <a:sym typeface="Outfit"/>
              </a:rPr>
              <a:t>Large Area: Confirms effective model performance, especially useful with imbalanced classes.</a:t>
            </a:r>
            <a:endParaRPr sz="900">
              <a:latin typeface="Outfit"/>
              <a:ea typeface="Outfit"/>
              <a:cs typeface="Outfit"/>
              <a:sym typeface="Outfit"/>
            </a:endParaRPr>
          </a:p>
          <a:p>
            <a:pPr indent="0" lvl="0" marL="0" rtl="0" algn="l">
              <a:spcBef>
                <a:spcPts val="0"/>
              </a:spcBef>
              <a:spcAft>
                <a:spcPts val="0"/>
              </a:spcAft>
              <a:buNone/>
            </a:pPr>
            <a:r>
              <a:t/>
            </a:r>
            <a:endParaRPr b="1" sz="1100"/>
          </a:p>
          <a:p>
            <a:pPr indent="0" lvl="0" marL="0" rtl="0" algn="l">
              <a:spcBef>
                <a:spcPts val="0"/>
              </a:spcBef>
              <a:spcAft>
                <a:spcPts val="0"/>
              </a:spcAft>
              <a:buNone/>
            </a:pPr>
            <a:r>
              <a:t/>
            </a:r>
            <a:endParaRPr b="1" sz="11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5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Gradient Boosting</a:t>
            </a:r>
            <a:endParaRPr/>
          </a:p>
        </p:txBody>
      </p:sp>
      <p:sp>
        <p:nvSpPr>
          <p:cNvPr id="710" name="Google Shape;710;p55"/>
          <p:cNvSpPr txBox="1"/>
          <p:nvPr/>
        </p:nvSpPr>
        <p:spPr>
          <a:xfrm>
            <a:off x="981900" y="4296500"/>
            <a:ext cx="7180200" cy="30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1000" u="sng">
              <a:solidFill>
                <a:schemeClr val="dk1"/>
              </a:solidFill>
              <a:latin typeface="DM Sans"/>
              <a:ea typeface="DM Sans"/>
              <a:cs typeface="DM Sans"/>
              <a:sym typeface="DM Sans"/>
            </a:endParaRPr>
          </a:p>
        </p:txBody>
      </p:sp>
      <p:sp>
        <p:nvSpPr>
          <p:cNvPr id="711" name="Google Shape;711;p55"/>
          <p:cNvSpPr txBox="1"/>
          <p:nvPr/>
        </p:nvSpPr>
        <p:spPr>
          <a:xfrm>
            <a:off x="1370150" y="3001700"/>
            <a:ext cx="6235500" cy="214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latin typeface="DM Sans"/>
                <a:ea typeface="DM Sans"/>
                <a:cs typeface="DM Sans"/>
                <a:sym typeface="DM Sans"/>
              </a:rPr>
              <a:t>Accuracy</a:t>
            </a:r>
            <a:r>
              <a:rPr lang="en" sz="1100">
                <a:latin typeface="DM Sans Medium"/>
                <a:ea typeface="DM Sans Medium"/>
                <a:cs typeface="DM Sans Medium"/>
                <a:sym typeface="DM Sans Medium"/>
              </a:rPr>
              <a:t>: The model correctly predicts the satisfaction level of 96% of the passengers.</a:t>
            </a:r>
            <a:endParaRPr sz="1100">
              <a:latin typeface="DM Sans Medium"/>
              <a:ea typeface="DM Sans Medium"/>
              <a:cs typeface="DM Sans Medium"/>
              <a:sym typeface="DM Sans Medium"/>
            </a:endParaRPr>
          </a:p>
          <a:p>
            <a:pPr indent="0" lvl="0" marL="0" rtl="0" algn="l">
              <a:spcBef>
                <a:spcPts val="0"/>
              </a:spcBef>
              <a:spcAft>
                <a:spcPts val="0"/>
              </a:spcAft>
              <a:buNone/>
            </a:pPr>
            <a:r>
              <a:t/>
            </a:r>
            <a:endParaRPr sz="1100">
              <a:latin typeface="DM Sans Medium"/>
              <a:ea typeface="DM Sans Medium"/>
              <a:cs typeface="DM Sans Medium"/>
              <a:sym typeface="DM Sans Medium"/>
            </a:endParaRPr>
          </a:p>
          <a:p>
            <a:pPr indent="0" lvl="0" marL="0" rtl="0" algn="l">
              <a:spcBef>
                <a:spcPts val="0"/>
              </a:spcBef>
              <a:spcAft>
                <a:spcPts val="0"/>
              </a:spcAft>
              <a:buNone/>
            </a:pPr>
            <a:r>
              <a:rPr b="1" lang="en" sz="1100">
                <a:latin typeface="DM Sans"/>
                <a:ea typeface="DM Sans"/>
                <a:cs typeface="DM Sans"/>
                <a:sym typeface="DM Sans"/>
              </a:rPr>
              <a:t>Precision</a:t>
            </a:r>
            <a:r>
              <a:rPr lang="en" sz="1100">
                <a:latin typeface="DM Sans Medium"/>
                <a:ea typeface="DM Sans Medium"/>
                <a:cs typeface="DM Sans Medium"/>
                <a:sym typeface="DM Sans Medium"/>
              </a:rPr>
              <a:t>: The model has high precision for both classes, indicating accurate positive predictions.</a:t>
            </a:r>
            <a:endParaRPr sz="1100">
              <a:latin typeface="DM Sans Medium"/>
              <a:ea typeface="DM Sans Medium"/>
              <a:cs typeface="DM Sans Medium"/>
              <a:sym typeface="DM Sans Medium"/>
            </a:endParaRPr>
          </a:p>
          <a:p>
            <a:pPr indent="0" lvl="0" marL="0" rtl="0" algn="l">
              <a:spcBef>
                <a:spcPts val="0"/>
              </a:spcBef>
              <a:spcAft>
                <a:spcPts val="0"/>
              </a:spcAft>
              <a:buNone/>
            </a:pPr>
            <a:r>
              <a:t/>
            </a:r>
            <a:endParaRPr sz="1100">
              <a:latin typeface="DM Sans Medium"/>
              <a:ea typeface="DM Sans Medium"/>
              <a:cs typeface="DM Sans Medium"/>
              <a:sym typeface="DM Sans Medium"/>
            </a:endParaRPr>
          </a:p>
          <a:p>
            <a:pPr indent="0" lvl="0" marL="0" rtl="0" algn="l">
              <a:spcBef>
                <a:spcPts val="0"/>
              </a:spcBef>
              <a:spcAft>
                <a:spcPts val="0"/>
              </a:spcAft>
              <a:buNone/>
            </a:pPr>
            <a:r>
              <a:rPr b="1" lang="en" sz="1100">
                <a:latin typeface="DM Sans"/>
                <a:ea typeface="DM Sans"/>
                <a:cs typeface="DM Sans"/>
                <a:sym typeface="DM Sans"/>
              </a:rPr>
              <a:t>Recall</a:t>
            </a:r>
            <a:r>
              <a:rPr lang="en" sz="1100">
                <a:latin typeface="DM Sans Medium"/>
                <a:ea typeface="DM Sans Medium"/>
                <a:cs typeface="DM Sans Medium"/>
                <a:sym typeface="DM Sans Medium"/>
              </a:rPr>
              <a:t>: The model is particularly good at identifying dissatisfied passengers (class 0) with a high recall.</a:t>
            </a:r>
            <a:endParaRPr sz="1100">
              <a:latin typeface="DM Sans Medium"/>
              <a:ea typeface="DM Sans Medium"/>
              <a:cs typeface="DM Sans Medium"/>
              <a:sym typeface="DM Sans Medium"/>
            </a:endParaRPr>
          </a:p>
          <a:p>
            <a:pPr indent="0" lvl="0" marL="0" rtl="0" algn="l">
              <a:spcBef>
                <a:spcPts val="0"/>
              </a:spcBef>
              <a:spcAft>
                <a:spcPts val="0"/>
              </a:spcAft>
              <a:buNone/>
            </a:pPr>
            <a:r>
              <a:t/>
            </a:r>
            <a:endParaRPr sz="1100">
              <a:latin typeface="DM Sans Medium"/>
              <a:ea typeface="DM Sans Medium"/>
              <a:cs typeface="DM Sans Medium"/>
              <a:sym typeface="DM Sans Medium"/>
            </a:endParaRPr>
          </a:p>
          <a:p>
            <a:pPr indent="0" lvl="0" marL="0" rtl="0" algn="l">
              <a:spcBef>
                <a:spcPts val="0"/>
              </a:spcBef>
              <a:spcAft>
                <a:spcPts val="0"/>
              </a:spcAft>
              <a:buNone/>
            </a:pPr>
            <a:r>
              <a:rPr b="1" lang="en" sz="1100">
                <a:latin typeface="DM Sans"/>
                <a:ea typeface="DM Sans"/>
                <a:cs typeface="DM Sans"/>
                <a:sym typeface="DM Sans"/>
              </a:rPr>
              <a:t>F1-Score:</a:t>
            </a:r>
            <a:r>
              <a:rPr lang="en" sz="1100">
                <a:latin typeface="DM Sans Medium"/>
                <a:ea typeface="DM Sans Medium"/>
                <a:cs typeface="DM Sans Medium"/>
                <a:sym typeface="DM Sans Medium"/>
              </a:rPr>
              <a:t> The F1-score of 96% indicates a good balance between precision and recall for both classes.</a:t>
            </a:r>
            <a:endParaRPr sz="1100">
              <a:latin typeface="DM Sans Medium"/>
              <a:ea typeface="DM Sans Medium"/>
              <a:cs typeface="DM Sans Medium"/>
              <a:sym typeface="DM Sans Medium"/>
            </a:endParaRPr>
          </a:p>
          <a:p>
            <a:pPr indent="0" lvl="0" marL="0" rtl="0" algn="l">
              <a:spcBef>
                <a:spcPts val="0"/>
              </a:spcBef>
              <a:spcAft>
                <a:spcPts val="0"/>
              </a:spcAft>
              <a:buNone/>
            </a:pPr>
            <a:r>
              <a:t/>
            </a:r>
            <a:endParaRPr b="1" sz="1100"/>
          </a:p>
        </p:txBody>
      </p:sp>
      <p:pic>
        <p:nvPicPr>
          <p:cNvPr id="712" name="Google Shape;712;p55"/>
          <p:cNvPicPr preferRelativeResize="0"/>
          <p:nvPr/>
        </p:nvPicPr>
        <p:blipFill>
          <a:blip r:embed="rId3">
            <a:alphaModFix/>
          </a:blip>
          <a:stretch>
            <a:fillRect/>
          </a:stretch>
        </p:blipFill>
        <p:spPr>
          <a:xfrm>
            <a:off x="2557400" y="1122050"/>
            <a:ext cx="3860998" cy="16791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5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GB Performance Metrics</a:t>
            </a:r>
            <a:endParaRPr/>
          </a:p>
        </p:txBody>
      </p:sp>
      <p:sp>
        <p:nvSpPr>
          <p:cNvPr id="718" name="Google Shape;718;p56"/>
          <p:cNvSpPr txBox="1"/>
          <p:nvPr/>
        </p:nvSpPr>
        <p:spPr>
          <a:xfrm>
            <a:off x="152400" y="3308075"/>
            <a:ext cx="4000200" cy="1784700"/>
          </a:xfrm>
          <a:prstGeom prst="rect">
            <a:avLst/>
          </a:prstGeom>
          <a:noFill/>
          <a:ln>
            <a:noFill/>
          </a:ln>
        </p:spPr>
        <p:txBody>
          <a:bodyPr anchorCtr="0" anchor="t" bIns="91425" lIns="91425" spcFirstLastPara="1" rIns="91425" wrap="square" tIns="91425">
            <a:noAutofit/>
          </a:bodyPr>
          <a:lstStyle/>
          <a:p>
            <a:pPr indent="-285750" lvl="0" marL="457200" rtl="0" algn="l">
              <a:spcBef>
                <a:spcPts val="0"/>
              </a:spcBef>
              <a:spcAft>
                <a:spcPts val="0"/>
              </a:spcAft>
              <a:buSzPts val="900"/>
              <a:buFont typeface="DM Sans Medium"/>
              <a:buChar char="●"/>
            </a:pPr>
            <a:r>
              <a:rPr lang="en" sz="900">
                <a:latin typeface="DM Sans Medium"/>
                <a:ea typeface="DM Sans Medium"/>
                <a:cs typeface="DM Sans Medium"/>
                <a:sym typeface="DM Sans Medium"/>
              </a:rPr>
              <a:t>High Accuracy: The model correctly classifies the majority of passengers, as indicated by the high values on the diagonal of the confusion matrix.</a:t>
            </a:r>
            <a:endParaRPr sz="900">
              <a:latin typeface="DM Sans Medium"/>
              <a:ea typeface="DM Sans Medium"/>
              <a:cs typeface="DM Sans Medium"/>
              <a:sym typeface="DM Sans Medium"/>
            </a:endParaRPr>
          </a:p>
          <a:p>
            <a:pPr indent="0" lvl="0" marL="457200" rtl="0" algn="l">
              <a:spcBef>
                <a:spcPts val="0"/>
              </a:spcBef>
              <a:spcAft>
                <a:spcPts val="0"/>
              </a:spcAft>
              <a:buNone/>
            </a:pPr>
            <a:r>
              <a:t/>
            </a:r>
            <a:endParaRPr sz="900">
              <a:latin typeface="DM Sans Medium"/>
              <a:ea typeface="DM Sans Medium"/>
              <a:cs typeface="DM Sans Medium"/>
              <a:sym typeface="DM Sans Medium"/>
            </a:endParaRPr>
          </a:p>
          <a:p>
            <a:pPr indent="-285750" lvl="0" marL="457200" rtl="0" algn="l">
              <a:spcBef>
                <a:spcPts val="0"/>
              </a:spcBef>
              <a:spcAft>
                <a:spcPts val="0"/>
              </a:spcAft>
              <a:buSzPts val="900"/>
              <a:buFont typeface="DM Sans Medium"/>
              <a:buChar char="●"/>
            </a:pPr>
            <a:r>
              <a:rPr lang="en" sz="900">
                <a:latin typeface="DM Sans Medium"/>
                <a:ea typeface="DM Sans Medium"/>
                <a:cs typeface="DM Sans Medium"/>
                <a:sym typeface="DM Sans Medium"/>
              </a:rPr>
              <a:t>Balanced Performance: The model performs well on both classes, with similar numbers of true positives and true negatives.</a:t>
            </a:r>
            <a:endParaRPr sz="900">
              <a:latin typeface="DM Sans Medium"/>
              <a:ea typeface="DM Sans Medium"/>
              <a:cs typeface="DM Sans Medium"/>
              <a:sym typeface="DM Sans Medium"/>
            </a:endParaRPr>
          </a:p>
          <a:p>
            <a:pPr indent="0" lvl="0" marL="457200" rtl="0" algn="l">
              <a:spcBef>
                <a:spcPts val="0"/>
              </a:spcBef>
              <a:spcAft>
                <a:spcPts val="0"/>
              </a:spcAft>
              <a:buNone/>
            </a:pPr>
            <a:r>
              <a:t/>
            </a:r>
            <a:endParaRPr sz="900">
              <a:latin typeface="DM Sans Medium"/>
              <a:ea typeface="DM Sans Medium"/>
              <a:cs typeface="DM Sans Medium"/>
              <a:sym typeface="DM Sans Medium"/>
            </a:endParaRPr>
          </a:p>
          <a:p>
            <a:pPr indent="-285750" lvl="0" marL="457200" rtl="0" algn="l">
              <a:spcBef>
                <a:spcPts val="0"/>
              </a:spcBef>
              <a:spcAft>
                <a:spcPts val="0"/>
              </a:spcAft>
              <a:buSzPts val="900"/>
              <a:buFont typeface="DM Sans Medium"/>
              <a:buChar char="●"/>
            </a:pPr>
            <a:r>
              <a:rPr lang="en" sz="900">
                <a:latin typeface="DM Sans Medium"/>
                <a:ea typeface="DM Sans Medium"/>
                <a:cs typeface="DM Sans Medium"/>
                <a:sym typeface="DM Sans Medium"/>
              </a:rPr>
              <a:t>Low False Positives and False Negatives: The off-diagonal values, representing incorrect classifications, are relatively low, suggesting the model's accuracy in predicting both satisfied and dissatisfied passengers.</a:t>
            </a:r>
            <a:endParaRPr sz="900">
              <a:latin typeface="DM Sans Medium"/>
              <a:ea typeface="DM Sans Medium"/>
              <a:cs typeface="DM Sans Medium"/>
              <a:sym typeface="DM Sans Medium"/>
            </a:endParaRPr>
          </a:p>
          <a:p>
            <a:pPr indent="0" lvl="0" marL="0" rtl="0" algn="l">
              <a:spcBef>
                <a:spcPts val="0"/>
              </a:spcBef>
              <a:spcAft>
                <a:spcPts val="0"/>
              </a:spcAft>
              <a:buNone/>
            </a:pPr>
            <a:r>
              <a:t/>
            </a:r>
            <a:endParaRPr sz="900">
              <a:latin typeface="DM Sans Medium"/>
              <a:ea typeface="DM Sans Medium"/>
              <a:cs typeface="DM Sans Medium"/>
              <a:sym typeface="DM Sans Medium"/>
            </a:endParaRPr>
          </a:p>
        </p:txBody>
      </p:sp>
      <p:sp>
        <p:nvSpPr>
          <p:cNvPr id="719" name="Google Shape;719;p56"/>
          <p:cNvSpPr txBox="1"/>
          <p:nvPr/>
        </p:nvSpPr>
        <p:spPr>
          <a:xfrm>
            <a:off x="4857750" y="3411875"/>
            <a:ext cx="4049100" cy="1631700"/>
          </a:xfrm>
          <a:prstGeom prst="rect">
            <a:avLst/>
          </a:prstGeom>
          <a:noFill/>
          <a:ln>
            <a:noFill/>
          </a:ln>
        </p:spPr>
        <p:txBody>
          <a:bodyPr anchorCtr="0" anchor="t" bIns="91425" lIns="91425" spcFirstLastPara="1" rIns="91425" wrap="square" tIns="91425">
            <a:spAutoFit/>
          </a:bodyPr>
          <a:lstStyle/>
          <a:p>
            <a:pPr indent="-273050" lvl="0" marL="457200" rtl="0" algn="l">
              <a:spcBef>
                <a:spcPts val="0"/>
              </a:spcBef>
              <a:spcAft>
                <a:spcPts val="0"/>
              </a:spcAft>
              <a:buSzPts val="700"/>
              <a:buFont typeface="Outfit"/>
              <a:buChar char="●"/>
            </a:pPr>
            <a:r>
              <a:rPr lang="en" sz="900">
                <a:latin typeface="DM Sans Medium"/>
                <a:ea typeface="DM Sans Medium"/>
                <a:cs typeface="DM Sans Medium"/>
                <a:sym typeface="DM Sans Medium"/>
              </a:rPr>
              <a:t>High AUPRC: The large area under the precision-recall curve (AUPRC) indicates the model's ability to accurately identify positive instances (satisfied passengers) while minimizing false positives.</a:t>
            </a:r>
            <a:br>
              <a:rPr lang="en" sz="900">
                <a:latin typeface="DM Sans Medium"/>
                <a:ea typeface="DM Sans Medium"/>
                <a:cs typeface="DM Sans Medium"/>
                <a:sym typeface="DM Sans Medium"/>
              </a:rPr>
            </a:br>
            <a:endParaRPr sz="900">
              <a:latin typeface="DM Sans Medium"/>
              <a:ea typeface="DM Sans Medium"/>
              <a:cs typeface="DM Sans Medium"/>
              <a:sym typeface="DM Sans Medium"/>
            </a:endParaRPr>
          </a:p>
          <a:p>
            <a:pPr indent="-273050" lvl="0" marL="457200" rtl="0" algn="l">
              <a:spcBef>
                <a:spcPts val="0"/>
              </a:spcBef>
              <a:spcAft>
                <a:spcPts val="0"/>
              </a:spcAft>
              <a:buSzPts val="700"/>
              <a:buFont typeface="Outfit"/>
              <a:buChar char="●"/>
            </a:pPr>
            <a:r>
              <a:rPr lang="en" sz="900">
                <a:latin typeface="DM Sans Medium"/>
                <a:ea typeface="DM Sans Medium"/>
                <a:cs typeface="DM Sans Medium"/>
                <a:sym typeface="DM Sans Medium"/>
              </a:rPr>
              <a:t>Consistent Performance: The curve maintains a high precision level even as recall increases, suggesting the model's robustness in various threshold settings.</a:t>
            </a:r>
            <a:endParaRPr sz="900">
              <a:latin typeface="Outfit"/>
              <a:ea typeface="Outfit"/>
              <a:cs typeface="Outfit"/>
              <a:sym typeface="Outfit"/>
            </a:endParaRPr>
          </a:p>
          <a:p>
            <a:pPr indent="0" lvl="0" marL="0" rtl="0" algn="l">
              <a:spcBef>
                <a:spcPts val="0"/>
              </a:spcBef>
              <a:spcAft>
                <a:spcPts val="0"/>
              </a:spcAft>
              <a:buNone/>
            </a:pPr>
            <a:r>
              <a:t/>
            </a:r>
            <a:endParaRPr b="1" sz="1100"/>
          </a:p>
          <a:p>
            <a:pPr indent="0" lvl="0" marL="0" rtl="0" algn="l">
              <a:spcBef>
                <a:spcPts val="0"/>
              </a:spcBef>
              <a:spcAft>
                <a:spcPts val="0"/>
              </a:spcAft>
              <a:buNone/>
            </a:pPr>
            <a:r>
              <a:t/>
            </a:r>
            <a:endParaRPr b="1" sz="1100"/>
          </a:p>
        </p:txBody>
      </p:sp>
      <p:pic>
        <p:nvPicPr>
          <p:cNvPr id="720" name="Google Shape;720;p56"/>
          <p:cNvPicPr preferRelativeResize="0"/>
          <p:nvPr/>
        </p:nvPicPr>
        <p:blipFill>
          <a:blip r:embed="rId3">
            <a:alphaModFix/>
          </a:blip>
          <a:stretch>
            <a:fillRect/>
          </a:stretch>
        </p:blipFill>
        <p:spPr>
          <a:xfrm>
            <a:off x="935025" y="1130075"/>
            <a:ext cx="2298747" cy="1985550"/>
          </a:xfrm>
          <a:prstGeom prst="rect">
            <a:avLst/>
          </a:prstGeom>
          <a:noFill/>
          <a:ln>
            <a:noFill/>
          </a:ln>
        </p:spPr>
      </p:pic>
      <p:pic>
        <p:nvPicPr>
          <p:cNvPr id="721" name="Google Shape;721;p56"/>
          <p:cNvPicPr preferRelativeResize="0"/>
          <p:nvPr/>
        </p:nvPicPr>
        <p:blipFill>
          <a:blip r:embed="rId4">
            <a:alphaModFix/>
          </a:blip>
          <a:stretch>
            <a:fillRect/>
          </a:stretch>
        </p:blipFill>
        <p:spPr>
          <a:xfrm>
            <a:off x="5758908" y="1130075"/>
            <a:ext cx="2665094" cy="20893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5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300"/>
              <a:t>XGBoost(eXtreme Gradient Boosting)</a:t>
            </a:r>
            <a:endParaRPr sz="3300"/>
          </a:p>
        </p:txBody>
      </p:sp>
      <p:sp>
        <p:nvSpPr>
          <p:cNvPr id="727" name="Google Shape;727;p57"/>
          <p:cNvSpPr txBox="1"/>
          <p:nvPr/>
        </p:nvSpPr>
        <p:spPr>
          <a:xfrm>
            <a:off x="981900" y="4296500"/>
            <a:ext cx="7180200" cy="30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1000" u="sng">
              <a:solidFill>
                <a:schemeClr val="dk1"/>
              </a:solidFill>
              <a:latin typeface="DM Sans"/>
              <a:ea typeface="DM Sans"/>
              <a:cs typeface="DM Sans"/>
              <a:sym typeface="DM Sans"/>
            </a:endParaRPr>
          </a:p>
        </p:txBody>
      </p:sp>
      <p:sp>
        <p:nvSpPr>
          <p:cNvPr id="728" name="Google Shape;728;p57"/>
          <p:cNvSpPr txBox="1"/>
          <p:nvPr/>
        </p:nvSpPr>
        <p:spPr>
          <a:xfrm>
            <a:off x="1394175" y="2897500"/>
            <a:ext cx="6235500" cy="224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latin typeface="DM Sans"/>
                <a:ea typeface="DM Sans"/>
                <a:cs typeface="DM Sans"/>
                <a:sym typeface="DM Sans"/>
              </a:rPr>
              <a:t>Accuracy</a:t>
            </a:r>
            <a:r>
              <a:rPr lang="en" sz="1100">
                <a:latin typeface="DM Sans Medium"/>
                <a:ea typeface="DM Sans Medium"/>
                <a:cs typeface="DM Sans Medium"/>
                <a:sym typeface="DM Sans Medium"/>
              </a:rPr>
              <a:t>: 96% - The model correctly predicts the satisfaction level of 96% of the passengers. This is a very good accuracy rate.</a:t>
            </a:r>
            <a:endParaRPr sz="1100">
              <a:latin typeface="DM Sans Medium"/>
              <a:ea typeface="DM Sans Medium"/>
              <a:cs typeface="DM Sans Medium"/>
              <a:sym typeface="DM Sans Medium"/>
            </a:endParaRPr>
          </a:p>
          <a:p>
            <a:pPr indent="0" lvl="0" marL="0" rtl="0" algn="l">
              <a:spcBef>
                <a:spcPts val="0"/>
              </a:spcBef>
              <a:spcAft>
                <a:spcPts val="0"/>
              </a:spcAft>
              <a:buNone/>
            </a:pPr>
            <a:r>
              <a:t/>
            </a:r>
            <a:endParaRPr sz="1100">
              <a:latin typeface="DM Sans Medium"/>
              <a:ea typeface="DM Sans Medium"/>
              <a:cs typeface="DM Sans Medium"/>
              <a:sym typeface="DM Sans Medium"/>
            </a:endParaRPr>
          </a:p>
          <a:p>
            <a:pPr indent="0" lvl="0" marL="0" rtl="0" algn="l">
              <a:spcBef>
                <a:spcPts val="0"/>
              </a:spcBef>
              <a:spcAft>
                <a:spcPts val="0"/>
              </a:spcAft>
              <a:buNone/>
            </a:pPr>
            <a:r>
              <a:rPr b="1" lang="en" sz="1100">
                <a:latin typeface="DM Sans"/>
                <a:ea typeface="DM Sans"/>
                <a:cs typeface="DM Sans"/>
                <a:sym typeface="DM Sans"/>
              </a:rPr>
              <a:t>Precision</a:t>
            </a:r>
            <a:r>
              <a:rPr lang="en" sz="1100">
                <a:latin typeface="DM Sans Medium"/>
                <a:ea typeface="DM Sans Medium"/>
                <a:cs typeface="DM Sans Medium"/>
                <a:sym typeface="DM Sans Medium"/>
              </a:rPr>
              <a:t>: 96% - When the model predicts a passenger to be satisfied, it is correct 96% of the time. This indicates a high precision rate.</a:t>
            </a:r>
            <a:endParaRPr sz="1100">
              <a:latin typeface="DM Sans Medium"/>
              <a:ea typeface="DM Sans Medium"/>
              <a:cs typeface="DM Sans Medium"/>
              <a:sym typeface="DM Sans Medium"/>
            </a:endParaRPr>
          </a:p>
          <a:p>
            <a:pPr indent="0" lvl="0" marL="0" rtl="0" algn="l">
              <a:spcBef>
                <a:spcPts val="0"/>
              </a:spcBef>
              <a:spcAft>
                <a:spcPts val="0"/>
              </a:spcAft>
              <a:buNone/>
            </a:pPr>
            <a:r>
              <a:t/>
            </a:r>
            <a:endParaRPr sz="1100">
              <a:latin typeface="DM Sans Medium"/>
              <a:ea typeface="DM Sans Medium"/>
              <a:cs typeface="DM Sans Medium"/>
              <a:sym typeface="DM Sans Medium"/>
            </a:endParaRPr>
          </a:p>
          <a:p>
            <a:pPr indent="0" lvl="0" marL="0" rtl="0" algn="l">
              <a:spcBef>
                <a:spcPts val="0"/>
              </a:spcBef>
              <a:spcAft>
                <a:spcPts val="0"/>
              </a:spcAft>
              <a:buNone/>
            </a:pPr>
            <a:r>
              <a:rPr b="1" lang="en" sz="1100">
                <a:latin typeface="DM Sans"/>
                <a:ea typeface="DM Sans"/>
                <a:cs typeface="DM Sans"/>
                <a:sym typeface="DM Sans"/>
              </a:rPr>
              <a:t>Recall</a:t>
            </a:r>
            <a:r>
              <a:rPr lang="en" sz="1100">
                <a:latin typeface="DM Sans Medium"/>
                <a:ea typeface="DM Sans Medium"/>
                <a:cs typeface="DM Sans Medium"/>
                <a:sym typeface="DM Sans Medium"/>
              </a:rPr>
              <a:t>: 96% - The model correctly identifies 96% of the satisfied passengers. This indicates a high recall rate.</a:t>
            </a:r>
            <a:endParaRPr sz="1100">
              <a:latin typeface="DM Sans Medium"/>
              <a:ea typeface="DM Sans Medium"/>
              <a:cs typeface="DM Sans Medium"/>
              <a:sym typeface="DM Sans Medium"/>
            </a:endParaRPr>
          </a:p>
          <a:p>
            <a:pPr indent="0" lvl="0" marL="0" rtl="0" algn="l">
              <a:spcBef>
                <a:spcPts val="0"/>
              </a:spcBef>
              <a:spcAft>
                <a:spcPts val="0"/>
              </a:spcAft>
              <a:buNone/>
            </a:pPr>
            <a:r>
              <a:t/>
            </a:r>
            <a:endParaRPr sz="1100">
              <a:latin typeface="DM Sans Medium"/>
              <a:ea typeface="DM Sans Medium"/>
              <a:cs typeface="DM Sans Medium"/>
              <a:sym typeface="DM Sans Medium"/>
            </a:endParaRPr>
          </a:p>
          <a:p>
            <a:pPr indent="0" lvl="0" marL="0" rtl="0" algn="l">
              <a:spcBef>
                <a:spcPts val="0"/>
              </a:spcBef>
              <a:spcAft>
                <a:spcPts val="0"/>
              </a:spcAft>
              <a:buNone/>
            </a:pPr>
            <a:r>
              <a:rPr b="1" lang="en" sz="1100">
                <a:latin typeface="DM Sans"/>
                <a:ea typeface="DM Sans"/>
                <a:cs typeface="DM Sans"/>
                <a:sym typeface="DM Sans"/>
              </a:rPr>
              <a:t>F1-Score</a:t>
            </a:r>
            <a:r>
              <a:rPr lang="en" sz="1100">
                <a:latin typeface="DM Sans Medium"/>
                <a:ea typeface="DM Sans Medium"/>
                <a:cs typeface="DM Sans Medium"/>
                <a:sym typeface="DM Sans Medium"/>
              </a:rPr>
              <a:t>: 96% - The F1-score is the harmonic mean of precision and recall, providing a balanced measure of the model's performance. This high F1-score indicates that the model performs well in both precision and recall.</a:t>
            </a:r>
            <a:endParaRPr sz="1100">
              <a:latin typeface="DM Sans Medium"/>
              <a:ea typeface="DM Sans Medium"/>
              <a:cs typeface="DM Sans Medium"/>
              <a:sym typeface="DM Sans Medium"/>
            </a:endParaRPr>
          </a:p>
          <a:p>
            <a:pPr indent="0" lvl="0" marL="0" rtl="0" algn="l">
              <a:spcBef>
                <a:spcPts val="0"/>
              </a:spcBef>
              <a:spcAft>
                <a:spcPts val="0"/>
              </a:spcAft>
              <a:buNone/>
            </a:pPr>
            <a:r>
              <a:t/>
            </a:r>
            <a:endParaRPr b="1" sz="1100">
              <a:latin typeface="Outfit"/>
              <a:ea typeface="Outfit"/>
              <a:cs typeface="Outfit"/>
              <a:sym typeface="Outfit"/>
            </a:endParaRPr>
          </a:p>
        </p:txBody>
      </p:sp>
      <p:pic>
        <p:nvPicPr>
          <p:cNvPr id="729" name="Google Shape;729;p57"/>
          <p:cNvPicPr preferRelativeResize="0"/>
          <p:nvPr/>
        </p:nvPicPr>
        <p:blipFill>
          <a:blip r:embed="rId3">
            <a:alphaModFix/>
          </a:blip>
          <a:stretch>
            <a:fillRect/>
          </a:stretch>
        </p:blipFill>
        <p:spPr>
          <a:xfrm>
            <a:off x="2701325" y="1118975"/>
            <a:ext cx="3839850" cy="16417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5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XGB Performance Metrics</a:t>
            </a:r>
            <a:endParaRPr/>
          </a:p>
        </p:txBody>
      </p:sp>
      <p:sp>
        <p:nvSpPr>
          <p:cNvPr id="735" name="Google Shape;735;p58"/>
          <p:cNvSpPr txBox="1"/>
          <p:nvPr/>
        </p:nvSpPr>
        <p:spPr>
          <a:xfrm>
            <a:off x="98050" y="3308075"/>
            <a:ext cx="2836800" cy="1423500"/>
          </a:xfrm>
          <a:prstGeom prst="rect">
            <a:avLst/>
          </a:prstGeom>
          <a:noFill/>
          <a:ln>
            <a:noFill/>
          </a:ln>
        </p:spPr>
        <p:txBody>
          <a:bodyPr anchorCtr="0" anchor="t" bIns="91425" lIns="91425" spcFirstLastPara="1" rIns="91425" wrap="square" tIns="91425">
            <a:noAutofit/>
          </a:bodyPr>
          <a:lstStyle/>
          <a:p>
            <a:pPr indent="-285750" lvl="0" marL="457200" rtl="0" algn="l">
              <a:spcBef>
                <a:spcPts val="0"/>
              </a:spcBef>
              <a:spcAft>
                <a:spcPts val="0"/>
              </a:spcAft>
              <a:buClr>
                <a:schemeClr val="dk1"/>
              </a:buClr>
              <a:buSzPts val="900"/>
              <a:buChar char="●"/>
            </a:pPr>
            <a:r>
              <a:rPr lang="en" sz="900">
                <a:latin typeface="DM Sans Medium"/>
                <a:ea typeface="DM Sans Medium"/>
                <a:cs typeface="DM Sans Medium"/>
                <a:sym typeface="DM Sans Medium"/>
              </a:rPr>
              <a:t>High True Positives and True Negatives: The model correctly identifies a large number of both satisfied and dissatisfied passengers</a:t>
            </a:r>
            <a:endParaRPr sz="900">
              <a:latin typeface="DM Sans Medium"/>
              <a:ea typeface="DM Sans Medium"/>
              <a:cs typeface="DM Sans Medium"/>
              <a:sym typeface="DM Sans Medium"/>
            </a:endParaRPr>
          </a:p>
          <a:p>
            <a:pPr indent="-285750" lvl="0" marL="457200" rtl="0" algn="l">
              <a:spcBef>
                <a:spcPts val="0"/>
              </a:spcBef>
              <a:spcAft>
                <a:spcPts val="0"/>
              </a:spcAft>
              <a:buClr>
                <a:schemeClr val="dk1"/>
              </a:buClr>
              <a:buSzPts val="900"/>
              <a:buChar char="●"/>
            </a:pPr>
            <a:r>
              <a:rPr lang="en" sz="900">
                <a:latin typeface="DM Sans Medium"/>
                <a:ea typeface="DM Sans Medium"/>
                <a:cs typeface="DM Sans Medium"/>
                <a:sym typeface="DM Sans Medium"/>
              </a:rPr>
              <a:t>Low Misclassifications: The model minimizes errors in classifying passengers.</a:t>
            </a:r>
            <a:endParaRPr sz="900">
              <a:latin typeface="DM Sans Medium"/>
              <a:ea typeface="DM Sans Medium"/>
              <a:cs typeface="DM Sans Medium"/>
              <a:sym typeface="DM Sans Medium"/>
            </a:endParaRPr>
          </a:p>
          <a:p>
            <a:pPr indent="-285750" lvl="0" marL="457200" rtl="0" algn="l">
              <a:spcBef>
                <a:spcPts val="0"/>
              </a:spcBef>
              <a:spcAft>
                <a:spcPts val="0"/>
              </a:spcAft>
              <a:buClr>
                <a:schemeClr val="dk1"/>
              </a:buClr>
              <a:buSzPts val="900"/>
              <a:buChar char="●"/>
            </a:pPr>
            <a:r>
              <a:rPr lang="en" sz="900">
                <a:latin typeface="DM Sans Medium"/>
                <a:ea typeface="DM Sans Medium"/>
                <a:cs typeface="DM Sans Medium"/>
                <a:sym typeface="DM Sans Medium"/>
              </a:rPr>
              <a:t>Balanced Performance: The model performs equally well on both classes of passengers.</a:t>
            </a:r>
            <a:endParaRPr sz="900">
              <a:solidFill>
                <a:schemeClr val="dk1"/>
              </a:solidFill>
              <a:latin typeface="DM Sans Medium"/>
              <a:ea typeface="DM Sans Medium"/>
              <a:cs typeface="DM Sans Medium"/>
              <a:sym typeface="DM Sans Medium"/>
            </a:endParaRPr>
          </a:p>
        </p:txBody>
      </p:sp>
      <p:sp>
        <p:nvSpPr>
          <p:cNvPr id="736" name="Google Shape;736;p58"/>
          <p:cNvSpPr txBox="1"/>
          <p:nvPr/>
        </p:nvSpPr>
        <p:spPr>
          <a:xfrm>
            <a:off x="3072024" y="3372450"/>
            <a:ext cx="2836800" cy="1746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900">
                <a:latin typeface="Outfit"/>
                <a:ea typeface="Outfit"/>
                <a:cs typeface="Outfit"/>
                <a:sym typeface="Outfit"/>
              </a:rPr>
              <a:t>The model exhibits a high performance on the training set but struggles to generalize to unseen data, as evidenced by the significant gap between the training and cross-validation scores. </a:t>
            </a:r>
            <a:endParaRPr sz="900">
              <a:latin typeface="Outfit"/>
              <a:ea typeface="Outfit"/>
              <a:cs typeface="Outfit"/>
              <a:sym typeface="Outfit"/>
            </a:endParaRPr>
          </a:p>
          <a:p>
            <a:pPr indent="0" lvl="0" marL="0" rtl="0" algn="l">
              <a:lnSpc>
                <a:spcPct val="115000"/>
              </a:lnSpc>
              <a:spcBef>
                <a:spcPts val="1200"/>
              </a:spcBef>
              <a:spcAft>
                <a:spcPts val="0"/>
              </a:spcAft>
              <a:buNone/>
            </a:pPr>
            <a:r>
              <a:rPr lang="en" sz="900">
                <a:latin typeface="Outfit"/>
                <a:ea typeface="Outfit"/>
                <a:cs typeface="Outfit"/>
                <a:sym typeface="Outfit"/>
              </a:rPr>
              <a:t>This suggests potential overfitting and a need for further regularization or model complexity reduction.</a:t>
            </a:r>
            <a:endParaRPr sz="900">
              <a:latin typeface="Outfit"/>
              <a:ea typeface="Outfit"/>
              <a:cs typeface="Outfit"/>
              <a:sym typeface="Outfit"/>
            </a:endParaRPr>
          </a:p>
          <a:p>
            <a:pPr indent="0" lvl="0" marL="0" rtl="0" algn="l">
              <a:spcBef>
                <a:spcPts val="1200"/>
              </a:spcBef>
              <a:spcAft>
                <a:spcPts val="0"/>
              </a:spcAft>
              <a:buNone/>
            </a:pPr>
            <a:r>
              <a:t/>
            </a:r>
            <a:endParaRPr sz="900">
              <a:latin typeface="Outfit"/>
              <a:ea typeface="Outfit"/>
              <a:cs typeface="Outfit"/>
              <a:sym typeface="Outfit"/>
            </a:endParaRPr>
          </a:p>
        </p:txBody>
      </p:sp>
      <p:sp>
        <p:nvSpPr>
          <p:cNvPr id="737" name="Google Shape;737;p58"/>
          <p:cNvSpPr txBox="1"/>
          <p:nvPr/>
        </p:nvSpPr>
        <p:spPr>
          <a:xfrm>
            <a:off x="5906575" y="3411875"/>
            <a:ext cx="3000000" cy="1493100"/>
          </a:xfrm>
          <a:prstGeom prst="rect">
            <a:avLst/>
          </a:prstGeom>
          <a:noFill/>
          <a:ln>
            <a:noFill/>
          </a:ln>
        </p:spPr>
        <p:txBody>
          <a:bodyPr anchorCtr="0" anchor="t" bIns="91425" lIns="91425" spcFirstLastPara="1" rIns="91425" wrap="square" tIns="91425">
            <a:spAutoFit/>
          </a:bodyPr>
          <a:lstStyle/>
          <a:p>
            <a:pPr indent="-285750" lvl="0" marL="457200" rtl="0" algn="l">
              <a:spcBef>
                <a:spcPts val="0"/>
              </a:spcBef>
              <a:spcAft>
                <a:spcPts val="0"/>
              </a:spcAft>
              <a:buSzPts val="900"/>
              <a:buFont typeface="Outfit"/>
              <a:buChar char="●"/>
            </a:pPr>
            <a:r>
              <a:rPr lang="en" sz="900">
                <a:latin typeface="Outfit"/>
                <a:ea typeface="Outfit"/>
                <a:cs typeface="Outfit"/>
                <a:sym typeface="Outfit"/>
              </a:rPr>
              <a:t>Good Balance: The model balances precision and recall effectively.</a:t>
            </a:r>
            <a:endParaRPr sz="900">
              <a:latin typeface="Outfit"/>
              <a:ea typeface="Outfit"/>
              <a:cs typeface="Outfit"/>
              <a:sym typeface="Outfit"/>
            </a:endParaRPr>
          </a:p>
          <a:p>
            <a:pPr indent="-285750" lvl="0" marL="457200" rtl="0" algn="l">
              <a:spcBef>
                <a:spcPts val="0"/>
              </a:spcBef>
              <a:spcAft>
                <a:spcPts val="0"/>
              </a:spcAft>
              <a:buSzPts val="900"/>
              <a:buFont typeface="Outfit"/>
              <a:buChar char="●"/>
            </a:pPr>
            <a:r>
              <a:rPr lang="en" sz="900">
                <a:latin typeface="Outfit"/>
                <a:ea typeface="Outfit"/>
                <a:cs typeface="Outfit"/>
                <a:sym typeface="Outfit"/>
              </a:rPr>
              <a:t>Large Area: </a:t>
            </a:r>
            <a:r>
              <a:rPr lang="en" sz="900">
                <a:latin typeface="Outfit"/>
                <a:ea typeface="Outfit"/>
                <a:cs typeface="Outfit"/>
                <a:sym typeface="Outfit"/>
              </a:rPr>
              <a:t>The model’s strong performance is confirmed by the large area under the curve especially valuable when dealing with imbalanced datasets where precision is crucial.</a:t>
            </a:r>
            <a:endParaRPr sz="900">
              <a:latin typeface="Outfit"/>
              <a:ea typeface="Outfit"/>
              <a:cs typeface="Outfit"/>
              <a:sym typeface="Outfit"/>
            </a:endParaRPr>
          </a:p>
          <a:p>
            <a:pPr indent="0" lvl="0" marL="0" rtl="0" algn="l">
              <a:spcBef>
                <a:spcPts val="0"/>
              </a:spcBef>
              <a:spcAft>
                <a:spcPts val="0"/>
              </a:spcAft>
              <a:buNone/>
            </a:pPr>
            <a:r>
              <a:t/>
            </a:r>
            <a:endParaRPr b="1" sz="1100"/>
          </a:p>
          <a:p>
            <a:pPr indent="0" lvl="0" marL="0" rtl="0" algn="l">
              <a:spcBef>
                <a:spcPts val="0"/>
              </a:spcBef>
              <a:spcAft>
                <a:spcPts val="0"/>
              </a:spcAft>
              <a:buNone/>
            </a:pPr>
            <a:r>
              <a:t/>
            </a:r>
            <a:endParaRPr b="1" sz="1100"/>
          </a:p>
        </p:txBody>
      </p:sp>
      <p:pic>
        <p:nvPicPr>
          <p:cNvPr id="738" name="Google Shape;738;p58"/>
          <p:cNvPicPr preferRelativeResize="0"/>
          <p:nvPr/>
        </p:nvPicPr>
        <p:blipFill>
          <a:blip r:embed="rId3">
            <a:alphaModFix/>
          </a:blip>
          <a:stretch>
            <a:fillRect/>
          </a:stretch>
        </p:blipFill>
        <p:spPr>
          <a:xfrm>
            <a:off x="152400" y="1170125"/>
            <a:ext cx="2393655" cy="2089350"/>
          </a:xfrm>
          <a:prstGeom prst="rect">
            <a:avLst/>
          </a:prstGeom>
          <a:noFill/>
          <a:ln>
            <a:noFill/>
          </a:ln>
        </p:spPr>
      </p:pic>
      <p:pic>
        <p:nvPicPr>
          <p:cNvPr id="739" name="Google Shape;739;p58"/>
          <p:cNvPicPr preferRelativeResize="0"/>
          <p:nvPr/>
        </p:nvPicPr>
        <p:blipFill>
          <a:blip r:embed="rId4">
            <a:alphaModFix/>
          </a:blip>
          <a:stretch>
            <a:fillRect/>
          </a:stretch>
        </p:blipFill>
        <p:spPr>
          <a:xfrm>
            <a:off x="6224412" y="1170125"/>
            <a:ext cx="2668421" cy="2089350"/>
          </a:xfrm>
          <a:prstGeom prst="rect">
            <a:avLst/>
          </a:prstGeom>
          <a:noFill/>
          <a:ln>
            <a:noFill/>
          </a:ln>
        </p:spPr>
      </p:pic>
      <p:pic>
        <p:nvPicPr>
          <p:cNvPr id="740" name="Google Shape;740;p58"/>
          <p:cNvPicPr preferRelativeResize="0"/>
          <p:nvPr/>
        </p:nvPicPr>
        <p:blipFill>
          <a:blip r:embed="rId5">
            <a:alphaModFix/>
          </a:blip>
          <a:stretch>
            <a:fillRect/>
          </a:stretch>
        </p:blipFill>
        <p:spPr>
          <a:xfrm>
            <a:off x="2698455" y="1170125"/>
            <a:ext cx="3266504" cy="204992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5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900"/>
              <a:t>Feature Importance and Model Comparison</a:t>
            </a:r>
            <a:endParaRPr sz="2900"/>
          </a:p>
        </p:txBody>
      </p:sp>
      <p:pic>
        <p:nvPicPr>
          <p:cNvPr id="746" name="Google Shape;746;p59"/>
          <p:cNvPicPr preferRelativeResize="0"/>
          <p:nvPr/>
        </p:nvPicPr>
        <p:blipFill>
          <a:blip r:embed="rId3">
            <a:alphaModFix/>
          </a:blip>
          <a:stretch>
            <a:fillRect/>
          </a:stretch>
        </p:blipFill>
        <p:spPr>
          <a:xfrm>
            <a:off x="4398600" y="1258275"/>
            <a:ext cx="4351076" cy="2408426"/>
          </a:xfrm>
          <a:prstGeom prst="rect">
            <a:avLst/>
          </a:prstGeom>
          <a:noFill/>
          <a:ln>
            <a:noFill/>
          </a:ln>
        </p:spPr>
      </p:pic>
      <p:sp>
        <p:nvSpPr>
          <p:cNvPr id="747" name="Google Shape;747;p59"/>
          <p:cNvSpPr txBox="1"/>
          <p:nvPr/>
        </p:nvSpPr>
        <p:spPr>
          <a:xfrm>
            <a:off x="275075" y="1086900"/>
            <a:ext cx="3965700" cy="34371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b="1" lang="en" sz="900">
                <a:solidFill>
                  <a:srgbClr val="569CD6"/>
                </a:solidFill>
                <a:latin typeface="DM Sans"/>
                <a:ea typeface="DM Sans"/>
                <a:cs typeface="DM Sans"/>
                <a:sym typeface="DM Sans"/>
              </a:rPr>
              <a:t>Model Comparison:</a:t>
            </a:r>
            <a:endParaRPr b="1" sz="900">
              <a:solidFill>
                <a:srgbClr val="569CD6"/>
              </a:solidFill>
              <a:latin typeface="DM Sans"/>
              <a:ea typeface="DM Sans"/>
              <a:cs typeface="DM Sans"/>
              <a:sym typeface="DM Sans"/>
            </a:endParaRPr>
          </a:p>
          <a:p>
            <a:pPr indent="0" lvl="0" marL="0" rtl="0" algn="l">
              <a:lnSpc>
                <a:spcPct val="135714"/>
              </a:lnSpc>
              <a:spcBef>
                <a:spcPts val="0"/>
              </a:spcBef>
              <a:spcAft>
                <a:spcPts val="0"/>
              </a:spcAft>
              <a:buNone/>
            </a:pPr>
            <a:r>
              <a:t/>
            </a:r>
            <a:endParaRPr b="1" sz="900">
              <a:solidFill>
                <a:srgbClr val="CCCCCC"/>
              </a:solidFill>
              <a:latin typeface="DM Sans"/>
              <a:ea typeface="DM Sans"/>
              <a:cs typeface="DM Sans"/>
              <a:sym typeface="DM Sans"/>
            </a:endParaRPr>
          </a:p>
          <a:p>
            <a:pPr indent="0" lvl="0" marL="0" rtl="0" algn="l">
              <a:lnSpc>
                <a:spcPct val="135714"/>
              </a:lnSpc>
              <a:spcBef>
                <a:spcPts val="0"/>
              </a:spcBef>
              <a:spcAft>
                <a:spcPts val="0"/>
              </a:spcAft>
              <a:buNone/>
            </a:pPr>
            <a:r>
              <a:rPr b="1" lang="en" sz="900">
                <a:solidFill>
                  <a:srgbClr val="569CD6"/>
                </a:solidFill>
                <a:latin typeface="DM Sans"/>
                <a:ea typeface="DM Sans"/>
                <a:cs typeface="DM Sans"/>
                <a:sym typeface="DM Sans"/>
              </a:rPr>
              <a:t>XGBoost:</a:t>
            </a:r>
            <a:endParaRPr b="1" sz="900">
              <a:solidFill>
                <a:srgbClr val="569CD6"/>
              </a:solidFill>
              <a:latin typeface="DM Sans"/>
              <a:ea typeface="DM Sans"/>
              <a:cs typeface="DM Sans"/>
              <a:sym typeface="DM Sans"/>
            </a:endParaRPr>
          </a:p>
          <a:p>
            <a:pPr indent="0" lvl="0" marL="0" rtl="0" algn="l">
              <a:lnSpc>
                <a:spcPct val="135714"/>
              </a:lnSpc>
              <a:spcBef>
                <a:spcPts val="0"/>
              </a:spcBef>
              <a:spcAft>
                <a:spcPts val="0"/>
              </a:spcAft>
              <a:buNone/>
            </a:pPr>
            <a:r>
              <a:rPr lang="en" sz="900">
                <a:solidFill>
                  <a:srgbClr val="CCCCCC"/>
                </a:solidFill>
                <a:latin typeface="DM Sans Medium"/>
                <a:ea typeface="DM Sans Medium"/>
                <a:cs typeface="DM Sans Medium"/>
                <a:sym typeface="DM Sans Medium"/>
              </a:rPr>
              <a:t>  </a:t>
            </a:r>
            <a:r>
              <a:rPr lang="en" sz="900">
                <a:solidFill>
                  <a:srgbClr val="351C75"/>
                </a:solidFill>
                <a:latin typeface="DM Sans Medium"/>
                <a:ea typeface="DM Sans Medium"/>
                <a:cs typeface="DM Sans Medium"/>
                <a:sym typeface="DM Sans Medium"/>
              </a:rPr>
              <a:t>  - Slightly higher AUPRC score, suggesting a potential edge in overall performance.</a:t>
            </a:r>
            <a:endParaRPr sz="900">
              <a:solidFill>
                <a:srgbClr val="351C75"/>
              </a:solidFill>
              <a:latin typeface="DM Sans Medium"/>
              <a:ea typeface="DM Sans Medium"/>
              <a:cs typeface="DM Sans Medium"/>
              <a:sym typeface="DM Sans Medium"/>
            </a:endParaRPr>
          </a:p>
          <a:p>
            <a:pPr indent="0" lvl="0" marL="0" rtl="0" algn="l">
              <a:lnSpc>
                <a:spcPct val="135714"/>
              </a:lnSpc>
              <a:spcBef>
                <a:spcPts val="0"/>
              </a:spcBef>
              <a:spcAft>
                <a:spcPts val="0"/>
              </a:spcAft>
              <a:buNone/>
            </a:pPr>
            <a:r>
              <a:rPr lang="en" sz="900">
                <a:solidFill>
                  <a:srgbClr val="351C75"/>
                </a:solidFill>
                <a:latin typeface="DM Sans Medium"/>
                <a:ea typeface="DM Sans Medium"/>
                <a:cs typeface="DM Sans Medium"/>
                <a:sym typeface="DM Sans Medium"/>
              </a:rPr>
              <a:t>    - Fewer `n_estimators` (100 vs. 200 for Gradient Boosting), potentially leading to faster predictions.</a:t>
            </a:r>
            <a:endParaRPr sz="900">
              <a:solidFill>
                <a:srgbClr val="351C75"/>
              </a:solidFill>
              <a:latin typeface="DM Sans Medium"/>
              <a:ea typeface="DM Sans Medium"/>
              <a:cs typeface="DM Sans Medium"/>
              <a:sym typeface="DM Sans Medium"/>
            </a:endParaRPr>
          </a:p>
          <a:p>
            <a:pPr indent="0" lvl="0" marL="0" rtl="0" algn="l">
              <a:lnSpc>
                <a:spcPct val="135714"/>
              </a:lnSpc>
              <a:spcBef>
                <a:spcPts val="0"/>
              </a:spcBef>
              <a:spcAft>
                <a:spcPts val="0"/>
              </a:spcAft>
              <a:buNone/>
            </a:pPr>
            <a:r>
              <a:rPr lang="en" sz="900">
                <a:solidFill>
                  <a:srgbClr val="351C75"/>
                </a:solidFill>
                <a:latin typeface="DM Sans Medium"/>
                <a:ea typeface="DM Sans Medium"/>
                <a:cs typeface="DM Sans Medium"/>
                <a:sym typeface="DM Sans Medium"/>
              </a:rPr>
              <a:t>    - Conservative approach with `subsample` and `colsample_bytree` parameters, potentially mitigating overfitting.</a:t>
            </a:r>
            <a:endParaRPr sz="900">
              <a:solidFill>
                <a:srgbClr val="351C75"/>
              </a:solidFill>
              <a:latin typeface="DM Sans Medium"/>
              <a:ea typeface="DM Sans Medium"/>
              <a:cs typeface="DM Sans Medium"/>
              <a:sym typeface="DM Sans Medium"/>
            </a:endParaRPr>
          </a:p>
          <a:p>
            <a:pPr indent="0" lvl="0" marL="0" rtl="0" algn="l">
              <a:lnSpc>
                <a:spcPct val="135714"/>
              </a:lnSpc>
              <a:spcBef>
                <a:spcPts val="0"/>
              </a:spcBef>
              <a:spcAft>
                <a:spcPts val="0"/>
              </a:spcAft>
              <a:buNone/>
            </a:pPr>
            <a:r>
              <a:rPr lang="en" sz="900">
                <a:solidFill>
                  <a:srgbClr val="351C75"/>
                </a:solidFill>
                <a:latin typeface="DM Sans Medium"/>
                <a:ea typeface="DM Sans Medium"/>
                <a:cs typeface="DM Sans Medium"/>
                <a:sym typeface="DM Sans Medium"/>
              </a:rPr>
              <a:t>    - The learning curve shows a slight gap between the training and cross-validation scores, indicating some overfitting, but it's not significant.</a:t>
            </a:r>
            <a:endParaRPr sz="900">
              <a:solidFill>
                <a:srgbClr val="351C75"/>
              </a:solidFill>
              <a:latin typeface="DM Sans Medium"/>
              <a:ea typeface="DM Sans Medium"/>
              <a:cs typeface="DM Sans Medium"/>
              <a:sym typeface="DM Sans Medium"/>
            </a:endParaRPr>
          </a:p>
          <a:p>
            <a:pPr indent="0" lvl="0" marL="0" rtl="0" algn="l">
              <a:lnSpc>
                <a:spcPct val="135714"/>
              </a:lnSpc>
              <a:spcBef>
                <a:spcPts val="0"/>
              </a:spcBef>
              <a:spcAft>
                <a:spcPts val="0"/>
              </a:spcAft>
              <a:buNone/>
            </a:pPr>
            <a:r>
              <a:t/>
            </a:r>
            <a:endParaRPr sz="900">
              <a:solidFill>
                <a:srgbClr val="CCCCCC"/>
              </a:solidFill>
              <a:latin typeface="DM Sans Medium"/>
              <a:ea typeface="DM Sans Medium"/>
              <a:cs typeface="DM Sans Medium"/>
              <a:sym typeface="DM Sans Medium"/>
            </a:endParaRPr>
          </a:p>
          <a:p>
            <a:pPr indent="0" lvl="0" marL="0" rtl="0" algn="l">
              <a:lnSpc>
                <a:spcPct val="135714"/>
              </a:lnSpc>
              <a:spcBef>
                <a:spcPts val="0"/>
              </a:spcBef>
              <a:spcAft>
                <a:spcPts val="0"/>
              </a:spcAft>
              <a:buNone/>
            </a:pPr>
            <a:r>
              <a:rPr b="1" lang="en" sz="900">
                <a:solidFill>
                  <a:srgbClr val="569CD6"/>
                </a:solidFill>
                <a:latin typeface="DM Sans"/>
                <a:ea typeface="DM Sans"/>
                <a:cs typeface="DM Sans"/>
                <a:sym typeface="DM Sans"/>
              </a:rPr>
              <a:t>Gradient Boosting:</a:t>
            </a:r>
            <a:endParaRPr b="1" sz="900">
              <a:solidFill>
                <a:srgbClr val="569CD6"/>
              </a:solidFill>
              <a:latin typeface="DM Sans"/>
              <a:ea typeface="DM Sans"/>
              <a:cs typeface="DM Sans"/>
              <a:sym typeface="DM Sans"/>
            </a:endParaRPr>
          </a:p>
          <a:p>
            <a:pPr indent="0" lvl="0" marL="0" rtl="0" algn="l">
              <a:lnSpc>
                <a:spcPct val="135714"/>
              </a:lnSpc>
              <a:spcBef>
                <a:spcPts val="0"/>
              </a:spcBef>
              <a:spcAft>
                <a:spcPts val="0"/>
              </a:spcAft>
              <a:buNone/>
            </a:pPr>
            <a:r>
              <a:rPr lang="en" sz="900">
                <a:solidFill>
                  <a:srgbClr val="CCCCCC"/>
                </a:solidFill>
                <a:latin typeface="DM Sans Medium"/>
                <a:ea typeface="DM Sans Medium"/>
                <a:cs typeface="DM Sans Medium"/>
                <a:sym typeface="DM Sans Medium"/>
              </a:rPr>
              <a:t>   </a:t>
            </a:r>
            <a:r>
              <a:rPr lang="en" sz="900">
                <a:solidFill>
                  <a:srgbClr val="351C75"/>
                </a:solidFill>
                <a:latin typeface="DM Sans Medium"/>
                <a:ea typeface="DM Sans Medium"/>
                <a:cs typeface="DM Sans Medium"/>
                <a:sym typeface="DM Sans Medium"/>
              </a:rPr>
              <a:t> - Strong performance comparable to XGBoost.</a:t>
            </a:r>
            <a:endParaRPr sz="900">
              <a:solidFill>
                <a:srgbClr val="351C75"/>
              </a:solidFill>
              <a:latin typeface="DM Sans Medium"/>
              <a:ea typeface="DM Sans Medium"/>
              <a:cs typeface="DM Sans Medium"/>
              <a:sym typeface="DM Sans Medium"/>
            </a:endParaRPr>
          </a:p>
          <a:p>
            <a:pPr indent="0" lvl="0" marL="0" rtl="0" algn="l">
              <a:lnSpc>
                <a:spcPct val="135714"/>
              </a:lnSpc>
              <a:spcBef>
                <a:spcPts val="0"/>
              </a:spcBef>
              <a:spcAft>
                <a:spcPts val="0"/>
              </a:spcAft>
              <a:buNone/>
            </a:pPr>
            <a:r>
              <a:rPr lang="en" sz="900">
                <a:solidFill>
                  <a:srgbClr val="351C75"/>
                </a:solidFill>
                <a:latin typeface="DM Sans Medium"/>
                <a:ea typeface="DM Sans Medium"/>
                <a:cs typeface="DM Sans Medium"/>
                <a:sym typeface="DM Sans Medium"/>
              </a:rPr>
              <a:t>    - More `n_estimators`, potentially leading to higher accuracy but potentially slower predictions.</a:t>
            </a:r>
            <a:endParaRPr sz="900">
              <a:solidFill>
                <a:srgbClr val="351C75"/>
              </a:solidFill>
              <a:latin typeface="DM Sans Medium"/>
              <a:ea typeface="DM Sans Medium"/>
              <a:cs typeface="DM Sans Medium"/>
              <a:sym typeface="DM Sans Medium"/>
            </a:endParaRPr>
          </a:p>
          <a:p>
            <a:pPr indent="0" lvl="0" marL="0" rtl="0" algn="l">
              <a:spcBef>
                <a:spcPts val="0"/>
              </a:spcBef>
              <a:spcAft>
                <a:spcPts val="0"/>
              </a:spcAft>
              <a:buNone/>
            </a:pPr>
            <a:r>
              <a:t/>
            </a:r>
            <a:endParaRPr sz="900">
              <a:solidFill>
                <a:schemeClr val="dk1"/>
              </a:solidFill>
              <a:latin typeface="DM Sans Medium"/>
              <a:ea typeface="DM Sans Medium"/>
              <a:cs typeface="DM Sans Medium"/>
              <a:sym typeface="DM Sans Medium"/>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6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a:t>Random Forest</a:t>
            </a:r>
            <a:endParaRPr/>
          </a:p>
        </p:txBody>
      </p:sp>
      <p:sp>
        <p:nvSpPr>
          <p:cNvPr id="753" name="Google Shape;753;p60"/>
          <p:cNvSpPr txBox="1"/>
          <p:nvPr/>
        </p:nvSpPr>
        <p:spPr>
          <a:xfrm>
            <a:off x="3072000" y="1215750"/>
            <a:ext cx="3000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100"/>
              <a:buFont typeface="Arial"/>
              <a:buNone/>
            </a:pPr>
            <a:r>
              <a:rPr b="1" lang="en" sz="1100">
                <a:latin typeface="Outfit"/>
                <a:ea typeface="Outfit"/>
                <a:cs typeface="Outfit"/>
                <a:sym typeface="Outfit"/>
              </a:rPr>
              <a:t>Model </a:t>
            </a:r>
            <a:r>
              <a:rPr b="1" i="0" lang="en" sz="1100" u="none" cap="none" strike="noStrike">
                <a:solidFill>
                  <a:srgbClr val="000000"/>
                </a:solidFill>
                <a:latin typeface="Outfit"/>
                <a:ea typeface="Outfit"/>
                <a:cs typeface="Outfit"/>
                <a:sym typeface="Outfit"/>
              </a:rPr>
              <a:t>Fine-Tuned (with Grid Search CV)</a:t>
            </a:r>
            <a:endParaRPr b="1" i="0" sz="1400" u="none" cap="none" strike="noStrike">
              <a:solidFill>
                <a:schemeClr val="dk1"/>
              </a:solidFill>
              <a:latin typeface="Outfit"/>
              <a:ea typeface="Outfit"/>
              <a:cs typeface="Outfit"/>
              <a:sym typeface="Outfit"/>
            </a:endParaRPr>
          </a:p>
        </p:txBody>
      </p:sp>
      <p:sp>
        <p:nvSpPr>
          <p:cNvPr id="754" name="Google Shape;754;p60"/>
          <p:cNvSpPr txBox="1"/>
          <p:nvPr/>
        </p:nvSpPr>
        <p:spPr>
          <a:xfrm>
            <a:off x="896575" y="3240700"/>
            <a:ext cx="3639300" cy="138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100"/>
              <a:t>Model Summary</a:t>
            </a:r>
            <a:endParaRPr b="1" sz="1100"/>
          </a:p>
          <a:p>
            <a:pPr indent="-311150" lvl="0" marL="457200" rtl="0" algn="l">
              <a:spcBef>
                <a:spcPts val="400"/>
              </a:spcBef>
              <a:spcAft>
                <a:spcPts val="0"/>
              </a:spcAft>
              <a:buSzPts val="1300"/>
              <a:buChar char="●"/>
            </a:pPr>
            <a:r>
              <a:rPr lang="en" sz="1100">
                <a:latin typeface="Outfit"/>
                <a:ea typeface="Outfit"/>
                <a:cs typeface="Outfit"/>
                <a:sym typeface="Outfit"/>
              </a:rPr>
              <a:t>GridSearchCV is used for hyperparameter tuning</a:t>
            </a:r>
            <a:endParaRPr b="1" sz="1300"/>
          </a:p>
          <a:p>
            <a:pPr indent="-298450" lvl="0" marL="457200" rtl="0" algn="l">
              <a:lnSpc>
                <a:spcPct val="115000"/>
              </a:lnSpc>
              <a:spcBef>
                <a:spcPts val="0"/>
              </a:spcBef>
              <a:spcAft>
                <a:spcPts val="0"/>
              </a:spcAft>
              <a:buSzPts val="1100"/>
              <a:buChar char="●"/>
            </a:pPr>
            <a:r>
              <a:rPr b="1" lang="en" sz="1100"/>
              <a:t>Best Parameters:</a:t>
            </a:r>
            <a:endParaRPr sz="1100">
              <a:solidFill>
                <a:srgbClr val="188038"/>
              </a:solidFill>
              <a:latin typeface="Roboto Mono"/>
              <a:ea typeface="Roboto Mono"/>
              <a:cs typeface="Roboto Mono"/>
              <a:sym typeface="Roboto Mono"/>
            </a:endParaRPr>
          </a:p>
          <a:p>
            <a:pPr indent="-298450" lvl="1" marL="914400" rtl="0" algn="l">
              <a:lnSpc>
                <a:spcPct val="115000"/>
              </a:lnSpc>
              <a:spcBef>
                <a:spcPts val="0"/>
              </a:spcBef>
              <a:spcAft>
                <a:spcPts val="0"/>
              </a:spcAft>
              <a:buSzPts val="1100"/>
              <a:buChar char="○"/>
            </a:pPr>
            <a:r>
              <a:rPr lang="en" sz="1100">
                <a:solidFill>
                  <a:srgbClr val="188038"/>
                </a:solidFill>
                <a:latin typeface="Roboto Mono"/>
                <a:ea typeface="Roboto Mono"/>
                <a:cs typeface="Roboto Mono"/>
                <a:sym typeface="Roboto Mono"/>
              </a:rPr>
              <a:t>min_samples_split</a:t>
            </a:r>
            <a:r>
              <a:rPr lang="en" sz="1100"/>
              <a:t>: 5</a:t>
            </a:r>
            <a:endParaRPr sz="1100"/>
          </a:p>
          <a:p>
            <a:pPr indent="-298450" lvl="1" marL="914400" rtl="0" algn="l">
              <a:lnSpc>
                <a:spcPct val="115000"/>
              </a:lnSpc>
              <a:spcBef>
                <a:spcPts val="0"/>
              </a:spcBef>
              <a:spcAft>
                <a:spcPts val="0"/>
              </a:spcAft>
              <a:buSzPts val="1100"/>
              <a:buChar char="○"/>
            </a:pPr>
            <a:r>
              <a:rPr lang="en" sz="1100">
                <a:solidFill>
                  <a:srgbClr val="188038"/>
                </a:solidFill>
                <a:latin typeface="Roboto Mono"/>
                <a:ea typeface="Roboto Mono"/>
                <a:cs typeface="Roboto Mono"/>
                <a:sym typeface="Roboto Mono"/>
              </a:rPr>
              <a:t>n_estimators</a:t>
            </a:r>
            <a:r>
              <a:rPr lang="en" sz="1100"/>
              <a:t>: 200</a:t>
            </a:r>
            <a:endParaRPr sz="1100"/>
          </a:p>
          <a:p>
            <a:pPr indent="-298450" lvl="0" marL="457200" rtl="0" algn="l">
              <a:lnSpc>
                <a:spcPct val="115000"/>
              </a:lnSpc>
              <a:spcBef>
                <a:spcPts val="0"/>
              </a:spcBef>
              <a:spcAft>
                <a:spcPts val="0"/>
              </a:spcAft>
              <a:buSzPts val="1100"/>
              <a:buChar char="●"/>
            </a:pPr>
            <a:r>
              <a:rPr lang="en" sz="1100">
                <a:solidFill>
                  <a:srgbClr val="188038"/>
                </a:solidFill>
                <a:latin typeface="Roboto Mono"/>
                <a:ea typeface="Roboto Mono"/>
                <a:cs typeface="Roboto Mono"/>
                <a:sym typeface="Roboto Mono"/>
              </a:rPr>
              <a:t>test_size=0.2, random_state=42</a:t>
            </a:r>
            <a:endParaRPr sz="1100"/>
          </a:p>
          <a:p>
            <a:pPr indent="-298450" lvl="0" marL="457200" rtl="0" algn="l">
              <a:lnSpc>
                <a:spcPct val="115000"/>
              </a:lnSpc>
              <a:spcBef>
                <a:spcPts val="0"/>
              </a:spcBef>
              <a:spcAft>
                <a:spcPts val="0"/>
              </a:spcAft>
              <a:buSzPts val="1100"/>
              <a:buChar char="●"/>
            </a:pPr>
            <a:r>
              <a:rPr b="1" lang="en" sz="1100"/>
              <a:t>Accuracy</a:t>
            </a:r>
            <a:r>
              <a:rPr lang="en" sz="1100"/>
              <a:t>: 96% – High performance</a:t>
            </a:r>
            <a:endParaRPr sz="1100"/>
          </a:p>
          <a:p>
            <a:pPr indent="0" lvl="0" marL="0" rtl="0" algn="l">
              <a:spcBef>
                <a:spcPts val="1200"/>
              </a:spcBef>
              <a:spcAft>
                <a:spcPts val="0"/>
              </a:spcAft>
              <a:buNone/>
            </a:pPr>
            <a:r>
              <a:t/>
            </a:r>
            <a:endParaRPr sz="1100"/>
          </a:p>
        </p:txBody>
      </p:sp>
      <p:sp>
        <p:nvSpPr>
          <p:cNvPr id="755" name="Google Shape;755;p60"/>
          <p:cNvSpPr txBox="1"/>
          <p:nvPr/>
        </p:nvSpPr>
        <p:spPr>
          <a:xfrm>
            <a:off x="4535875" y="3078825"/>
            <a:ext cx="3700800" cy="1708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Outfit"/>
              <a:ea typeface="Outfit"/>
              <a:cs typeface="Outfit"/>
              <a:sym typeface="Outfit"/>
            </a:endParaRPr>
          </a:p>
          <a:p>
            <a:pPr indent="0" lvl="0" marL="0" marR="0" rtl="0" algn="l">
              <a:lnSpc>
                <a:spcPct val="100000"/>
              </a:lnSpc>
              <a:spcBef>
                <a:spcPts val="0"/>
              </a:spcBef>
              <a:spcAft>
                <a:spcPts val="0"/>
              </a:spcAft>
              <a:buNone/>
            </a:pPr>
            <a:r>
              <a:rPr b="1" i="0" lang="en" sz="1100" u="none" cap="none" strike="noStrike">
                <a:solidFill>
                  <a:srgbClr val="000000"/>
                </a:solidFill>
                <a:latin typeface="Outfit"/>
                <a:ea typeface="Outfit"/>
                <a:cs typeface="Outfit"/>
                <a:sym typeface="Outfit"/>
              </a:rPr>
              <a:t>Observation</a:t>
            </a:r>
            <a:endParaRPr b="0" i="0" sz="1100" u="none" cap="none" strike="noStrike">
              <a:solidFill>
                <a:srgbClr val="000000"/>
              </a:solidFill>
              <a:latin typeface="Outfit"/>
              <a:ea typeface="Outfit"/>
              <a:cs typeface="Outfit"/>
              <a:sym typeface="Outfit"/>
            </a:endParaRPr>
          </a:p>
          <a:p>
            <a:pPr indent="0" lvl="0" marL="0" marR="0" rtl="0" algn="l">
              <a:lnSpc>
                <a:spcPct val="100000"/>
              </a:lnSpc>
              <a:spcBef>
                <a:spcPts val="0"/>
              </a:spcBef>
              <a:spcAft>
                <a:spcPts val="0"/>
              </a:spcAft>
              <a:buNone/>
            </a:pPr>
            <a:r>
              <a:t/>
            </a:r>
            <a:endParaRPr sz="1100">
              <a:latin typeface="Outfit"/>
              <a:ea typeface="Outfit"/>
              <a:cs typeface="Outfit"/>
              <a:sym typeface="Outfit"/>
            </a:endParaRPr>
          </a:p>
          <a:p>
            <a:pPr indent="-298450" lvl="0" marL="457200" marR="0" rtl="0" algn="l">
              <a:lnSpc>
                <a:spcPct val="100000"/>
              </a:lnSpc>
              <a:spcBef>
                <a:spcPts val="0"/>
              </a:spcBef>
              <a:spcAft>
                <a:spcPts val="0"/>
              </a:spcAft>
              <a:buSzPts val="1100"/>
              <a:buFont typeface="Outfit"/>
              <a:buChar char="●"/>
            </a:pPr>
            <a:r>
              <a:rPr lang="en" sz="1100">
                <a:latin typeface="Outfit"/>
                <a:ea typeface="Outfit"/>
                <a:cs typeface="Outfit"/>
                <a:sym typeface="Outfit"/>
              </a:rPr>
              <a:t>Shows strong performance in predicting customer satisfaction, achieving a high F1-score of 0.96. This score indicates a good balance between precision and recall, meaning the model effectively minimizes false positives and false negatives.</a:t>
            </a:r>
            <a:endParaRPr b="0" i="0" sz="1100" u="none" cap="none" strike="noStrike">
              <a:solidFill>
                <a:srgbClr val="000000"/>
              </a:solidFill>
              <a:latin typeface="Outfit"/>
              <a:ea typeface="Outfit"/>
              <a:cs typeface="Outfit"/>
              <a:sym typeface="Outfit"/>
            </a:endParaRPr>
          </a:p>
        </p:txBody>
      </p:sp>
      <p:pic>
        <p:nvPicPr>
          <p:cNvPr id="756" name="Google Shape;756;p60"/>
          <p:cNvPicPr preferRelativeResize="0"/>
          <p:nvPr/>
        </p:nvPicPr>
        <p:blipFill>
          <a:blip r:embed="rId3">
            <a:alphaModFix/>
          </a:blip>
          <a:stretch>
            <a:fillRect/>
          </a:stretch>
        </p:blipFill>
        <p:spPr>
          <a:xfrm>
            <a:off x="1779000" y="1569750"/>
            <a:ext cx="5585995" cy="17085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6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a:t>Random Forest</a:t>
            </a:r>
            <a:endParaRPr/>
          </a:p>
        </p:txBody>
      </p:sp>
      <p:sp>
        <p:nvSpPr>
          <p:cNvPr id="762" name="Google Shape;762;p61"/>
          <p:cNvSpPr txBox="1"/>
          <p:nvPr/>
        </p:nvSpPr>
        <p:spPr>
          <a:xfrm>
            <a:off x="720000" y="3404000"/>
            <a:ext cx="7180200" cy="307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lang="en" sz="1200">
                <a:solidFill>
                  <a:srgbClr val="1F1F1F"/>
                </a:solidFill>
                <a:highlight>
                  <a:srgbClr val="FFFFFF"/>
                </a:highlight>
                <a:latin typeface="Roboto"/>
                <a:ea typeface="Roboto"/>
                <a:cs typeface="Roboto"/>
                <a:sym typeface="Roboto"/>
              </a:rPr>
              <a:t>Observed that increasing n_estimators and adjusting min_samples_split led to optimal F1-scores, confirming the robustness of the chosen parameters</a:t>
            </a:r>
            <a:endParaRPr b="1" i="0" sz="1000" u="sng" cap="none" strike="noStrike">
              <a:solidFill>
                <a:schemeClr val="dk1"/>
              </a:solidFill>
              <a:latin typeface="DM Sans"/>
              <a:ea typeface="DM Sans"/>
              <a:cs typeface="DM Sans"/>
              <a:sym typeface="DM Sans"/>
            </a:endParaRPr>
          </a:p>
        </p:txBody>
      </p:sp>
      <p:sp>
        <p:nvSpPr>
          <p:cNvPr id="763" name="Google Shape;763;p61"/>
          <p:cNvSpPr txBox="1"/>
          <p:nvPr/>
        </p:nvSpPr>
        <p:spPr>
          <a:xfrm>
            <a:off x="3072000" y="1215750"/>
            <a:ext cx="3000000" cy="7434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100"/>
              <a:buFont typeface="Arial"/>
              <a:buNone/>
            </a:pPr>
            <a:r>
              <a:rPr b="1" lang="en" sz="1100">
                <a:latin typeface="Outfit"/>
                <a:ea typeface="Outfit"/>
                <a:cs typeface="Outfit"/>
                <a:sym typeface="Outfit"/>
              </a:rPr>
              <a:t>Manual Hyperparameter Tuning (n_estimators, max_depth, and min_samples_split)</a:t>
            </a:r>
            <a:endParaRPr b="1" i="0" sz="1400" u="none" cap="none" strike="noStrike">
              <a:solidFill>
                <a:schemeClr val="dk1"/>
              </a:solidFill>
              <a:latin typeface="Outfit"/>
              <a:ea typeface="Outfit"/>
              <a:cs typeface="Outfit"/>
              <a:sym typeface="Outfit"/>
            </a:endParaRPr>
          </a:p>
        </p:txBody>
      </p:sp>
      <p:pic>
        <p:nvPicPr>
          <p:cNvPr id="764" name="Google Shape;764;p61"/>
          <p:cNvPicPr preferRelativeResize="0"/>
          <p:nvPr/>
        </p:nvPicPr>
        <p:blipFill>
          <a:blip r:embed="rId3">
            <a:alphaModFix/>
          </a:blip>
          <a:stretch>
            <a:fillRect/>
          </a:stretch>
        </p:blipFill>
        <p:spPr>
          <a:xfrm>
            <a:off x="1732875" y="2157175"/>
            <a:ext cx="5678249" cy="12811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62"/>
          <p:cNvSpPr txBox="1"/>
          <p:nvPr>
            <p:ph type="title"/>
          </p:nvPr>
        </p:nvSpPr>
        <p:spPr>
          <a:xfrm>
            <a:off x="733250" y="510725"/>
            <a:ext cx="7704000" cy="572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SzPts val="3500"/>
              <a:buNone/>
            </a:pPr>
            <a:r>
              <a:rPr lang="en"/>
              <a:t>Random Forest</a:t>
            </a:r>
            <a:endParaRPr/>
          </a:p>
          <a:p>
            <a:pPr indent="0" lvl="0" marL="0" rtl="0" algn="ctr">
              <a:lnSpc>
                <a:spcPct val="100000"/>
              </a:lnSpc>
              <a:spcBef>
                <a:spcPts val="0"/>
              </a:spcBef>
              <a:spcAft>
                <a:spcPts val="0"/>
              </a:spcAft>
              <a:buSzPts val="3500"/>
              <a:buNone/>
            </a:pPr>
            <a:r>
              <a:t/>
            </a:r>
            <a:endParaRPr/>
          </a:p>
        </p:txBody>
      </p:sp>
      <p:sp>
        <p:nvSpPr>
          <p:cNvPr id="770" name="Google Shape;770;p62"/>
          <p:cNvSpPr txBox="1"/>
          <p:nvPr/>
        </p:nvSpPr>
        <p:spPr>
          <a:xfrm>
            <a:off x="259950" y="3279900"/>
            <a:ext cx="2694300" cy="1423500"/>
          </a:xfrm>
          <a:prstGeom prst="rect">
            <a:avLst/>
          </a:prstGeom>
          <a:noFill/>
          <a:ln>
            <a:noFill/>
          </a:ln>
        </p:spPr>
        <p:txBody>
          <a:bodyPr anchorCtr="0" anchor="t" bIns="91425" lIns="91425" spcFirstLastPara="1" rIns="91425" wrap="square" tIns="91425">
            <a:noAutofit/>
          </a:bodyPr>
          <a:lstStyle/>
          <a:p>
            <a:pPr indent="-285750" lvl="0" marL="457200" rtl="0" algn="l">
              <a:spcBef>
                <a:spcPts val="0"/>
              </a:spcBef>
              <a:spcAft>
                <a:spcPts val="0"/>
              </a:spcAft>
              <a:buClr>
                <a:schemeClr val="dk1"/>
              </a:buClr>
              <a:buSzPts val="900"/>
              <a:buChar char="●"/>
            </a:pPr>
            <a:r>
              <a:rPr b="1" lang="en" sz="1100"/>
              <a:t>Shows</a:t>
            </a:r>
            <a:r>
              <a:rPr lang="en" sz="1100"/>
              <a:t>: Distribution of true positives, true negatives, false positives, and false negatives</a:t>
            </a:r>
            <a:endParaRPr sz="1100"/>
          </a:p>
          <a:p>
            <a:pPr indent="-285750" lvl="0" marL="457200" rtl="0" algn="l">
              <a:spcBef>
                <a:spcPts val="0"/>
              </a:spcBef>
              <a:spcAft>
                <a:spcPts val="0"/>
              </a:spcAft>
              <a:buClr>
                <a:schemeClr val="dk1"/>
              </a:buClr>
              <a:buSzPts val="900"/>
              <a:buChar char="●"/>
            </a:pPr>
            <a:r>
              <a:rPr b="1" lang="en" sz="1100"/>
              <a:t>Insight</a:t>
            </a:r>
            <a:r>
              <a:rPr lang="en" sz="1100"/>
              <a:t>: High accuracy with minimal misclassifications</a:t>
            </a:r>
            <a:endParaRPr sz="1100"/>
          </a:p>
          <a:p>
            <a:pPr indent="-285750" lvl="0" marL="457200" rtl="0" algn="l">
              <a:spcBef>
                <a:spcPts val="0"/>
              </a:spcBef>
              <a:spcAft>
                <a:spcPts val="0"/>
              </a:spcAft>
              <a:buClr>
                <a:schemeClr val="dk1"/>
              </a:buClr>
              <a:buSzPts val="900"/>
              <a:buChar char="●"/>
            </a:pPr>
            <a:r>
              <a:rPr b="1" lang="en" sz="1100"/>
              <a:t>Conclusion</a:t>
            </a:r>
            <a:r>
              <a:rPr lang="en" sz="1100"/>
              <a:t>: Model reliably predicts the target class, achieving a strong F1-score</a:t>
            </a:r>
            <a:endParaRPr sz="1100"/>
          </a:p>
          <a:p>
            <a:pPr indent="0" lvl="0" marL="0" marR="0" rtl="0" algn="l">
              <a:lnSpc>
                <a:spcPct val="100000"/>
              </a:lnSpc>
              <a:spcBef>
                <a:spcPts val="0"/>
              </a:spcBef>
              <a:spcAft>
                <a:spcPts val="0"/>
              </a:spcAft>
              <a:buNone/>
            </a:pPr>
            <a:r>
              <a:t/>
            </a:r>
            <a:endParaRPr sz="900">
              <a:solidFill>
                <a:schemeClr val="dk1"/>
              </a:solidFill>
              <a:latin typeface="Outfit"/>
              <a:ea typeface="Outfit"/>
              <a:cs typeface="Outfit"/>
              <a:sym typeface="Outfit"/>
            </a:endParaRPr>
          </a:p>
        </p:txBody>
      </p:sp>
      <p:sp>
        <p:nvSpPr>
          <p:cNvPr id="771" name="Google Shape;771;p62"/>
          <p:cNvSpPr txBox="1"/>
          <p:nvPr/>
        </p:nvSpPr>
        <p:spPr>
          <a:xfrm>
            <a:off x="3085238" y="3322050"/>
            <a:ext cx="3000000" cy="15084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SzPts val="1100"/>
              <a:buChar char="●"/>
            </a:pPr>
            <a:r>
              <a:rPr b="1" lang="en" sz="1100"/>
              <a:t>Shows</a:t>
            </a:r>
            <a:r>
              <a:rPr lang="en" sz="1100"/>
              <a:t>: Trade-off between precision and recall across thresholds</a:t>
            </a:r>
            <a:endParaRPr sz="1100"/>
          </a:p>
          <a:p>
            <a:pPr indent="-298450" lvl="0" marL="457200" rtl="0" algn="l">
              <a:spcBef>
                <a:spcPts val="0"/>
              </a:spcBef>
              <a:spcAft>
                <a:spcPts val="0"/>
              </a:spcAft>
              <a:buSzPts val="1100"/>
              <a:buChar char="●"/>
            </a:pPr>
            <a:r>
              <a:rPr b="1" lang="en" sz="1100"/>
              <a:t>Insight</a:t>
            </a:r>
            <a:r>
              <a:rPr lang="en" sz="1100"/>
              <a:t>: Strong balance between precision and recall</a:t>
            </a:r>
            <a:endParaRPr sz="1100"/>
          </a:p>
          <a:p>
            <a:pPr indent="-298450" lvl="0" marL="457200" rtl="0" algn="l">
              <a:spcBef>
                <a:spcPts val="0"/>
              </a:spcBef>
              <a:spcAft>
                <a:spcPts val="0"/>
              </a:spcAft>
              <a:buSzPts val="1100"/>
              <a:buChar char="●"/>
            </a:pPr>
            <a:r>
              <a:rPr b="1" lang="en" sz="1100"/>
              <a:t>Conclusion</a:t>
            </a:r>
            <a:r>
              <a:rPr lang="en" sz="1100"/>
              <a:t>: Model effectively minimizes both false positives and false negatives</a:t>
            </a:r>
            <a:endParaRPr sz="1100"/>
          </a:p>
          <a:p>
            <a:pPr indent="0" lvl="0" marL="0" marR="0" rtl="0" algn="l">
              <a:lnSpc>
                <a:spcPct val="100000"/>
              </a:lnSpc>
              <a:spcBef>
                <a:spcPts val="0"/>
              </a:spcBef>
              <a:spcAft>
                <a:spcPts val="0"/>
              </a:spcAft>
              <a:buClr>
                <a:srgbClr val="000000"/>
              </a:buClr>
              <a:buSzPts val="1100"/>
              <a:buFont typeface="Arial"/>
              <a:buNone/>
            </a:pPr>
            <a:r>
              <a:t/>
            </a:r>
            <a:endParaRPr sz="900">
              <a:latin typeface="Outfit"/>
              <a:ea typeface="Outfit"/>
              <a:cs typeface="Outfit"/>
              <a:sym typeface="Outfit"/>
            </a:endParaRPr>
          </a:p>
        </p:txBody>
      </p:sp>
      <p:sp>
        <p:nvSpPr>
          <p:cNvPr id="772" name="Google Shape;772;p62"/>
          <p:cNvSpPr txBox="1"/>
          <p:nvPr/>
        </p:nvSpPr>
        <p:spPr>
          <a:xfrm>
            <a:off x="6144000" y="3322050"/>
            <a:ext cx="3000000" cy="13698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SzPts val="1100"/>
              <a:buChar char="●"/>
            </a:pPr>
            <a:r>
              <a:rPr b="1" lang="en" sz="1100"/>
              <a:t>Shows</a:t>
            </a:r>
            <a:r>
              <a:rPr lang="en" sz="1100"/>
              <a:t>: Comparison of F1-scores for different hyperparameter settings</a:t>
            </a:r>
            <a:endParaRPr sz="1100"/>
          </a:p>
          <a:p>
            <a:pPr indent="-298450" lvl="0" marL="457200" rtl="0" algn="l">
              <a:spcBef>
                <a:spcPts val="0"/>
              </a:spcBef>
              <a:spcAft>
                <a:spcPts val="0"/>
              </a:spcAft>
              <a:buSzPts val="1100"/>
              <a:buChar char="●"/>
            </a:pPr>
            <a:r>
              <a:rPr b="1" lang="en" sz="1100"/>
              <a:t>Insight</a:t>
            </a:r>
            <a:r>
              <a:rPr lang="en" sz="1100"/>
              <a:t>: Higher </a:t>
            </a:r>
            <a:r>
              <a:rPr lang="en" sz="1100">
                <a:solidFill>
                  <a:srgbClr val="188038"/>
                </a:solidFill>
                <a:latin typeface="Roboto Mono"/>
                <a:ea typeface="Roboto Mono"/>
                <a:cs typeface="Roboto Mono"/>
                <a:sym typeface="Roboto Mono"/>
              </a:rPr>
              <a:t>n_estimators</a:t>
            </a:r>
            <a:r>
              <a:rPr lang="en" sz="1100"/>
              <a:t> and </a:t>
            </a:r>
            <a:r>
              <a:rPr lang="en" sz="1100">
                <a:solidFill>
                  <a:srgbClr val="188038"/>
                </a:solidFill>
                <a:latin typeface="Roboto Mono"/>
                <a:ea typeface="Roboto Mono"/>
                <a:cs typeface="Roboto Mono"/>
                <a:sym typeface="Roboto Mono"/>
              </a:rPr>
              <a:t>max_depth</a:t>
            </a:r>
            <a:r>
              <a:rPr lang="en" sz="1100"/>
              <a:t> improve F1-score</a:t>
            </a:r>
            <a:endParaRPr sz="1100"/>
          </a:p>
          <a:p>
            <a:pPr indent="-298450" lvl="0" marL="457200" rtl="0" algn="l">
              <a:spcBef>
                <a:spcPts val="0"/>
              </a:spcBef>
              <a:spcAft>
                <a:spcPts val="0"/>
              </a:spcAft>
              <a:buSzPts val="1100"/>
              <a:buChar char="●"/>
            </a:pPr>
            <a:r>
              <a:rPr b="1" lang="en" sz="1100"/>
              <a:t>Conclusion</a:t>
            </a:r>
            <a:r>
              <a:rPr lang="en" sz="1100"/>
              <a:t>: Optimal parameter selection enhances model robustness and reliability</a:t>
            </a:r>
            <a:endParaRPr sz="900">
              <a:latin typeface="Outfit"/>
              <a:ea typeface="Outfit"/>
              <a:cs typeface="Outfit"/>
              <a:sym typeface="Outfit"/>
            </a:endParaRPr>
          </a:p>
        </p:txBody>
      </p:sp>
      <p:pic>
        <p:nvPicPr>
          <p:cNvPr id="773" name="Google Shape;773;p62"/>
          <p:cNvPicPr preferRelativeResize="0"/>
          <p:nvPr/>
        </p:nvPicPr>
        <p:blipFill>
          <a:blip r:embed="rId3">
            <a:alphaModFix/>
          </a:blip>
          <a:stretch>
            <a:fillRect/>
          </a:stretch>
        </p:blipFill>
        <p:spPr>
          <a:xfrm>
            <a:off x="527050" y="1136988"/>
            <a:ext cx="2406196" cy="2089350"/>
          </a:xfrm>
          <a:prstGeom prst="rect">
            <a:avLst/>
          </a:prstGeom>
          <a:noFill/>
          <a:ln>
            <a:noFill/>
          </a:ln>
        </p:spPr>
      </p:pic>
      <p:pic>
        <p:nvPicPr>
          <p:cNvPr id="774" name="Google Shape;774;p62"/>
          <p:cNvPicPr preferRelativeResize="0"/>
          <p:nvPr/>
        </p:nvPicPr>
        <p:blipFill>
          <a:blip r:embed="rId4">
            <a:alphaModFix/>
          </a:blip>
          <a:stretch>
            <a:fillRect/>
          </a:stretch>
        </p:blipFill>
        <p:spPr>
          <a:xfrm>
            <a:off x="3178734" y="1137000"/>
            <a:ext cx="2554522" cy="2049925"/>
          </a:xfrm>
          <a:prstGeom prst="rect">
            <a:avLst/>
          </a:prstGeom>
          <a:noFill/>
          <a:ln>
            <a:noFill/>
          </a:ln>
        </p:spPr>
      </p:pic>
      <p:pic>
        <p:nvPicPr>
          <p:cNvPr id="775" name="Google Shape;775;p62"/>
          <p:cNvPicPr preferRelativeResize="0"/>
          <p:nvPr/>
        </p:nvPicPr>
        <p:blipFill>
          <a:blip r:embed="rId5">
            <a:alphaModFix/>
          </a:blip>
          <a:stretch>
            <a:fillRect/>
          </a:stretch>
        </p:blipFill>
        <p:spPr>
          <a:xfrm>
            <a:off x="6144006" y="1156700"/>
            <a:ext cx="2694187" cy="20499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63"/>
          <p:cNvSpPr txBox="1"/>
          <p:nvPr>
            <p:ph type="title"/>
          </p:nvPr>
        </p:nvSpPr>
        <p:spPr>
          <a:xfrm>
            <a:off x="645425" y="766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ADA BOOST</a:t>
            </a:r>
            <a:endParaRPr/>
          </a:p>
        </p:txBody>
      </p:sp>
      <p:pic>
        <p:nvPicPr>
          <p:cNvPr id="781" name="Google Shape;781;p63"/>
          <p:cNvPicPr preferRelativeResize="0"/>
          <p:nvPr/>
        </p:nvPicPr>
        <p:blipFill rotWithShape="1">
          <a:blip r:embed="rId3">
            <a:alphaModFix/>
          </a:blip>
          <a:srcRect b="10881" l="6848" r="3866" t="0"/>
          <a:stretch/>
        </p:blipFill>
        <p:spPr>
          <a:xfrm>
            <a:off x="2147600" y="769725"/>
            <a:ext cx="4609749" cy="2222575"/>
          </a:xfrm>
          <a:prstGeom prst="rect">
            <a:avLst/>
          </a:prstGeom>
          <a:noFill/>
          <a:ln>
            <a:noFill/>
          </a:ln>
        </p:spPr>
      </p:pic>
      <p:sp>
        <p:nvSpPr>
          <p:cNvPr id="782" name="Google Shape;782;p63"/>
          <p:cNvSpPr txBox="1"/>
          <p:nvPr/>
        </p:nvSpPr>
        <p:spPr>
          <a:xfrm>
            <a:off x="1024375" y="3112725"/>
            <a:ext cx="6739500" cy="15222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SzPts val="1100"/>
              <a:buChar char="●"/>
            </a:pPr>
            <a:r>
              <a:rPr b="1" lang="en" sz="1100"/>
              <a:t>Accuracy</a:t>
            </a:r>
            <a:r>
              <a:rPr lang="en" sz="1100"/>
              <a:t>: 92.89%, indicating the overall correct predictions out of total predictions.</a:t>
            </a:r>
            <a:endParaRPr sz="1100"/>
          </a:p>
          <a:p>
            <a:pPr indent="-298450" lvl="0" marL="457200" rtl="0" algn="l">
              <a:lnSpc>
                <a:spcPct val="115000"/>
              </a:lnSpc>
              <a:spcBef>
                <a:spcPts val="0"/>
              </a:spcBef>
              <a:spcAft>
                <a:spcPts val="0"/>
              </a:spcAft>
              <a:buSzPts val="1100"/>
              <a:buChar char="●"/>
            </a:pPr>
            <a:r>
              <a:rPr b="1" lang="en" sz="1100"/>
              <a:t>Precision, Recall, F1-Score</a:t>
            </a:r>
            <a:r>
              <a:rPr lang="en" sz="1100"/>
              <a:t>:</a:t>
            </a:r>
            <a:endParaRPr sz="1100"/>
          </a:p>
          <a:p>
            <a:pPr indent="-298450" lvl="1" marL="914400" rtl="0" algn="l">
              <a:lnSpc>
                <a:spcPct val="115000"/>
              </a:lnSpc>
              <a:spcBef>
                <a:spcPts val="0"/>
              </a:spcBef>
              <a:spcAft>
                <a:spcPts val="0"/>
              </a:spcAft>
              <a:buSzPts val="1100"/>
              <a:buChar char="○"/>
            </a:pPr>
            <a:r>
              <a:rPr lang="en" sz="1100"/>
              <a:t>For class 0 : Precision = 0.93, Recall = 0.94, F1-Score = 0.94, with 11,655 instances.</a:t>
            </a:r>
            <a:endParaRPr sz="1100"/>
          </a:p>
          <a:p>
            <a:pPr indent="-298450" lvl="1" marL="914400" rtl="0" algn="l">
              <a:lnSpc>
                <a:spcPct val="115000"/>
              </a:lnSpc>
              <a:spcBef>
                <a:spcPts val="0"/>
              </a:spcBef>
              <a:spcAft>
                <a:spcPts val="0"/>
              </a:spcAft>
              <a:buSzPts val="1100"/>
              <a:buChar char="○"/>
            </a:pPr>
            <a:r>
              <a:rPr lang="en" sz="1100"/>
              <a:t>For class 1 : Precision = 0.93, Recall = 0.91, F1-Score = 0.92, with 9,064 instances.</a:t>
            </a:r>
            <a:endParaRPr sz="1100"/>
          </a:p>
          <a:p>
            <a:pPr indent="-298450" lvl="0" marL="457200" rtl="0" algn="l">
              <a:lnSpc>
                <a:spcPct val="115000"/>
              </a:lnSpc>
              <a:spcBef>
                <a:spcPts val="0"/>
              </a:spcBef>
              <a:spcAft>
                <a:spcPts val="0"/>
              </a:spcAft>
              <a:buSzPts val="1100"/>
              <a:buChar char="●"/>
            </a:pPr>
            <a:r>
              <a:rPr b="1" lang="en" sz="1100"/>
              <a:t>Average Metrics</a:t>
            </a:r>
            <a:r>
              <a:rPr lang="en" sz="1100"/>
              <a:t>:</a:t>
            </a:r>
            <a:endParaRPr sz="1100"/>
          </a:p>
          <a:p>
            <a:pPr indent="-298450" lvl="1" marL="914400" rtl="0" algn="l">
              <a:lnSpc>
                <a:spcPct val="115000"/>
              </a:lnSpc>
              <a:spcBef>
                <a:spcPts val="0"/>
              </a:spcBef>
              <a:spcAft>
                <a:spcPts val="0"/>
              </a:spcAft>
              <a:buSzPts val="1100"/>
              <a:buChar char="○"/>
            </a:pPr>
            <a:r>
              <a:rPr lang="en" sz="1100"/>
              <a:t>Macro Average: Precision, Recall, F1-Score = 0.93.</a:t>
            </a:r>
            <a:endParaRPr sz="1100"/>
          </a:p>
          <a:p>
            <a:pPr indent="-298450" lvl="1" marL="914400" rtl="0" algn="l">
              <a:lnSpc>
                <a:spcPct val="115000"/>
              </a:lnSpc>
              <a:spcBef>
                <a:spcPts val="0"/>
              </a:spcBef>
              <a:spcAft>
                <a:spcPts val="0"/>
              </a:spcAft>
              <a:buSzPts val="1100"/>
              <a:buChar char="○"/>
            </a:pPr>
            <a:r>
              <a:rPr lang="en" sz="1100"/>
              <a:t>Weighted Average: Precision, Recall, F1-Score = 0.93.</a:t>
            </a:r>
            <a:endParaRPr>
              <a:solidFill>
                <a:schemeClr val="dk1"/>
              </a:solidFill>
              <a:latin typeface="DM Sans"/>
              <a:ea typeface="DM Sans"/>
              <a:cs typeface="DM Sans"/>
              <a:sym typeface="DM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64"/>
          <p:cNvSpPr txBox="1"/>
          <p:nvPr>
            <p:ph type="title"/>
          </p:nvPr>
        </p:nvSpPr>
        <p:spPr>
          <a:xfrm>
            <a:off x="720000" y="64305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sz="1800">
                <a:solidFill>
                  <a:srgbClr val="000000"/>
                </a:solidFill>
                <a:latin typeface="Arial"/>
                <a:ea typeface="Arial"/>
                <a:cs typeface="Arial"/>
                <a:sym typeface="Arial"/>
              </a:rPr>
              <a:t>Parameters: {'n_estimators': 50, 'max_depth': 10, 'min_samples_split': 5}</a:t>
            </a:r>
            <a:endParaRPr b="0" sz="1800">
              <a:solidFill>
                <a:srgbClr val="000000"/>
              </a:solidFill>
              <a:latin typeface="Arial"/>
              <a:ea typeface="Arial"/>
              <a:cs typeface="Arial"/>
              <a:sym typeface="Arial"/>
            </a:endParaRPr>
          </a:p>
          <a:p>
            <a:pPr indent="0" lvl="0" marL="0" rtl="0" algn="ctr">
              <a:spcBef>
                <a:spcPts val="0"/>
              </a:spcBef>
              <a:spcAft>
                <a:spcPts val="0"/>
              </a:spcAft>
              <a:buNone/>
            </a:pPr>
            <a:r>
              <a:t/>
            </a:r>
            <a:endParaRPr/>
          </a:p>
        </p:txBody>
      </p:sp>
      <p:sp>
        <p:nvSpPr>
          <p:cNvPr id="788" name="Google Shape;788;p64"/>
          <p:cNvSpPr txBox="1"/>
          <p:nvPr>
            <p:ph idx="1" type="body"/>
          </p:nvPr>
        </p:nvSpPr>
        <p:spPr>
          <a:xfrm>
            <a:off x="720000" y="1421472"/>
            <a:ext cx="7704000" cy="1306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500">
                <a:latin typeface="Arial"/>
                <a:ea typeface="Arial"/>
                <a:cs typeface="Arial"/>
                <a:sym typeface="Arial"/>
              </a:rPr>
              <a:t>In the AdaBoost model:</a:t>
            </a:r>
            <a:endParaRPr b="1" sz="1500">
              <a:latin typeface="Arial"/>
              <a:ea typeface="Arial"/>
              <a:cs typeface="Arial"/>
              <a:sym typeface="Arial"/>
            </a:endParaRPr>
          </a:p>
          <a:p>
            <a:pPr indent="0" lvl="0" marL="0" rtl="0" algn="l">
              <a:lnSpc>
                <a:spcPct val="100000"/>
              </a:lnSpc>
              <a:spcBef>
                <a:spcPts val="0"/>
              </a:spcBef>
              <a:spcAft>
                <a:spcPts val="0"/>
              </a:spcAft>
              <a:buNone/>
            </a:pPr>
            <a:r>
              <a:rPr lang="en"/>
              <a:t>n_estimators=50: Sets the model to use 50 boosting rounds, balancing accuracy and computational efficiency.</a:t>
            </a:r>
            <a:endParaRPr/>
          </a:p>
          <a:p>
            <a:pPr indent="0" lvl="0" marL="0" rtl="0" algn="l">
              <a:lnSpc>
                <a:spcPct val="100000"/>
              </a:lnSpc>
              <a:spcBef>
                <a:spcPts val="0"/>
              </a:spcBef>
              <a:spcAft>
                <a:spcPts val="0"/>
              </a:spcAft>
              <a:buNone/>
            </a:pPr>
            <a:r>
              <a:rPr lang="en"/>
              <a:t>max_depth=10 (for base estimator) and min_samples_split=5: Limits the complexity of each base learner, reducing overfitting by creating simpler decision trees.</a:t>
            </a:r>
            <a:endParaRPr/>
          </a:p>
          <a:p>
            <a:pPr indent="0" lvl="0" marL="0" rtl="0" algn="l">
              <a:lnSpc>
                <a:spcPct val="100000"/>
              </a:lnSpc>
              <a:spcBef>
                <a:spcPts val="0"/>
              </a:spcBef>
              <a:spcAft>
                <a:spcPts val="0"/>
              </a:spcAft>
              <a:buNone/>
            </a:pPr>
            <a:r>
              <a:t/>
            </a:r>
            <a:endParaRPr/>
          </a:p>
          <a:p>
            <a:pPr indent="0" lvl="0" marL="0" rtl="0" algn="ctr">
              <a:spcBef>
                <a:spcPts val="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pic>
        <p:nvPicPr>
          <p:cNvPr id="793" name="Google Shape;793;p65"/>
          <p:cNvPicPr preferRelativeResize="0"/>
          <p:nvPr/>
        </p:nvPicPr>
        <p:blipFill>
          <a:blip r:embed="rId3">
            <a:alphaModFix/>
          </a:blip>
          <a:stretch>
            <a:fillRect/>
          </a:stretch>
        </p:blipFill>
        <p:spPr>
          <a:xfrm>
            <a:off x="215025" y="476050"/>
            <a:ext cx="3000000" cy="2377475"/>
          </a:xfrm>
          <a:prstGeom prst="rect">
            <a:avLst/>
          </a:prstGeom>
          <a:noFill/>
          <a:ln>
            <a:noFill/>
          </a:ln>
        </p:spPr>
      </p:pic>
      <p:pic>
        <p:nvPicPr>
          <p:cNvPr id="794" name="Google Shape;794;p65"/>
          <p:cNvPicPr preferRelativeResize="0"/>
          <p:nvPr/>
        </p:nvPicPr>
        <p:blipFill>
          <a:blip r:embed="rId4">
            <a:alphaModFix/>
          </a:blip>
          <a:stretch>
            <a:fillRect/>
          </a:stretch>
        </p:blipFill>
        <p:spPr>
          <a:xfrm>
            <a:off x="3336575" y="567525"/>
            <a:ext cx="2923650" cy="2126000"/>
          </a:xfrm>
          <a:prstGeom prst="rect">
            <a:avLst/>
          </a:prstGeom>
          <a:noFill/>
          <a:ln>
            <a:noFill/>
          </a:ln>
        </p:spPr>
      </p:pic>
      <p:pic>
        <p:nvPicPr>
          <p:cNvPr id="795" name="Google Shape;795;p65"/>
          <p:cNvPicPr preferRelativeResize="0"/>
          <p:nvPr/>
        </p:nvPicPr>
        <p:blipFill>
          <a:blip r:embed="rId5">
            <a:alphaModFix/>
          </a:blip>
          <a:stretch>
            <a:fillRect/>
          </a:stretch>
        </p:blipFill>
        <p:spPr>
          <a:xfrm>
            <a:off x="6342150" y="438925"/>
            <a:ext cx="2683575" cy="2254600"/>
          </a:xfrm>
          <a:prstGeom prst="rect">
            <a:avLst/>
          </a:prstGeom>
          <a:noFill/>
          <a:ln>
            <a:noFill/>
          </a:ln>
        </p:spPr>
      </p:pic>
      <p:sp>
        <p:nvSpPr>
          <p:cNvPr id="796" name="Google Shape;796;p65"/>
          <p:cNvSpPr txBox="1"/>
          <p:nvPr/>
        </p:nvSpPr>
        <p:spPr>
          <a:xfrm>
            <a:off x="438225" y="2969475"/>
            <a:ext cx="2683500" cy="1662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1200"/>
              <a:t>F1-score across three AdaBoost models, indicating that successive parameter tuning has enhanced model performance. Model 3 achieves the highest F1-score, suggesting it has the best balance between complexity and generalization.</a:t>
            </a:r>
            <a:endParaRPr sz="1200"/>
          </a:p>
        </p:txBody>
      </p:sp>
      <p:sp>
        <p:nvSpPr>
          <p:cNvPr id="797" name="Google Shape;797;p65"/>
          <p:cNvSpPr txBox="1"/>
          <p:nvPr/>
        </p:nvSpPr>
        <p:spPr>
          <a:xfrm>
            <a:off x="3336575" y="2969475"/>
            <a:ext cx="3000000" cy="1662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1200"/>
              <a:t>The confusion matrix shows that the model correctly classified 11,000 neutral or dissatisfied passengers and 8,245 satisfied ones, with relatively low misclassification rates of 655 and 819, respectively. This indicates strong performance in distinguishing between satisfied and dissatisfied passengers.</a:t>
            </a:r>
            <a:endParaRPr sz="1200"/>
          </a:p>
        </p:txBody>
      </p:sp>
      <p:sp>
        <p:nvSpPr>
          <p:cNvPr id="798" name="Google Shape;798;p65"/>
          <p:cNvSpPr txBox="1"/>
          <p:nvPr/>
        </p:nvSpPr>
        <p:spPr>
          <a:xfrm>
            <a:off x="6342149" y="2969475"/>
            <a:ext cx="2807400" cy="1662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1200"/>
              <a:t>The precision-recall curve shows high precision across most recall values, indicating that the model performs well in identifying satisfied passengers with minimal false positives. However, precision slightly decreases as recall approaches 1, reflecting a trade-off at higher recall levels.</a:t>
            </a:r>
            <a:endParaRPr sz="12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6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Model Accuracy Summary</a:t>
            </a:r>
            <a:endParaRPr/>
          </a:p>
        </p:txBody>
      </p:sp>
      <p:pic>
        <p:nvPicPr>
          <p:cNvPr id="804" name="Google Shape;804;p66" title="Chart"/>
          <p:cNvPicPr preferRelativeResize="0"/>
          <p:nvPr/>
        </p:nvPicPr>
        <p:blipFill>
          <a:blip r:embed="rId3">
            <a:alphaModFix/>
          </a:blip>
          <a:stretch>
            <a:fillRect/>
          </a:stretch>
        </p:blipFill>
        <p:spPr>
          <a:xfrm>
            <a:off x="1346750" y="1245800"/>
            <a:ext cx="6303558" cy="38977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67"/>
          <p:cNvSpPr txBox="1"/>
          <p:nvPr>
            <p:ph type="title"/>
          </p:nvPr>
        </p:nvSpPr>
        <p:spPr>
          <a:xfrm>
            <a:off x="713225" y="1556700"/>
            <a:ext cx="4344300" cy="174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Observations &amp; Solution</a:t>
            </a:r>
            <a:endParaRPr/>
          </a:p>
        </p:txBody>
      </p:sp>
      <p:grpSp>
        <p:nvGrpSpPr>
          <p:cNvPr id="810" name="Google Shape;810;p67"/>
          <p:cNvGrpSpPr/>
          <p:nvPr/>
        </p:nvGrpSpPr>
        <p:grpSpPr>
          <a:xfrm>
            <a:off x="5104880" y="-153372"/>
            <a:ext cx="4218588" cy="6000577"/>
            <a:chOff x="5104880" y="-153372"/>
            <a:chExt cx="4218588" cy="6000577"/>
          </a:xfrm>
        </p:grpSpPr>
        <p:sp>
          <p:nvSpPr>
            <p:cNvPr id="811" name="Google Shape;811;p67"/>
            <p:cNvSpPr/>
            <p:nvPr/>
          </p:nvSpPr>
          <p:spPr>
            <a:xfrm>
              <a:off x="7074911" y="254737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67"/>
            <p:cNvSpPr/>
            <p:nvPr/>
          </p:nvSpPr>
          <p:spPr>
            <a:xfrm>
              <a:off x="7026089" y="-1533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67"/>
            <p:cNvSpPr/>
            <p:nvPr/>
          </p:nvSpPr>
          <p:spPr>
            <a:xfrm>
              <a:off x="6606684" y="31846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67"/>
            <p:cNvSpPr/>
            <p:nvPr/>
          </p:nvSpPr>
          <p:spPr>
            <a:xfrm>
              <a:off x="6138958" y="13708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67"/>
            <p:cNvSpPr/>
            <p:nvPr/>
          </p:nvSpPr>
          <p:spPr>
            <a:xfrm>
              <a:off x="5732458" y="87452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67"/>
            <p:cNvSpPr/>
            <p:nvPr/>
          </p:nvSpPr>
          <p:spPr>
            <a:xfrm>
              <a:off x="7480889" y="98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67"/>
            <p:cNvSpPr/>
            <p:nvPr/>
          </p:nvSpPr>
          <p:spPr>
            <a:xfrm>
              <a:off x="7074904" y="207505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67"/>
            <p:cNvSpPr/>
            <p:nvPr/>
          </p:nvSpPr>
          <p:spPr>
            <a:xfrm>
              <a:off x="7962441" y="140407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67"/>
            <p:cNvSpPr/>
            <p:nvPr/>
          </p:nvSpPr>
          <p:spPr>
            <a:xfrm flipH="1" rot="10800000">
              <a:off x="6036087" y="312497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67"/>
            <p:cNvSpPr/>
            <p:nvPr/>
          </p:nvSpPr>
          <p:spPr>
            <a:xfrm flipH="1" rot="10800000">
              <a:off x="6355205" y="41020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67"/>
            <p:cNvSpPr/>
            <p:nvPr/>
          </p:nvSpPr>
          <p:spPr>
            <a:xfrm flipH="1" rot="10800000">
              <a:off x="5732459" y="48790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67"/>
            <p:cNvSpPr/>
            <p:nvPr/>
          </p:nvSpPr>
          <p:spPr>
            <a:xfrm flipH="1" rot="10800000">
              <a:off x="6683197" y="351549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67"/>
            <p:cNvSpPr/>
            <p:nvPr/>
          </p:nvSpPr>
          <p:spPr>
            <a:xfrm flipH="1" rot="10800000">
              <a:off x="5104880" y="443452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67"/>
            <p:cNvSpPr/>
            <p:nvPr/>
          </p:nvSpPr>
          <p:spPr>
            <a:xfrm>
              <a:off x="8484758" y="243811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67"/>
            <p:cNvSpPr/>
            <p:nvPr/>
          </p:nvSpPr>
          <p:spPr>
            <a:xfrm>
              <a:off x="8038260" y="29212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67"/>
            <p:cNvSpPr/>
            <p:nvPr/>
          </p:nvSpPr>
          <p:spPr>
            <a:xfrm flipH="1" rot="10800000">
              <a:off x="7853362" y="396220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67"/>
            <p:cNvSpPr/>
            <p:nvPr/>
          </p:nvSpPr>
          <p:spPr>
            <a:xfrm flipH="1" rot="10800000">
              <a:off x="8261505" y="443452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828" name="Google Shape;828;p67"/>
          <p:cNvCxnSpPr/>
          <p:nvPr/>
        </p:nvCxnSpPr>
        <p:spPr>
          <a:xfrm>
            <a:off x="841250" y="1385850"/>
            <a:ext cx="373500" cy="0"/>
          </a:xfrm>
          <a:prstGeom prst="straightConnector1">
            <a:avLst/>
          </a:prstGeom>
          <a:noFill/>
          <a:ln cap="flat" cmpd="sng" w="19050">
            <a:solidFill>
              <a:schemeClr val="dk1"/>
            </a:solidFill>
            <a:prstDash val="solid"/>
            <a:round/>
            <a:headEnd len="med" w="med" type="none"/>
            <a:tailEnd len="med" w="med" type="none"/>
          </a:ln>
        </p:spPr>
      </p:cxnSp>
      <p:sp>
        <p:nvSpPr>
          <p:cNvPr id="829" name="Google Shape;829;p67"/>
          <p:cNvSpPr txBox="1"/>
          <p:nvPr/>
        </p:nvSpPr>
        <p:spPr>
          <a:xfrm>
            <a:off x="713225" y="690075"/>
            <a:ext cx="1260600" cy="6099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n" sz="5000">
                <a:solidFill>
                  <a:schemeClr val="dk1"/>
                </a:solidFill>
                <a:latin typeface="Outfit"/>
                <a:ea typeface="Outfit"/>
                <a:cs typeface="Outfit"/>
                <a:sym typeface="Outfit"/>
              </a:rPr>
              <a:t>05</a:t>
            </a:r>
            <a:endParaRPr>
              <a:solidFill>
                <a:schemeClr val="dk1"/>
              </a:solidFill>
              <a:latin typeface="DM Sans"/>
              <a:ea typeface="DM Sans"/>
              <a:cs typeface="DM Sans"/>
              <a:sym typeface="DM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68"/>
          <p:cNvSpPr txBox="1"/>
          <p:nvPr>
            <p:ph type="title"/>
          </p:nvPr>
        </p:nvSpPr>
        <p:spPr>
          <a:xfrm>
            <a:off x="720000" y="445025"/>
            <a:ext cx="5549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Observations &amp; Solution</a:t>
            </a:r>
            <a:endParaRPr/>
          </a:p>
        </p:txBody>
      </p:sp>
      <p:sp>
        <p:nvSpPr>
          <p:cNvPr id="835" name="Google Shape;835;p68"/>
          <p:cNvSpPr txBox="1"/>
          <p:nvPr>
            <p:ph idx="1" type="subTitle"/>
          </p:nvPr>
        </p:nvSpPr>
        <p:spPr>
          <a:xfrm>
            <a:off x="720000" y="1116975"/>
            <a:ext cx="5222100" cy="26769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a:t>Satisfaction is influenced by complex, non-linear interactions among variables.</a:t>
            </a:r>
            <a:endParaRPr/>
          </a:p>
          <a:p>
            <a:pPr indent="-330200" lvl="0" marL="457200" rtl="0" algn="l">
              <a:spcBef>
                <a:spcPts val="0"/>
              </a:spcBef>
              <a:spcAft>
                <a:spcPts val="0"/>
              </a:spcAft>
              <a:buSzPts val="1600"/>
              <a:buChar char="●"/>
            </a:pPr>
            <a:r>
              <a:rPr lang="en"/>
              <a:t>Tree-based ensemble model outperform linear-based models such as logistic regression.</a:t>
            </a:r>
            <a:endParaRPr/>
          </a:p>
          <a:p>
            <a:pPr indent="-330200" lvl="0" marL="457200" rtl="0" algn="l">
              <a:spcBef>
                <a:spcPts val="0"/>
              </a:spcBef>
              <a:spcAft>
                <a:spcPts val="0"/>
              </a:spcAft>
              <a:buSzPts val="1600"/>
              <a:buChar char="●"/>
            </a:pPr>
            <a:r>
              <a:rPr lang="en"/>
              <a:t>EDA and modeling results prove the dataset is solvable in terms of predicting airline customer satisfaction with high accuracy.</a:t>
            </a:r>
            <a:endParaRPr/>
          </a:p>
        </p:txBody>
      </p:sp>
      <p:grpSp>
        <p:nvGrpSpPr>
          <p:cNvPr id="836" name="Google Shape;836;p68"/>
          <p:cNvGrpSpPr/>
          <p:nvPr/>
        </p:nvGrpSpPr>
        <p:grpSpPr>
          <a:xfrm>
            <a:off x="5430930" y="-445784"/>
            <a:ext cx="4086563" cy="6064817"/>
            <a:chOff x="5430930" y="-445784"/>
            <a:chExt cx="4086563" cy="6064817"/>
          </a:xfrm>
        </p:grpSpPr>
        <p:sp>
          <p:nvSpPr>
            <p:cNvPr id="837" name="Google Shape;837;p68"/>
            <p:cNvSpPr/>
            <p:nvPr/>
          </p:nvSpPr>
          <p:spPr>
            <a:xfrm>
              <a:off x="7368520" y="98876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68"/>
            <p:cNvSpPr/>
            <p:nvPr/>
          </p:nvSpPr>
          <p:spPr>
            <a:xfrm flipH="1" rot="10800000">
              <a:off x="6036409" y="19621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68"/>
            <p:cNvSpPr/>
            <p:nvPr/>
          </p:nvSpPr>
          <p:spPr>
            <a:xfrm>
              <a:off x="7309474" y="21661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68"/>
            <p:cNvSpPr/>
            <p:nvPr/>
          </p:nvSpPr>
          <p:spPr>
            <a:xfrm>
              <a:off x="6269702" y="-44578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68"/>
            <p:cNvSpPr/>
            <p:nvPr/>
          </p:nvSpPr>
          <p:spPr>
            <a:xfrm>
              <a:off x="5830483" y="421588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68"/>
            <p:cNvSpPr/>
            <p:nvPr/>
          </p:nvSpPr>
          <p:spPr>
            <a:xfrm>
              <a:off x="6269683" y="1332541"/>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68"/>
            <p:cNvSpPr/>
            <p:nvPr/>
          </p:nvSpPr>
          <p:spPr>
            <a:xfrm>
              <a:off x="8430764" y="23422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68"/>
            <p:cNvSpPr/>
            <p:nvPr/>
          </p:nvSpPr>
          <p:spPr>
            <a:xfrm>
              <a:off x="7309467" y="261820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68"/>
            <p:cNvSpPr/>
            <p:nvPr/>
          </p:nvSpPr>
          <p:spPr>
            <a:xfrm>
              <a:off x="7962441" y="13180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68"/>
            <p:cNvSpPr/>
            <p:nvPr/>
          </p:nvSpPr>
          <p:spPr>
            <a:xfrm flipH="1" rot="10800000">
              <a:off x="6351880" y="311086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68"/>
            <p:cNvSpPr/>
            <p:nvPr/>
          </p:nvSpPr>
          <p:spPr>
            <a:xfrm flipH="1" rot="10800000">
              <a:off x="6790284" y="354856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68"/>
            <p:cNvSpPr/>
            <p:nvPr/>
          </p:nvSpPr>
          <p:spPr>
            <a:xfrm flipH="1" rot="10800000">
              <a:off x="5430930" y="465091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68"/>
            <p:cNvSpPr/>
            <p:nvPr/>
          </p:nvSpPr>
          <p:spPr>
            <a:xfrm>
              <a:off x="8678783" y="266882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68"/>
            <p:cNvSpPr/>
            <p:nvPr/>
          </p:nvSpPr>
          <p:spPr>
            <a:xfrm>
              <a:off x="8430773" y="22359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68"/>
            <p:cNvSpPr/>
            <p:nvPr/>
          </p:nvSpPr>
          <p:spPr>
            <a:xfrm flipH="1" rot="10800000">
              <a:off x="8119787" y="363695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68"/>
            <p:cNvSpPr/>
            <p:nvPr/>
          </p:nvSpPr>
          <p:spPr>
            <a:xfrm flipH="1" rot="10800000">
              <a:off x="7697255" y="411247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68"/>
            <p:cNvSpPr/>
            <p:nvPr/>
          </p:nvSpPr>
          <p:spPr>
            <a:xfrm>
              <a:off x="6628072" y="112491"/>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68"/>
            <p:cNvSpPr/>
            <p:nvPr/>
          </p:nvSpPr>
          <p:spPr>
            <a:xfrm flipH="1" rot="10800000">
              <a:off x="7825159" y="-2514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pic>
        <p:nvPicPr>
          <p:cNvPr id="859" name="Google Shape;859;p69"/>
          <p:cNvPicPr preferRelativeResize="0"/>
          <p:nvPr/>
        </p:nvPicPr>
        <p:blipFill rotWithShape="1">
          <a:blip r:embed="rId3">
            <a:alphaModFix/>
          </a:blip>
          <a:srcRect b="1254" l="-959" r="0" t="0"/>
          <a:stretch/>
        </p:blipFill>
        <p:spPr>
          <a:xfrm>
            <a:off x="644225" y="1178050"/>
            <a:ext cx="6058749" cy="3163026"/>
          </a:xfrm>
          <a:prstGeom prst="rect">
            <a:avLst/>
          </a:prstGeom>
          <a:noFill/>
          <a:ln>
            <a:noFill/>
          </a:ln>
        </p:spPr>
      </p:pic>
      <p:sp>
        <p:nvSpPr>
          <p:cNvPr id="860" name="Google Shape;860;p6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UMAP Visualization</a:t>
            </a:r>
            <a:endParaRPr/>
          </a:p>
        </p:txBody>
      </p:sp>
      <p:sp>
        <p:nvSpPr>
          <p:cNvPr id="861" name="Google Shape;861;p69"/>
          <p:cNvSpPr txBox="1"/>
          <p:nvPr/>
        </p:nvSpPr>
        <p:spPr>
          <a:xfrm>
            <a:off x="6871975" y="1885700"/>
            <a:ext cx="1910400" cy="757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900">
                <a:solidFill>
                  <a:schemeClr val="dk1"/>
                </a:solidFill>
                <a:latin typeface="DM Sans"/>
                <a:ea typeface="DM Sans"/>
                <a:cs typeface="DM Sans"/>
                <a:sym typeface="DM Sans"/>
              </a:rPr>
              <a:t>There are several points classified as “neutral or dissatisfied” </a:t>
            </a:r>
            <a:r>
              <a:rPr lang="en" sz="900">
                <a:solidFill>
                  <a:schemeClr val="dk1"/>
                </a:solidFill>
                <a:latin typeface="DM Sans"/>
                <a:ea typeface="DM Sans"/>
                <a:cs typeface="DM Sans"/>
                <a:sym typeface="DM Sans"/>
              </a:rPr>
              <a:t>within</a:t>
            </a:r>
            <a:r>
              <a:rPr lang="en" sz="900">
                <a:solidFill>
                  <a:schemeClr val="dk1"/>
                </a:solidFill>
                <a:latin typeface="DM Sans"/>
                <a:ea typeface="DM Sans"/>
                <a:cs typeface="DM Sans"/>
                <a:sym typeface="DM Sans"/>
              </a:rPr>
              <a:t> the “satisfied” cluster.</a:t>
            </a:r>
            <a:endParaRPr sz="900">
              <a:solidFill>
                <a:schemeClr val="dk1"/>
              </a:solidFill>
              <a:latin typeface="DM Sans"/>
              <a:ea typeface="DM Sans"/>
              <a:cs typeface="DM Sans"/>
              <a:sym typeface="DM Sans"/>
            </a:endParaRPr>
          </a:p>
        </p:txBody>
      </p:sp>
      <p:sp>
        <p:nvSpPr>
          <p:cNvPr id="862" name="Google Shape;862;p69"/>
          <p:cNvSpPr txBox="1"/>
          <p:nvPr/>
        </p:nvSpPr>
        <p:spPr>
          <a:xfrm>
            <a:off x="6871975" y="3337850"/>
            <a:ext cx="2022600" cy="757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900">
                <a:solidFill>
                  <a:schemeClr val="dk1"/>
                </a:solidFill>
                <a:latin typeface="DM Sans"/>
                <a:ea typeface="DM Sans"/>
                <a:cs typeface="DM Sans"/>
                <a:sym typeface="DM Sans"/>
              </a:rPr>
              <a:t>There are a few points scattered within the “neutral or dissatisfied” cluster that are classified as “satisfied”.</a:t>
            </a:r>
            <a:endParaRPr sz="900">
              <a:solidFill>
                <a:schemeClr val="dk1"/>
              </a:solidFill>
              <a:latin typeface="DM Sans"/>
              <a:ea typeface="DM Sans"/>
              <a:cs typeface="DM Sans"/>
              <a:sym typeface="DM Sans"/>
            </a:endParaRPr>
          </a:p>
        </p:txBody>
      </p:sp>
      <p:sp>
        <p:nvSpPr>
          <p:cNvPr id="863" name="Google Shape;863;p69"/>
          <p:cNvSpPr txBox="1"/>
          <p:nvPr/>
        </p:nvSpPr>
        <p:spPr>
          <a:xfrm>
            <a:off x="6871975" y="1527275"/>
            <a:ext cx="2022600" cy="4980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1900">
                <a:solidFill>
                  <a:schemeClr val="dk1"/>
                </a:solidFill>
                <a:latin typeface="Outfit"/>
                <a:ea typeface="Outfit"/>
                <a:cs typeface="Outfit"/>
                <a:sym typeface="Outfit"/>
              </a:rPr>
              <a:t>Class mix example # 1</a:t>
            </a:r>
            <a:endParaRPr b="1" sz="1900">
              <a:solidFill>
                <a:schemeClr val="dk1"/>
              </a:solidFill>
              <a:latin typeface="Outfit"/>
              <a:ea typeface="Outfit"/>
              <a:cs typeface="Outfit"/>
              <a:sym typeface="Outfit"/>
            </a:endParaRPr>
          </a:p>
        </p:txBody>
      </p:sp>
      <p:sp>
        <p:nvSpPr>
          <p:cNvPr id="864" name="Google Shape;864;p69"/>
          <p:cNvSpPr txBox="1"/>
          <p:nvPr/>
        </p:nvSpPr>
        <p:spPr>
          <a:xfrm>
            <a:off x="6871975" y="2979425"/>
            <a:ext cx="2085300" cy="4980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1900">
                <a:solidFill>
                  <a:schemeClr val="dk1"/>
                </a:solidFill>
                <a:latin typeface="Outfit"/>
                <a:ea typeface="Outfit"/>
                <a:cs typeface="Outfit"/>
                <a:sym typeface="Outfit"/>
              </a:rPr>
              <a:t>Class mix example # 2</a:t>
            </a:r>
            <a:endParaRPr b="1" sz="1900">
              <a:solidFill>
                <a:schemeClr val="dk1"/>
              </a:solidFill>
              <a:latin typeface="Outfit"/>
              <a:ea typeface="Outfit"/>
              <a:cs typeface="Outfit"/>
              <a:sym typeface="Outfit"/>
            </a:endParaRPr>
          </a:p>
        </p:txBody>
      </p:sp>
      <p:cxnSp>
        <p:nvCxnSpPr>
          <p:cNvPr id="865" name="Google Shape;865;p69"/>
          <p:cNvCxnSpPr>
            <a:stCxn id="863" idx="1"/>
          </p:cNvCxnSpPr>
          <p:nvPr/>
        </p:nvCxnSpPr>
        <p:spPr>
          <a:xfrm flipH="1">
            <a:off x="4838575" y="1776275"/>
            <a:ext cx="2033400" cy="125400"/>
          </a:xfrm>
          <a:prstGeom prst="bentConnector3">
            <a:avLst>
              <a:gd fmla="val 50000" name="adj1"/>
            </a:avLst>
          </a:prstGeom>
          <a:noFill/>
          <a:ln cap="flat" cmpd="sng" w="9525">
            <a:solidFill>
              <a:schemeClr val="dk1"/>
            </a:solidFill>
            <a:prstDash val="solid"/>
            <a:round/>
            <a:headEnd len="med" w="med" type="none"/>
            <a:tailEnd len="med" w="med" type="oval"/>
          </a:ln>
        </p:spPr>
      </p:cxnSp>
      <p:cxnSp>
        <p:nvCxnSpPr>
          <p:cNvPr id="866" name="Google Shape;866;p69"/>
          <p:cNvCxnSpPr>
            <a:stCxn id="864" idx="1"/>
          </p:cNvCxnSpPr>
          <p:nvPr/>
        </p:nvCxnSpPr>
        <p:spPr>
          <a:xfrm flipH="1">
            <a:off x="4333075" y="3228425"/>
            <a:ext cx="2538900" cy="446700"/>
          </a:xfrm>
          <a:prstGeom prst="bentConnector3">
            <a:avLst>
              <a:gd fmla="val 50000" name="adj1"/>
            </a:avLst>
          </a:prstGeom>
          <a:noFill/>
          <a:ln cap="flat" cmpd="sng" w="9525">
            <a:solidFill>
              <a:schemeClr val="dk1"/>
            </a:solidFill>
            <a:prstDash val="solid"/>
            <a:round/>
            <a:headEnd len="med" w="med" type="none"/>
            <a:tailEnd len="med" w="med" type="oval"/>
          </a:ln>
        </p:spPr>
      </p:cxnSp>
      <p:sp>
        <p:nvSpPr>
          <p:cNvPr id="867" name="Google Shape;867;p69"/>
          <p:cNvSpPr txBox="1"/>
          <p:nvPr/>
        </p:nvSpPr>
        <p:spPr>
          <a:xfrm>
            <a:off x="858600" y="4296975"/>
            <a:ext cx="7077300" cy="75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1"/>
                </a:solidFill>
                <a:latin typeface="DM Sans"/>
                <a:ea typeface="DM Sans"/>
                <a:cs typeface="DM Sans"/>
                <a:sym typeface="DM Sans"/>
              </a:rPr>
              <a:t>Figure 1</a:t>
            </a:r>
            <a:r>
              <a:rPr lang="en" sz="1000">
                <a:solidFill>
                  <a:schemeClr val="dk1"/>
                </a:solidFill>
                <a:latin typeface="DM Sans"/>
                <a:ea typeface="DM Sans"/>
                <a:cs typeface="DM Sans"/>
                <a:sym typeface="DM Sans"/>
              </a:rPr>
              <a:t>: UMAP visualization demonstrating difficulty separating the target label in a linear fashion. Many of the clusters are mixed between “</a:t>
            </a:r>
            <a:r>
              <a:rPr b="1" lang="en" sz="1000">
                <a:solidFill>
                  <a:schemeClr val="dk1"/>
                </a:solidFill>
                <a:latin typeface="DM Sans"/>
                <a:ea typeface="DM Sans"/>
                <a:cs typeface="DM Sans"/>
                <a:sym typeface="DM Sans"/>
              </a:rPr>
              <a:t>neutral or dissatisfied</a:t>
            </a:r>
            <a:r>
              <a:rPr lang="en" sz="1000">
                <a:solidFill>
                  <a:schemeClr val="dk1"/>
                </a:solidFill>
                <a:latin typeface="DM Sans"/>
                <a:ea typeface="DM Sans"/>
                <a:cs typeface="DM Sans"/>
                <a:sym typeface="DM Sans"/>
              </a:rPr>
              <a:t>” and “</a:t>
            </a:r>
            <a:r>
              <a:rPr b="1" lang="en" sz="1000">
                <a:solidFill>
                  <a:schemeClr val="dk1"/>
                </a:solidFill>
                <a:latin typeface="DM Sans"/>
                <a:ea typeface="DM Sans"/>
                <a:cs typeface="DM Sans"/>
                <a:sym typeface="DM Sans"/>
              </a:rPr>
              <a:t>satisfied</a:t>
            </a:r>
            <a:r>
              <a:rPr lang="en" sz="1000">
                <a:solidFill>
                  <a:schemeClr val="dk1"/>
                </a:solidFill>
                <a:latin typeface="DM Sans"/>
                <a:ea typeface="DM Sans"/>
                <a:cs typeface="DM Sans"/>
                <a:sym typeface="DM Sans"/>
              </a:rPr>
              <a:t>”. This observation is in alignment with the model performance observed from logistic regression. The model cannot be improved past </a:t>
            </a:r>
            <a:r>
              <a:rPr b="1" lang="en" sz="1000">
                <a:solidFill>
                  <a:schemeClr val="dk1"/>
                </a:solidFill>
                <a:latin typeface="DM Sans"/>
                <a:ea typeface="DM Sans"/>
                <a:cs typeface="DM Sans"/>
                <a:sym typeface="DM Sans"/>
              </a:rPr>
              <a:t>88.2%</a:t>
            </a:r>
            <a:r>
              <a:rPr lang="en" sz="1000">
                <a:solidFill>
                  <a:schemeClr val="dk1"/>
                </a:solidFill>
                <a:latin typeface="DM Sans"/>
                <a:ea typeface="DM Sans"/>
                <a:cs typeface="DM Sans"/>
                <a:sym typeface="DM Sans"/>
              </a:rPr>
              <a:t> accuracy because the dataset is not linearly separable enough.</a:t>
            </a:r>
            <a:endParaRPr sz="1000">
              <a:solidFill>
                <a:schemeClr val="dk1"/>
              </a:solidFill>
              <a:latin typeface="DM Sans"/>
              <a:ea typeface="DM Sans"/>
              <a:cs typeface="DM Sans"/>
              <a:sym typeface="DM San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p70"/>
          <p:cNvSpPr txBox="1"/>
          <p:nvPr>
            <p:ph type="title"/>
          </p:nvPr>
        </p:nvSpPr>
        <p:spPr>
          <a:xfrm>
            <a:off x="4276300" y="274150"/>
            <a:ext cx="4138500" cy="13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Demo</a:t>
            </a:r>
            <a:endParaRPr/>
          </a:p>
        </p:txBody>
      </p:sp>
      <p:grpSp>
        <p:nvGrpSpPr>
          <p:cNvPr id="873" name="Google Shape;873;p70"/>
          <p:cNvGrpSpPr/>
          <p:nvPr/>
        </p:nvGrpSpPr>
        <p:grpSpPr>
          <a:xfrm>
            <a:off x="-311973" y="-106034"/>
            <a:ext cx="3997531" cy="5454467"/>
            <a:chOff x="-311973" y="-106034"/>
            <a:chExt cx="3997531" cy="5454467"/>
          </a:xfrm>
        </p:grpSpPr>
        <p:sp>
          <p:nvSpPr>
            <p:cNvPr id="874" name="Google Shape;874;p70"/>
            <p:cNvSpPr/>
            <p:nvPr/>
          </p:nvSpPr>
          <p:spPr>
            <a:xfrm>
              <a:off x="2084909" y="64307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70"/>
            <p:cNvSpPr/>
            <p:nvPr/>
          </p:nvSpPr>
          <p:spPr>
            <a:xfrm>
              <a:off x="1401408" y="270175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70"/>
            <p:cNvSpPr/>
            <p:nvPr/>
          </p:nvSpPr>
          <p:spPr>
            <a:xfrm>
              <a:off x="1061727" y="49055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70"/>
            <p:cNvSpPr/>
            <p:nvPr/>
          </p:nvSpPr>
          <p:spPr>
            <a:xfrm>
              <a:off x="644984" y="-10603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70"/>
            <p:cNvSpPr/>
            <p:nvPr/>
          </p:nvSpPr>
          <p:spPr>
            <a:xfrm>
              <a:off x="822495" y="159614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70"/>
            <p:cNvSpPr/>
            <p:nvPr/>
          </p:nvSpPr>
          <p:spPr>
            <a:xfrm>
              <a:off x="1401408" y="199529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70"/>
            <p:cNvSpPr/>
            <p:nvPr/>
          </p:nvSpPr>
          <p:spPr>
            <a:xfrm>
              <a:off x="2008129" y="171313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70"/>
            <p:cNvSpPr/>
            <p:nvPr/>
          </p:nvSpPr>
          <p:spPr>
            <a:xfrm flipH="1" rot="10800000">
              <a:off x="-72150" y="247805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70"/>
            <p:cNvSpPr/>
            <p:nvPr/>
          </p:nvSpPr>
          <p:spPr>
            <a:xfrm flipH="1" rot="10800000">
              <a:off x="876630" y="37414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70"/>
            <p:cNvSpPr/>
            <p:nvPr/>
          </p:nvSpPr>
          <p:spPr>
            <a:xfrm flipH="1" rot="10800000">
              <a:off x="324034" y="41605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70"/>
            <p:cNvSpPr/>
            <p:nvPr/>
          </p:nvSpPr>
          <p:spPr>
            <a:xfrm>
              <a:off x="2455608" y="27831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70"/>
            <p:cNvSpPr/>
            <p:nvPr/>
          </p:nvSpPr>
          <p:spPr>
            <a:xfrm>
              <a:off x="2846848" y="326636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70"/>
            <p:cNvSpPr/>
            <p:nvPr/>
          </p:nvSpPr>
          <p:spPr>
            <a:xfrm flipH="1" rot="10800000">
              <a:off x="1900437" y="385325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70"/>
            <p:cNvSpPr/>
            <p:nvPr/>
          </p:nvSpPr>
          <p:spPr>
            <a:xfrm flipH="1" rot="10800000">
              <a:off x="2417668" y="438031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70"/>
            <p:cNvSpPr/>
            <p:nvPr/>
          </p:nvSpPr>
          <p:spPr>
            <a:xfrm>
              <a:off x="347208" y="292545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70"/>
            <p:cNvSpPr/>
            <p:nvPr/>
          </p:nvSpPr>
          <p:spPr>
            <a:xfrm>
              <a:off x="2523872" y="22396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70"/>
            <p:cNvSpPr/>
            <p:nvPr/>
          </p:nvSpPr>
          <p:spPr>
            <a:xfrm>
              <a:off x="-311973" y="13865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70"/>
            <p:cNvSpPr/>
            <p:nvPr/>
          </p:nvSpPr>
          <p:spPr>
            <a:xfrm>
              <a:off x="96929" y="8031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892" name="Google Shape;892;p70"/>
          <p:cNvCxnSpPr/>
          <p:nvPr/>
        </p:nvCxnSpPr>
        <p:spPr>
          <a:xfrm>
            <a:off x="4394150" y="1562388"/>
            <a:ext cx="373500" cy="0"/>
          </a:xfrm>
          <a:prstGeom prst="straightConnector1">
            <a:avLst/>
          </a:prstGeom>
          <a:noFill/>
          <a:ln cap="flat" cmpd="sng" w="19050">
            <a:solidFill>
              <a:schemeClr val="dk1"/>
            </a:solidFill>
            <a:prstDash val="solid"/>
            <a:round/>
            <a:headEnd len="med" w="med" type="none"/>
            <a:tailEnd len="med" w="med" type="none"/>
          </a:ln>
        </p:spPr>
      </p:cxnSp>
      <p:sp>
        <p:nvSpPr>
          <p:cNvPr id="893" name="Google Shape;893;p70"/>
          <p:cNvSpPr txBox="1"/>
          <p:nvPr/>
        </p:nvSpPr>
        <p:spPr>
          <a:xfrm>
            <a:off x="4394150" y="1621450"/>
            <a:ext cx="3690000" cy="73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latin typeface="DM Sans"/>
                <a:ea typeface="DM Sans"/>
                <a:cs typeface="DM Sans"/>
                <a:sym typeface="DM Sans"/>
                <a:hlinkClick r:id="rId3"/>
              </a:rPr>
              <a:t>https://82e81b3c263fde35f9.gradio.live/</a:t>
            </a:r>
            <a:r>
              <a:rPr lang="en">
                <a:solidFill>
                  <a:schemeClr val="dk1"/>
                </a:solidFill>
                <a:latin typeface="DM Sans"/>
                <a:ea typeface="DM Sans"/>
                <a:cs typeface="DM Sans"/>
                <a:sym typeface="DM Sans"/>
              </a:rPr>
              <a:t> </a:t>
            </a:r>
            <a:endParaRPr>
              <a:solidFill>
                <a:schemeClr val="dk1"/>
              </a:solidFill>
              <a:latin typeface="DM Sans"/>
              <a:ea typeface="DM Sans"/>
              <a:cs typeface="DM Sans"/>
              <a:sym typeface="DM Sans"/>
            </a:endParaRPr>
          </a:p>
        </p:txBody>
      </p:sp>
      <p:pic>
        <p:nvPicPr>
          <p:cNvPr id="894" name="Google Shape;894;p70"/>
          <p:cNvPicPr preferRelativeResize="0"/>
          <p:nvPr/>
        </p:nvPicPr>
        <p:blipFill>
          <a:blip r:embed="rId4">
            <a:alphaModFix/>
          </a:blip>
          <a:stretch>
            <a:fillRect/>
          </a:stretch>
        </p:blipFill>
        <p:spPr>
          <a:xfrm>
            <a:off x="4068575" y="2287400"/>
            <a:ext cx="4887675" cy="249120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sp>
        <p:nvSpPr>
          <p:cNvPr id="899" name="Google Shape;899;p71"/>
          <p:cNvSpPr txBox="1"/>
          <p:nvPr>
            <p:ph type="title"/>
          </p:nvPr>
        </p:nvSpPr>
        <p:spPr>
          <a:xfrm>
            <a:off x="713225" y="1556700"/>
            <a:ext cx="4344300" cy="174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Future Work</a:t>
            </a:r>
            <a:endParaRPr/>
          </a:p>
        </p:txBody>
      </p:sp>
      <p:grpSp>
        <p:nvGrpSpPr>
          <p:cNvPr id="900" name="Google Shape;900;p71"/>
          <p:cNvGrpSpPr/>
          <p:nvPr/>
        </p:nvGrpSpPr>
        <p:grpSpPr>
          <a:xfrm>
            <a:off x="5104880" y="-153372"/>
            <a:ext cx="4218588" cy="6000577"/>
            <a:chOff x="5104880" y="-153372"/>
            <a:chExt cx="4218588" cy="6000577"/>
          </a:xfrm>
        </p:grpSpPr>
        <p:sp>
          <p:nvSpPr>
            <p:cNvPr id="901" name="Google Shape;901;p71"/>
            <p:cNvSpPr/>
            <p:nvPr/>
          </p:nvSpPr>
          <p:spPr>
            <a:xfrm>
              <a:off x="7074911" y="254737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71"/>
            <p:cNvSpPr/>
            <p:nvPr/>
          </p:nvSpPr>
          <p:spPr>
            <a:xfrm>
              <a:off x="7026089" y="-1533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71"/>
            <p:cNvSpPr/>
            <p:nvPr/>
          </p:nvSpPr>
          <p:spPr>
            <a:xfrm>
              <a:off x="6606684" y="31846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71"/>
            <p:cNvSpPr/>
            <p:nvPr/>
          </p:nvSpPr>
          <p:spPr>
            <a:xfrm>
              <a:off x="6138958" y="13708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71"/>
            <p:cNvSpPr/>
            <p:nvPr/>
          </p:nvSpPr>
          <p:spPr>
            <a:xfrm>
              <a:off x="5732458" y="87452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71"/>
            <p:cNvSpPr/>
            <p:nvPr/>
          </p:nvSpPr>
          <p:spPr>
            <a:xfrm>
              <a:off x="7480889" y="98993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71"/>
            <p:cNvSpPr/>
            <p:nvPr/>
          </p:nvSpPr>
          <p:spPr>
            <a:xfrm>
              <a:off x="7074904" y="207505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71"/>
            <p:cNvSpPr/>
            <p:nvPr/>
          </p:nvSpPr>
          <p:spPr>
            <a:xfrm>
              <a:off x="7962441" y="140407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71"/>
            <p:cNvSpPr/>
            <p:nvPr/>
          </p:nvSpPr>
          <p:spPr>
            <a:xfrm flipH="1" rot="10800000">
              <a:off x="6036087" y="312497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71"/>
            <p:cNvSpPr/>
            <p:nvPr/>
          </p:nvSpPr>
          <p:spPr>
            <a:xfrm flipH="1" rot="10800000">
              <a:off x="6355205" y="41020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71"/>
            <p:cNvSpPr/>
            <p:nvPr/>
          </p:nvSpPr>
          <p:spPr>
            <a:xfrm flipH="1" rot="10800000">
              <a:off x="5732459" y="48790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71"/>
            <p:cNvSpPr/>
            <p:nvPr/>
          </p:nvSpPr>
          <p:spPr>
            <a:xfrm flipH="1" rot="10800000">
              <a:off x="6683197" y="3515490"/>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71"/>
            <p:cNvSpPr/>
            <p:nvPr/>
          </p:nvSpPr>
          <p:spPr>
            <a:xfrm flipH="1" rot="10800000">
              <a:off x="5104880" y="443452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71"/>
            <p:cNvSpPr/>
            <p:nvPr/>
          </p:nvSpPr>
          <p:spPr>
            <a:xfrm>
              <a:off x="8484758" y="243811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71"/>
            <p:cNvSpPr/>
            <p:nvPr/>
          </p:nvSpPr>
          <p:spPr>
            <a:xfrm>
              <a:off x="8038260" y="29212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71"/>
            <p:cNvSpPr/>
            <p:nvPr/>
          </p:nvSpPr>
          <p:spPr>
            <a:xfrm flipH="1" rot="10800000">
              <a:off x="7853362" y="396220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71"/>
            <p:cNvSpPr/>
            <p:nvPr/>
          </p:nvSpPr>
          <p:spPr>
            <a:xfrm flipH="1" rot="10800000">
              <a:off x="8261505" y="443452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918" name="Google Shape;918;p71"/>
          <p:cNvCxnSpPr/>
          <p:nvPr/>
        </p:nvCxnSpPr>
        <p:spPr>
          <a:xfrm>
            <a:off x="841250" y="1385850"/>
            <a:ext cx="373500" cy="0"/>
          </a:xfrm>
          <a:prstGeom prst="straightConnector1">
            <a:avLst/>
          </a:prstGeom>
          <a:noFill/>
          <a:ln cap="flat" cmpd="sng" w="19050">
            <a:solidFill>
              <a:schemeClr val="dk1"/>
            </a:solidFill>
            <a:prstDash val="solid"/>
            <a:round/>
            <a:headEnd len="med" w="med" type="none"/>
            <a:tailEnd len="med" w="med" type="none"/>
          </a:ln>
        </p:spPr>
      </p:cxnSp>
      <p:sp>
        <p:nvSpPr>
          <p:cNvPr id="919" name="Google Shape;919;p71"/>
          <p:cNvSpPr txBox="1"/>
          <p:nvPr/>
        </p:nvSpPr>
        <p:spPr>
          <a:xfrm>
            <a:off x="713225" y="690075"/>
            <a:ext cx="1260600" cy="6099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n" sz="5000">
                <a:solidFill>
                  <a:schemeClr val="dk1"/>
                </a:solidFill>
                <a:latin typeface="Outfit"/>
                <a:ea typeface="Outfit"/>
                <a:cs typeface="Outfit"/>
                <a:sym typeface="Outfit"/>
              </a:rPr>
              <a:t>06</a:t>
            </a:r>
            <a:endParaRPr>
              <a:solidFill>
                <a:schemeClr val="dk1"/>
              </a:solidFill>
              <a:latin typeface="DM Sans"/>
              <a:ea typeface="DM Sans"/>
              <a:cs typeface="DM Sans"/>
              <a:sym typeface="DM San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3" name="Shape 923"/>
        <p:cNvGrpSpPr/>
        <p:nvPr/>
      </p:nvGrpSpPr>
      <p:grpSpPr>
        <a:xfrm>
          <a:off x="0" y="0"/>
          <a:ext cx="0" cy="0"/>
          <a:chOff x="0" y="0"/>
          <a:chExt cx="0" cy="0"/>
        </a:xfrm>
      </p:grpSpPr>
      <p:sp>
        <p:nvSpPr>
          <p:cNvPr id="924" name="Google Shape;924;p72"/>
          <p:cNvSpPr txBox="1"/>
          <p:nvPr>
            <p:ph type="title"/>
          </p:nvPr>
        </p:nvSpPr>
        <p:spPr>
          <a:xfrm>
            <a:off x="720000" y="445025"/>
            <a:ext cx="5549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Future Work</a:t>
            </a:r>
            <a:endParaRPr/>
          </a:p>
        </p:txBody>
      </p:sp>
      <p:sp>
        <p:nvSpPr>
          <p:cNvPr id="925" name="Google Shape;925;p72"/>
          <p:cNvSpPr txBox="1"/>
          <p:nvPr>
            <p:ph idx="1" type="subTitle"/>
          </p:nvPr>
        </p:nvSpPr>
        <p:spPr>
          <a:xfrm>
            <a:off x="720000" y="1116975"/>
            <a:ext cx="5222100" cy="34833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a:t>What could be done differently:</a:t>
            </a:r>
            <a:endParaRPr/>
          </a:p>
          <a:p>
            <a:pPr indent="-330200" lvl="1" marL="914400" rtl="0" algn="l">
              <a:spcBef>
                <a:spcPts val="0"/>
              </a:spcBef>
              <a:spcAft>
                <a:spcPts val="0"/>
              </a:spcAft>
              <a:buSzPts val="1600"/>
              <a:buChar char="○"/>
            </a:pPr>
            <a:r>
              <a:rPr lang="en"/>
              <a:t>Use of reusable abstracted pipelines to </a:t>
            </a:r>
            <a:r>
              <a:rPr lang="en"/>
              <a:t>streamline model training and inference.</a:t>
            </a:r>
            <a:endParaRPr/>
          </a:p>
          <a:p>
            <a:pPr indent="-330200" lvl="1" marL="914400" rtl="0" algn="l">
              <a:spcBef>
                <a:spcPts val="0"/>
              </a:spcBef>
              <a:spcAft>
                <a:spcPts val="0"/>
              </a:spcAft>
              <a:buSzPts val="1600"/>
              <a:buChar char="○"/>
            </a:pPr>
            <a:r>
              <a:rPr lang="en"/>
              <a:t>Use of MLFlow or AutoML for iterative model experiments and optimization.</a:t>
            </a:r>
            <a:endParaRPr/>
          </a:p>
          <a:p>
            <a:pPr indent="-330200" lvl="1" marL="914400" rtl="0" algn="l">
              <a:spcBef>
                <a:spcPts val="0"/>
              </a:spcBef>
              <a:spcAft>
                <a:spcPts val="0"/>
              </a:spcAft>
              <a:buSzPts val="1600"/>
              <a:buChar char="○"/>
            </a:pPr>
            <a:r>
              <a:rPr lang="en"/>
              <a:t>Halving Grid Search or Halving Random Search for more efficient use of computational resources and exploring larger hyperparameter space.</a:t>
            </a:r>
            <a:endParaRPr/>
          </a:p>
          <a:p>
            <a:pPr indent="-330200" lvl="0" marL="457200" rtl="0" algn="l">
              <a:spcBef>
                <a:spcPts val="0"/>
              </a:spcBef>
              <a:spcAft>
                <a:spcPts val="0"/>
              </a:spcAft>
              <a:buSzPts val="1600"/>
              <a:buChar char="●"/>
            </a:pPr>
            <a:r>
              <a:rPr lang="en"/>
              <a:t>Other data exploration techniques:</a:t>
            </a:r>
            <a:endParaRPr/>
          </a:p>
          <a:p>
            <a:pPr indent="-330200" lvl="1" marL="914400" rtl="0" algn="l">
              <a:spcBef>
                <a:spcPts val="0"/>
              </a:spcBef>
              <a:spcAft>
                <a:spcPts val="0"/>
              </a:spcAft>
              <a:buSzPts val="1600"/>
              <a:buChar char="○"/>
            </a:pPr>
            <a:r>
              <a:rPr lang="en"/>
              <a:t>Experimenting with different model-based imputation strategies (e.g., KNN).</a:t>
            </a:r>
            <a:endParaRPr/>
          </a:p>
          <a:p>
            <a:pPr indent="-330200" lvl="0" marL="457200" rtl="0" algn="l">
              <a:spcBef>
                <a:spcPts val="0"/>
              </a:spcBef>
              <a:spcAft>
                <a:spcPts val="0"/>
              </a:spcAft>
              <a:buSzPts val="1600"/>
              <a:buChar char="●"/>
            </a:pPr>
            <a:r>
              <a:rPr lang="en"/>
              <a:t>Next steps:</a:t>
            </a:r>
            <a:endParaRPr/>
          </a:p>
          <a:p>
            <a:pPr indent="-330200" lvl="1" marL="914400" rtl="0" algn="l">
              <a:spcBef>
                <a:spcPts val="0"/>
              </a:spcBef>
              <a:spcAft>
                <a:spcPts val="0"/>
              </a:spcAft>
              <a:buSzPts val="1600"/>
              <a:buChar char="○"/>
            </a:pPr>
            <a:r>
              <a:rPr lang="en"/>
              <a:t>Cohesive data curation pipeline.</a:t>
            </a:r>
            <a:endParaRPr/>
          </a:p>
          <a:p>
            <a:pPr indent="-330200" lvl="1" marL="914400" rtl="0" algn="l">
              <a:spcBef>
                <a:spcPts val="0"/>
              </a:spcBef>
              <a:spcAft>
                <a:spcPts val="0"/>
              </a:spcAft>
              <a:buSzPts val="1600"/>
              <a:buChar char="○"/>
            </a:pPr>
            <a:r>
              <a:rPr lang="en"/>
              <a:t>Combine best models as stacking ensemble.</a:t>
            </a:r>
            <a:endParaRPr/>
          </a:p>
        </p:txBody>
      </p:sp>
      <p:grpSp>
        <p:nvGrpSpPr>
          <p:cNvPr id="926" name="Google Shape;926;p72"/>
          <p:cNvGrpSpPr/>
          <p:nvPr/>
        </p:nvGrpSpPr>
        <p:grpSpPr>
          <a:xfrm>
            <a:off x="5430930" y="-445784"/>
            <a:ext cx="4086563" cy="6064817"/>
            <a:chOff x="5430930" y="-445784"/>
            <a:chExt cx="4086563" cy="6064817"/>
          </a:xfrm>
        </p:grpSpPr>
        <p:sp>
          <p:nvSpPr>
            <p:cNvPr id="927" name="Google Shape;927;p72"/>
            <p:cNvSpPr/>
            <p:nvPr/>
          </p:nvSpPr>
          <p:spPr>
            <a:xfrm>
              <a:off x="7368520" y="98876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72"/>
            <p:cNvSpPr/>
            <p:nvPr/>
          </p:nvSpPr>
          <p:spPr>
            <a:xfrm flipH="1" rot="10800000">
              <a:off x="6036409" y="19621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72"/>
            <p:cNvSpPr/>
            <p:nvPr/>
          </p:nvSpPr>
          <p:spPr>
            <a:xfrm>
              <a:off x="7309474" y="21661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72"/>
            <p:cNvSpPr/>
            <p:nvPr/>
          </p:nvSpPr>
          <p:spPr>
            <a:xfrm>
              <a:off x="6269702" y="-44578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72"/>
            <p:cNvSpPr/>
            <p:nvPr/>
          </p:nvSpPr>
          <p:spPr>
            <a:xfrm>
              <a:off x="5830483" y="421588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72"/>
            <p:cNvSpPr/>
            <p:nvPr/>
          </p:nvSpPr>
          <p:spPr>
            <a:xfrm>
              <a:off x="6269683" y="1332541"/>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72"/>
            <p:cNvSpPr/>
            <p:nvPr/>
          </p:nvSpPr>
          <p:spPr>
            <a:xfrm>
              <a:off x="8430764" y="23422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72"/>
            <p:cNvSpPr/>
            <p:nvPr/>
          </p:nvSpPr>
          <p:spPr>
            <a:xfrm>
              <a:off x="7309467" y="261820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72"/>
            <p:cNvSpPr/>
            <p:nvPr/>
          </p:nvSpPr>
          <p:spPr>
            <a:xfrm>
              <a:off x="7962441" y="131801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72"/>
            <p:cNvSpPr/>
            <p:nvPr/>
          </p:nvSpPr>
          <p:spPr>
            <a:xfrm flipH="1" rot="10800000">
              <a:off x="6351880" y="311086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72"/>
            <p:cNvSpPr/>
            <p:nvPr/>
          </p:nvSpPr>
          <p:spPr>
            <a:xfrm flipH="1" rot="10800000">
              <a:off x="6790284" y="354856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72"/>
            <p:cNvSpPr/>
            <p:nvPr/>
          </p:nvSpPr>
          <p:spPr>
            <a:xfrm flipH="1" rot="10800000">
              <a:off x="5430930" y="465091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72"/>
            <p:cNvSpPr/>
            <p:nvPr/>
          </p:nvSpPr>
          <p:spPr>
            <a:xfrm>
              <a:off x="8678783" y="266882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72"/>
            <p:cNvSpPr/>
            <p:nvPr/>
          </p:nvSpPr>
          <p:spPr>
            <a:xfrm>
              <a:off x="8430773" y="22359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72"/>
            <p:cNvSpPr/>
            <p:nvPr/>
          </p:nvSpPr>
          <p:spPr>
            <a:xfrm flipH="1" rot="10800000">
              <a:off x="8119787" y="363695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72"/>
            <p:cNvSpPr/>
            <p:nvPr/>
          </p:nvSpPr>
          <p:spPr>
            <a:xfrm flipH="1" rot="10800000">
              <a:off x="7697255" y="411247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72"/>
            <p:cNvSpPr/>
            <p:nvPr/>
          </p:nvSpPr>
          <p:spPr>
            <a:xfrm>
              <a:off x="6628072" y="112491"/>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72"/>
            <p:cNvSpPr/>
            <p:nvPr/>
          </p:nvSpPr>
          <p:spPr>
            <a:xfrm flipH="1" rot="10800000">
              <a:off x="7825159" y="-25148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8" name="Shape 948"/>
        <p:cNvGrpSpPr/>
        <p:nvPr/>
      </p:nvGrpSpPr>
      <p:grpSpPr>
        <a:xfrm>
          <a:off x="0" y="0"/>
          <a:ext cx="0" cy="0"/>
          <a:chOff x="0" y="0"/>
          <a:chExt cx="0" cy="0"/>
        </a:xfrm>
      </p:grpSpPr>
      <p:sp>
        <p:nvSpPr>
          <p:cNvPr id="949" name="Google Shape;949;p73"/>
          <p:cNvSpPr txBox="1"/>
          <p:nvPr>
            <p:ph type="title"/>
          </p:nvPr>
        </p:nvSpPr>
        <p:spPr>
          <a:xfrm>
            <a:off x="4292275" y="1663850"/>
            <a:ext cx="4138500" cy="1815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Questions?</a:t>
            </a:r>
            <a:endParaRPr/>
          </a:p>
        </p:txBody>
      </p:sp>
      <p:grpSp>
        <p:nvGrpSpPr>
          <p:cNvPr id="950" name="Google Shape;950;p73"/>
          <p:cNvGrpSpPr/>
          <p:nvPr/>
        </p:nvGrpSpPr>
        <p:grpSpPr>
          <a:xfrm>
            <a:off x="-311973" y="-106034"/>
            <a:ext cx="3997531" cy="5454467"/>
            <a:chOff x="-311973" y="-106034"/>
            <a:chExt cx="3997531" cy="5454467"/>
          </a:xfrm>
        </p:grpSpPr>
        <p:sp>
          <p:nvSpPr>
            <p:cNvPr id="951" name="Google Shape;951;p73"/>
            <p:cNvSpPr/>
            <p:nvPr/>
          </p:nvSpPr>
          <p:spPr>
            <a:xfrm>
              <a:off x="2084909" y="64307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73"/>
            <p:cNvSpPr/>
            <p:nvPr/>
          </p:nvSpPr>
          <p:spPr>
            <a:xfrm>
              <a:off x="1401408" y="270175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73"/>
            <p:cNvSpPr/>
            <p:nvPr/>
          </p:nvSpPr>
          <p:spPr>
            <a:xfrm>
              <a:off x="1061727" y="49055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73"/>
            <p:cNvSpPr/>
            <p:nvPr/>
          </p:nvSpPr>
          <p:spPr>
            <a:xfrm>
              <a:off x="644984" y="-10603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73"/>
            <p:cNvSpPr/>
            <p:nvPr/>
          </p:nvSpPr>
          <p:spPr>
            <a:xfrm>
              <a:off x="822495" y="1596147"/>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73"/>
            <p:cNvSpPr/>
            <p:nvPr/>
          </p:nvSpPr>
          <p:spPr>
            <a:xfrm>
              <a:off x="1401408" y="1995294"/>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73"/>
            <p:cNvSpPr/>
            <p:nvPr/>
          </p:nvSpPr>
          <p:spPr>
            <a:xfrm>
              <a:off x="2008129" y="1713139"/>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73"/>
            <p:cNvSpPr/>
            <p:nvPr/>
          </p:nvSpPr>
          <p:spPr>
            <a:xfrm flipH="1" rot="10800000">
              <a:off x="-72150" y="247805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73"/>
            <p:cNvSpPr/>
            <p:nvPr/>
          </p:nvSpPr>
          <p:spPr>
            <a:xfrm flipH="1" rot="10800000">
              <a:off x="876630" y="37414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73"/>
            <p:cNvSpPr/>
            <p:nvPr/>
          </p:nvSpPr>
          <p:spPr>
            <a:xfrm flipH="1" rot="10800000">
              <a:off x="324034" y="4160515"/>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73"/>
            <p:cNvSpPr/>
            <p:nvPr/>
          </p:nvSpPr>
          <p:spPr>
            <a:xfrm>
              <a:off x="2455608" y="2783188"/>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73"/>
            <p:cNvSpPr/>
            <p:nvPr/>
          </p:nvSpPr>
          <p:spPr>
            <a:xfrm>
              <a:off x="2846848" y="326636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73"/>
            <p:cNvSpPr/>
            <p:nvPr/>
          </p:nvSpPr>
          <p:spPr>
            <a:xfrm flipH="1" rot="10800000">
              <a:off x="1900437" y="385325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73"/>
            <p:cNvSpPr/>
            <p:nvPr/>
          </p:nvSpPr>
          <p:spPr>
            <a:xfrm flipH="1" rot="10800000">
              <a:off x="2417668" y="438031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73"/>
            <p:cNvSpPr/>
            <p:nvPr/>
          </p:nvSpPr>
          <p:spPr>
            <a:xfrm>
              <a:off x="347208" y="2925453"/>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73"/>
            <p:cNvSpPr/>
            <p:nvPr/>
          </p:nvSpPr>
          <p:spPr>
            <a:xfrm>
              <a:off x="2523872" y="223966"/>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9FCBFD">
                <a:alpha val="4114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73"/>
            <p:cNvSpPr/>
            <p:nvPr/>
          </p:nvSpPr>
          <p:spPr>
            <a:xfrm>
              <a:off x="-311973" y="138657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73"/>
            <p:cNvSpPr/>
            <p:nvPr/>
          </p:nvSpPr>
          <p:spPr>
            <a:xfrm>
              <a:off x="96929" y="803102"/>
              <a:ext cx="838710" cy="968121"/>
            </a:xfrm>
            <a:custGeom>
              <a:rect b="b" l="l" r="r" t="t"/>
              <a:pathLst>
                <a:path extrusionOk="0" h="209550" w="181539">
                  <a:moveTo>
                    <a:pt x="90694" y="0"/>
                  </a:moveTo>
                  <a:lnTo>
                    <a:pt x="0" y="52388"/>
                  </a:lnTo>
                  <a:lnTo>
                    <a:pt x="0" y="157163"/>
                  </a:lnTo>
                  <a:lnTo>
                    <a:pt x="90694" y="209550"/>
                  </a:lnTo>
                  <a:lnTo>
                    <a:pt x="181539" y="157163"/>
                  </a:lnTo>
                  <a:lnTo>
                    <a:pt x="181539" y="52388"/>
                  </a:lnTo>
                  <a:lnTo>
                    <a:pt x="90694" y="0"/>
                  </a:lnTo>
                  <a:close/>
                </a:path>
              </a:pathLst>
            </a:custGeom>
            <a:solidFill>
              <a:srgbClr val="68DAF8">
                <a:alpha val="3418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969" name="Google Shape;969;p73"/>
          <p:cNvCxnSpPr/>
          <p:nvPr/>
        </p:nvCxnSpPr>
        <p:spPr>
          <a:xfrm>
            <a:off x="4394150" y="1562388"/>
            <a:ext cx="373500" cy="0"/>
          </a:xfrm>
          <a:prstGeom prst="straightConnector1">
            <a:avLst/>
          </a:prstGeom>
          <a:noFill/>
          <a:ln cap="flat" cmpd="sng" w="19050">
            <a:solidFill>
              <a:schemeClr val="dk1"/>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